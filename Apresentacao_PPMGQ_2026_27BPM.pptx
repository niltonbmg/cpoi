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drawings/vmlDrawing1.vml" ContentType="application/vnd.openxmlformats-officedocument.vmlDrawing"/>
  <Override PartName="/ppt/embeddings/oleObject1.bin" ContentType="application/vnd.openxmlformats-officedocument.oleObject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37"/>
  </p:notesMasterIdLst>
  <p:sldIdLst>
    <p:sldId id="256" r:id="rId3"/>
    <p:sldId id="259" r:id="rId4"/>
    <p:sldId id="302" r:id="rId47"/>
    <p:sldId id="261" r:id="rId5"/>
    <p:sldId id="262" r:id="rId6"/>
    <p:sldId id="303" r:id="rId46"/>
    <p:sldId id="267" r:id="rId8"/>
    <p:sldId id="268" r:id="rId9"/>
    <p:sldId id="266" r:id="rId10"/>
    <p:sldId id="265" r:id="rId11"/>
    <p:sldId id="270" r:id="rId12"/>
    <p:sldId id="272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304" r:id="rId53"/>
    <p:sldId id="283" r:id="rId22"/>
    <p:sldId id="305" r:id="rId54"/>
    <p:sldId id="306" r:id="rId55"/>
    <p:sldId id="285" r:id="rId23"/>
    <p:sldId id="291" r:id="rId24"/>
    <p:sldId id="307" r:id="rId56"/>
    <p:sldId id="308" r:id="rId57"/>
    <p:sldId id="309" r:id="rId58"/>
    <p:sldId id="289" r:id="rId25"/>
    <p:sldId id="292" r:id="rId26"/>
    <p:sldId id="293" r:id="rId27"/>
    <p:sldId id="310" r:id="rId59"/>
    <p:sldId id="294" r:id="rId28"/>
    <p:sldId id="311" r:id="rId60"/>
    <p:sldId id="300" r:id="rId30"/>
    <p:sldId id="312" r:id="rId61"/>
    <p:sldId id="295" r:id="rId29"/>
    <p:sldId id="313" r:id="rId62"/>
    <p:sldId id="287" r:id="rId31"/>
    <p:sldId id="317" r:id="rId66"/>
    <p:sldId id="314" r:id="rId63"/>
    <p:sldId id="315" r:id="rId64"/>
    <p:sldId id="316" r:id="rId65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288" r:id="rId36"/>
  </p:sldIdLst>
  <p:sldSz cx="12192000" cy="6858000"/>
  <p:notesSz cx="6858000" cy="9144000"/>
  <p:embeddedFontLst>
    <p:embeddedFont>
      <p:font typeface="Arial Black" panose="020B0A04020102020204" pitchFamily="34" charset="0"/>
      <p:regular r:id="rId38"/>
      <p:bold r:id="rId39"/>
    </p:embeddedFont>
    <p:embeddedFont>
      <p:font typeface="Noto Sans Symbols" panose="020B0604020202020204" charset="0"/>
      <p:regular r:id="rId40"/>
      <p:bold r:id="rId41"/>
    </p:embeddedFont>
    <p:embeddedFont>
      <p:font typeface="Calibri" panose="020F0502020204030204" pitchFamily="34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jaVc6GtNneqVRT0ozU0M4PYHXs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4FE9848-5764-4357-93EA-F29908C79110}">
  <a:tblStyle styleId="{64FE9848-5764-4357-93EA-F29908C7911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708FC971-03AA-4B06-821C-AEFA27575B0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6" Type="http://schemas.openxmlformats.org/officeDocument/2006/relationships/slide" Target="slides/slide34.xml"/><Relationship Id="rId37" Type="http://schemas.openxmlformats.org/officeDocument/2006/relationships/notesMaster" Target="notesMasters/notesMaster1.xml"/><Relationship Id="rId38" Type="http://schemas.openxmlformats.org/officeDocument/2006/relationships/font" Target="fonts/font1.fntdata"/><Relationship Id="rId39" Type="http://schemas.openxmlformats.org/officeDocument/2006/relationships/font" Target="fonts/font2.fntdata"/><Relationship Id="rId40" Type="http://schemas.openxmlformats.org/officeDocument/2006/relationships/font" Target="fonts/font3.fntdata"/><Relationship Id="rId41" Type="http://schemas.openxmlformats.org/officeDocument/2006/relationships/font" Target="fonts/font4.fntdata"/><Relationship Id="rId42" Type="http://schemas.openxmlformats.org/officeDocument/2006/relationships/font" Target="fonts/font5.fntdata"/><Relationship Id="rId43" Type="http://schemas.openxmlformats.org/officeDocument/2006/relationships/font" Target="fonts/font6.fntdata"/><Relationship Id="rId44" Type="http://schemas.openxmlformats.org/officeDocument/2006/relationships/font" Target="fonts/font7.fntdata"/><Relationship Id="rId45" Type="http://schemas.openxmlformats.org/officeDocument/2006/relationships/font" Target="fonts/font8.fntdata"/><Relationship Id="rId46" Type="http://schemas.openxmlformats.org/officeDocument/2006/relationships/slide" Target="slides/slide36.xml"/><Relationship Id="rId47" Type="http://schemas.openxmlformats.org/officeDocument/2006/relationships/slide" Target="slides/slide35.xml"/><Relationship Id="rId48" Type="http://customschemas.google.com/relationships/presentationmetadata" Target="metadata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Relationship Id="rId53" Type="http://schemas.openxmlformats.org/officeDocument/2006/relationships/slide" Target="slides/slide37.xml"/><Relationship Id="rId54" Type="http://schemas.openxmlformats.org/officeDocument/2006/relationships/slide" Target="slides/slide38.xml"/><Relationship Id="rId55" Type="http://schemas.openxmlformats.org/officeDocument/2006/relationships/slide" Target="slides/slide39.xml"/><Relationship Id="rId56" Type="http://schemas.openxmlformats.org/officeDocument/2006/relationships/slide" Target="slides/slide40.xml"/><Relationship Id="rId57" Type="http://schemas.openxmlformats.org/officeDocument/2006/relationships/slide" Target="slides/slide41.xml"/><Relationship Id="rId58" Type="http://schemas.openxmlformats.org/officeDocument/2006/relationships/slide" Target="slides/slide42.xml"/><Relationship Id="rId59" Type="http://schemas.openxmlformats.org/officeDocument/2006/relationships/slide" Target="slides/slide43.xml"/><Relationship Id="rId60" Type="http://schemas.openxmlformats.org/officeDocument/2006/relationships/slide" Target="slides/slide44.xml"/><Relationship Id="rId61" Type="http://schemas.openxmlformats.org/officeDocument/2006/relationships/slide" Target="slides/slide45.xml"/><Relationship Id="rId62" Type="http://schemas.openxmlformats.org/officeDocument/2006/relationships/slide" Target="slides/slide46.xml"/><Relationship Id="rId63" Type="http://schemas.openxmlformats.org/officeDocument/2006/relationships/slide" Target="slides/slide47.xml"/><Relationship Id="rId64" Type="http://schemas.openxmlformats.org/officeDocument/2006/relationships/slide" Target="slides/slide48.xml"/><Relationship Id="rId65" Type="http://schemas.openxmlformats.org/officeDocument/2006/relationships/slide" Target="slides/slide49.xml"/><Relationship Id="rId66" Type="http://schemas.openxmlformats.org/officeDocument/2006/relationships/slide" Target="slides/slide50.xml"/><Relationship Id="rId67" Type="http://schemas.openxmlformats.org/officeDocument/2006/relationships/slide" Target="slides/slide51.xml"/><Relationship Id="rId68" Type="http://schemas.openxmlformats.org/officeDocument/2006/relationships/slide" Target="slides/slide52.xml"/><Relationship Id="rId69" Type="http://schemas.openxmlformats.org/officeDocument/2006/relationships/slide" Target="slides/slide53.xml"/><Relationship Id="rId70" Type="http://schemas.openxmlformats.org/officeDocument/2006/relationships/slide" Target="slides/slide54.xml"/><Relationship Id="rId71" Type="http://schemas.openxmlformats.org/officeDocument/2006/relationships/slide" Target="slides/slide55.xml"/><Relationship Id="rId72" Type="http://schemas.openxmlformats.org/officeDocument/2006/relationships/slide" Target="slides/slide56.xml"/><Relationship Id="rId73" Type="http://schemas.openxmlformats.org/officeDocument/2006/relationships/slide" Target="slides/slide57.xml"/><Relationship Id="rId74" Type="http://schemas.openxmlformats.org/officeDocument/2006/relationships/slide" Target="slides/slide58.xml"/><Relationship Id="rId75" Type="http://schemas.openxmlformats.org/officeDocument/2006/relationships/slide" Target="slides/slide59.xml"/><Relationship Id="rId76" Type="http://schemas.openxmlformats.org/officeDocument/2006/relationships/slide" Target="slides/slide60.xml"/><Relationship Id="rId77" Type="http://schemas.openxmlformats.org/officeDocument/2006/relationships/slide" Target="slides/slide6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Unidade: %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Controle Patrimonial</c:v>
                </c:pt>
              </c:strCache>
            </c:strRef>
          </c:tx>
          <c:spPr>
            <a:solidFill>
              <a:srgbClr val="BF9000"/>
            </a:solidFill>
          </c:spP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91</c:v>
                </c:pt>
                <c:pt idx="1">
                  <c:v>99</c:v>
                </c:pt>
                <c:pt idx="2">
                  <c:v>95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4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Unidade: kWh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Consumo per capita de Energia</c:v>
                </c:pt>
              </c:strCache>
            </c:strRef>
          </c:tx>
          <c:spPr>
            <a:solidFill>
              <a:srgbClr val="BF9000"/>
            </a:solidFill>
          </c:spP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605.43</c:v>
                </c:pt>
                <c:pt idx="1">
                  <c:v>541.28</c:v>
                </c:pt>
                <c:pt idx="2">
                  <c:v>396.54</c:v>
                </c:pt>
              </c:numCache>
            </c:numRef>
          </c:val>
        </c:ser>
        <c:dLbls>
          <c:numFmt formatCode="#,##0.00" sourceLinked="0"/>
          <c:txPr>
            <a:bodyPr/>
            <a:lstStyle/>
            <a:p>
              <a:pPr>
                <a:defRPr sz="14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Unidade: %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Satisfação dos CONSEGs</c:v>
                </c:pt>
              </c:strCache>
            </c:strRef>
          </c:tx>
          <c:spPr>
            <a:solidFill>
              <a:srgbClr val="BF9000"/>
            </a:solidFill>
          </c:spP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4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Unidade: %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Feedback às Denúncias (Ouvidoria)</c:v>
                </c:pt>
              </c:strCache>
            </c:strRef>
          </c:tx>
          <c:spPr>
            <a:solidFill>
              <a:srgbClr val="BF9000"/>
            </a:solidFill>
          </c:spP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4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Unidade: %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Satisfação dos Clientes</c:v>
                </c:pt>
              </c:strCache>
            </c:strRef>
          </c:tx>
          <c:spPr>
            <a:solidFill>
              <a:srgbClr val="BF9000"/>
            </a:solidFill>
          </c:spP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80</c:v>
                </c:pt>
                <c:pt idx="2">
                  <c:v>90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4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Unidade: %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Policiais com Conceito "E"</c:v>
                </c:pt>
              </c:strCache>
            </c:strRef>
          </c:tx>
          <c:spPr>
            <a:solidFill>
              <a:srgbClr val="BF9000"/>
            </a:solidFill>
          </c:spP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4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Unidade: %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Metas Alcançadas do PGA</c:v>
                </c:pt>
              </c:strCache>
            </c:strRef>
          </c:tx>
          <c:spPr>
            <a:solidFill>
              <a:srgbClr val="BF9000"/>
            </a:solidFill>
          </c:spP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50</c:v>
                </c:pt>
                <c:pt idx="2">
                  <c:v>60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4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Unidade: %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Satisfação com Produtos Adquiridos</c:v>
                </c:pt>
              </c:strCache>
            </c:strRef>
          </c:tx>
          <c:spPr>
            <a:solidFill>
              <a:srgbClr val="BF9000"/>
            </a:solidFill>
          </c:spP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60</c:v>
                </c:pt>
                <c:pt idx="2">
                  <c:v>80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4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/>
              <a:t>Unidade: %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Correção de Quesitos Negativos</c:v>
                </c:pt>
              </c:strCache>
            </c:strRef>
          </c:tx>
          <c:spPr>
            <a:solidFill>
              <a:srgbClr val="BF9000"/>
            </a:solidFill>
          </c:spP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80</c:v>
                </c:pt>
                <c:pt idx="2">
                  <c:v>90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4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" name="Google Shape;2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" name="Google Shape;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" name="Google Shape;7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8" name="Google Shape;7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120ebcea37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" name="Google Shape;137;g3120ebcea3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" name="Google Shape;11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" name="Google Shape;10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8" name="Google Shape;15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5" name="Google Shape;17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2" name="Google Shape;19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120ebcea37_2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g3120ebcea37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120ebcea37_2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8" name="Google Shape;208;g3120ebcea3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6" name="Google Shape;21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120ebcea37_2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4" name="Google Shape;224;g3120ebcea37_2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2" name="Google Shape;23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120ebcea37_2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0" name="Google Shape;240;g3120ebcea37_2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8" name="Google Shape;24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5" name="Google Shape;26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2" name="Google Shape;28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2" name="Google Shape;28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424514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2" name="Google Shape;28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298331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2" name="Google Shape;28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25280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2" name="Google Shape;28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090277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2" name="Google Shape;28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970955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2" name="Google Shape;28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5028981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2" name="Google Shape;28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1363958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1" name="Google Shape;30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1" name="Google Shape;31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Slide de Título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jp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Relationship Id="rId3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jpeg"/><Relationship Id="rId9" Type="http://schemas.openxmlformats.org/officeDocument/2006/relationships/image" Target="../media/image1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Relationship Id="rId4" Type="http://schemas.openxmlformats.org/officeDocument/2006/relationships/image" Target="../media/image1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8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"/>
          <p:cNvSpPr txBox="1"/>
          <p:nvPr/>
        </p:nvSpPr>
        <p:spPr>
          <a:xfrm>
            <a:off x="3011487" y="3490912"/>
            <a:ext cx="6319837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2CC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2CC"/>
                </a:solidFill>
                <a:latin typeface="Arial"/>
                <a:ea typeface="Arial"/>
                <a:cs typeface="Arial"/>
                <a:sym typeface="Arial"/>
              </a:rPr>
              <a:t>PRÊMIO POLÍCIA MILITAR DE GESTÃO DA QUALIDADE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sz="1400" b="1">
                <a:solidFill>
                  <a:srgbClr val="FFFFFF"/>
                </a:solidFill>
              </a:rPr>
              <a:t>Ano 2026 – 27º BPM / Luís Eduardo Magalhães</a:t>
            </a:r>
          </a:p>
        </p:txBody>
      </p:sp>
      <p:sp>
        <p:nvSpPr>
          <p:cNvPr id="24" name="Google Shape;24;p1"/>
          <p:cNvSpPr txBox="1"/>
          <p:nvPr/>
        </p:nvSpPr>
        <p:spPr>
          <a:xfrm>
            <a:off x="2566194" y="2140336"/>
            <a:ext cx="7059612" cy="708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POLÍCIA MILITAR DA BAHIA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" name="Google Shape;2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00674" y="549274"/>
            <a:ext cx="1541462" cy="1446212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1"/>
          <p:cNvSpPr txBox="1"/>
          <p:nvPr/>
        </p:nvSpPr>
        <p:spPr>
          <a:xfrm>
            <a:off x="4437062" y="5632450"/>
            <a:ext cx="3640137" cy="277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COMANDANTE DA UNIDADE: TEN CEL PM DIZ PAZOS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900112" y="741362"/>
            <a:ext cx="8693150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Missão, Visão e Valores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4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MISSÃO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300000" y="1400000"/>
            <a:ext cx="84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sz="1800" b="1">
                <a:solidFill>
                  <a:srgbClr val="404040"/>
                </a:solidFill>
              </a:rPr>
              <a:t>MISSÃO (Lei nº 13.201/2014)</a:t>
            </a:r>
          </a:p>
          <a:p>
            <a:pPr algn="just">
              <a:spcAft>
                <a:spcPts val="600"/>
              </a:spcAft>
            </a:pPr>
            <a:r>
              <a:rPr sz="1800" b="0">
                <a:solidFill>
                  <a:srgbClr val="404040"/>
                </a:solidFill>
              </a:rPr>
              <a:t>Preservar a vida, a ordem pública e a cidadania.</a:t>
            </a:r>
          </a:p>
          <a:p>
            <a:pPr algn="just">
              <a:spcAft>
                <a:spcPts val="600"/>
              </a:spcAft>
            </a:pPr>
            <a:r>
              <a:rPr sz="1800" b="1">
                <a:solidFill>
                  <a:srgbClr val="404040"/>
                </a:solidFill>
              </a:rPr>
              <a:t>VISÃO</a:t>
            </a:r>
          </a:p>
          <a:p>
            <a:pPr algn="just">
              <a:spcAft>
                <a:spcPts val="600"/>
              </a:spcAft>
            </a:pPr>
            <a:r>
              <a:rPr sz="1800" b="0">
                <a:solidFill>
                  <a:srgbClr val="404040"/>
                </a:solidFill>
              </a:rPr>
              <a:t>Ser referência nacional até 2030, pela excelência na prestação dos serviços da polícia ostensiva e cidadã.</a:t>
            </a:r>
          </a:p>
          <a:p>
            <a:pPr algn="just">
              <a:spcAft>
                <a:spcPts val="600"/>
              </a:spcAft>
            </a:pPr>
            <a:r>
              <a:rPr sz="1800" b="1">
                <a:solidFill>
                  <a:srgbClr val="404040"/>
                </a:solidFill>
              </a:rPr>
              <a:t>VALORES (Lei nº 7.990/2001)</a:t>
            </a:r>
          </a:p>
          <a:p>
            <a:pPr algn="just">
              <a:spcAft>
                <a:spcPts val="600"/>
              </a:spcAft>
            </a:pPr>
            <a:r>
              <a:rPr sz="1800" b="0">
                <a:solidFill>
                  <a:srgbClr val="404040"/>
                </a:solidFill>
              </a:rPr>
              <a:t>Hierarquia • Disciplina • Ética • Profissionalismo • Dignidade humana.</a:t>
            </a:r>
          </a:p>
          <a:p>
            <a:pPr algn="just">
              <a:spcAft>
                <a:spcPts val="600"/>
              </a:spcAft>
            </a:pPr>
            <a:r>
              <a:rPr sz="1800" b="1">
                <a:solidFill>
                  <a:srgbClr val="404040"/>
                </a:solidFill>
              </a:rPr>
              <a:t>NEGÓCIO</a:t>
            </a:r>
          </a:p>
          <a:p>
            <a:pPr algn="just">
              <a:spcAft>
                <a:spcPts val="600"/>
              </a:spcAft>
            </a:pPr>
            <a:r>
              <a:rPr sz="1800" b="0">
                <a:solidFill>
                  <a:srgbClr val="404040"/>
                </a:solidFill>
              </a:rPr>
              <a:t>Segurança pública voltada à preservação da ordem pública e prevenção à violência e à criminalidade, por meio de policiamento ostensivo diuturno.</a:t>
            </a:r>
          </a:p>
        </p:txBody>
      </p:sp>
      <p:pic>
        <p:nvPicPr>
          <p:cNvPr id="58" name="Picture 57" descr="s1_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0000" y="2300000"/>
            <a:ext cx="2000000" cy="200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 txBox="1"/>
          <p:nvPr/>
        </p:nvSpPr>
        <p:spPr>
          <a:xfrm>
            <a:off x="900112" y="741362"/>
            <a:ext cx="8693150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 dirty="0" err="1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Estrutura Organizacional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6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ESTRUTURA DE FUNCIONAMENTO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" name="Picture 74" descr="organogram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0000" y="1350000"/>
            <a:ext cx="7863697" cy="53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 txBox="1"/>
          <p:nvPr/>
        </p:nvSpPr>
        <p:spPr>
          <a:xfrm>
            <a:off x="900112" y="741362"/>
            <a:ext cx="8693150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Estrutura e Efetivo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7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ESTRUTURA DE FUNCIONAMENTO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3" name="Table 82"/>
          <p:cNvGraphicFramePr>
            <a:graphicFrameLocks noGrp="1"/>
          </p:cNvGraphicFramePr>
          <p:nvPr/>
        </p:nvGraphicFramePr>
        <p:xfrm>
          <a:off x="1600000" y="1550000"/>
          <a:ext cx="6200000" cy="4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0000"/>
                <a:gridCol w="1400000"/>
                <a:gridCol w="2200000"/>
              </a:tblGrid>
              <a:tr h="420000">
                <a:tc>
                  <a:txBody>
                    <a:bodyPr/>
                    <a:lstStyle/>
                    <a:p>
                      <a:r>
                        <a:rPr sz="1400" b="1"/>
                        <a:t>Posto / Graduação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400" b="1"/>
                        <a:t>Existente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400" b="1"/>
                        <a:t>Previsto (Portaria 026-CG/2026)</a:t>
                      </a:r>
                    </a:p>
                  </a:txBody>
                  <a:tcPr marT="30000" marB="30000"/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400" b="0"/>
                        <a:t>Ten Cel PM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400" b="0"/>
                        <a:t>1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400" b="0"/>
                        <a:t>1</a:t>
                      </a:r>
                    </a:p>
                  </a:txBody>
                  <a:tcPr marT="30000" marB="30000"/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400" b="0"/>
                        <a:t>Major PM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400" b="0"/>
                        <a:t>1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400" b="0"/>
                        <a:t>3</a:t>
                      </a:r>
                    </a:p>
                  </a:txBody>
                  <a:tcPr marT="30000" marB="30000"/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400" b="0"/>
                        <a:t>Capitão PM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400" b="0"/>
                        <a:t>5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400" b="0"/>
                        <a:t>11</a:t>
                      </a:r>
                    </a:p>
                  </a:txBody>
                  <a:tcPr marT="30000" marB="30000"/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400" b="0"/>
                        <a:t>1º Tenente PM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400" b="0"/>
                        <a:t>3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400" b="0"/>
                        <a:t>19</a:t>
                      </a:r>
                    </a:p>
                  </a:txBody>
                  <a:tcPr marT="30000" marB="30000"/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400" b="0"/>
                        <a:t>Subtenente PM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400" b="0"/>
                        <a:t>2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400" b="0"/>
                        <a:t>18</a:t>
                      </a:r>
                    </a:p>
                  </a:txBody>
                  <a:tcPr marT="30000" marB="30000"/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400" b="0"/>
                        <a:t>1º Sargento PM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400" b="0"/>
                        <a:t>17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400" b="0"/>
                        <a:t>35</a:t>
                      </a:r>
                    </a:p>
                  </a:txBody>
                  <a:tcPr marT="30000" marB="30000"/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400" b="0"/>
                        <a:t>Cabo PM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400" b="0"/>
                        <a:t>18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400" b="0"/>
                        <a:t>49</a:t>
                      </a:r>
                    </a:p>
                  </a:txBody>
                  <a:tcPr marT="30000" marB="30000"/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400" b="0"/>
                        <a:t>Soldado 1ª Cl PM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400" b="0"/>
                        <a:t>102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400" b="0"/>
                        <a:t>164</a:t>
                      </a:r>
                    </a:p>
                  </a:txBody>
                  <a:tcPr marT="30000" marB="30000"/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400" b="1"/>
                        <a:t>TOTAL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400" b="1"/>
                        <a:t>149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400" b="1"/>
                        <a:t>300</a:t>
                      </a:r>
                    </a:p>
                  </a:txBody>
                  <a:tcPr marT="30000" marB="30000"/>
                </a:tc>
              </a:tr>
            </a:tbl>
          </a:graphicData>
        </a:graphic>
      </p:graphicFrame>
      <p:sp>
        <p:nvSpPr>
          <p:cNvPr id="84" name="TextBox 83"/>
          <p:cNvSpPr txBox="1"/>
          <p:nvPr/>
        </p:nvSpPr>
        <p:spPr>
          <a:xfrm>
            <a:off x="8100000" y="1700000"/>
            <a:ext cx="3800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sz="1600" b="1">
                <a:solidFill>
                  <a:srgbClr val="404040"/>
                </a:solidFill>
              </a:rPr>
              <a:t>Efetivo existente: 149 PMs</a:t>
            </a:r>
          </a:p>
          <a:p>
            <a:pPr algn="just"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</a:rPr>
              <a:t>Corresponde a cerca de 50% do previsto (300).</a:t>
            </a:r>
          </a:p>
          <a:p>
            <a:pPr algn="just"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</a:rPr>
              <a:t>Recompletar o efetivo é um dos desafios estratégicos declarados no Relato Organizacional.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6150" y="4051300"/>
            <a:ext cx="2825750" cy="280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2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2"/>
          <p:cNvSpPr txBox="1"/>
          <p:nvPr/>
        </p:nvSpPr>
        <p:spPr>
          <a:xfrm>
            <a:off x="900112" y="741362"/>
            <a:ext cx="8693150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Portfólio de Serviços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2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PORTFÓLIO DE SERVIÇOS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2"/>
          <p:cNvSpPr txBox="1"/>
          <p:nvPr/>
        </p:nvSpPr>
        <p:spPr>
          <a:xfrm>
            <a:off x="946150" y="5691187"/>
            <a:ext cx="2825750" cy="1177925"/>
          </a:xfrm>
          <a:prstGeom prst="rect">
            <a:avLst/>
          </a:prstGeom>
          <a:gradFill>
            <a:gsLst>
              <a:gs pos="0">
                <a:srgbClr val="F6F8FC"/>
              </a:gs>
              <a:gs pos="74000">
                <a:srgbClr val="D9D9D9"/>
              </a:gs>
              <a:gs pos="100000">
                <a:srgbClr val="BFBFB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6150" y="1412875"/>
            <a:ext cx="2841625" cy="280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2"/>
          <p:cNvSpPr txBox="1"/>
          <p:nvPr/>
        </p:nvSpPr>
        <p:spPr>
          <a:xfrm>
            <a:off x="962025" y="3070225"/>
            <a:ext cx="2825750" cy="1179512"/>
          </a:xfrm>
          <a:prstGeom prst="rect">
            <a:avLst/>
          </a:prstGeom>
          <a:gradFill>
            <a:gsLst>
              <a:gs pos="0">
                <a:srgbClr val="F6F8FC"/>
              </a:gs>
              <a:gs pos="74000">
                <a:srgbClr val="D9D9D9"/>
              </a:gs>
              <a:gs pos="100000">
                <a:srgbClr val="BFBFB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2"/>
          <p:cNvSpPr txBox="1"/>
          <p:nvPr/>
        </p:nvSpPr>
        <p:spPr>
          <a:xfrm>
            <a:off x="4232575" y="2136125"/>
            <a:ext cx="7070700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1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Policiamento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1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Ostensivo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1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Geral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–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desenvolvido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exclusivamente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pela PMBA,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objetiva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satisfazer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as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necessidades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básicas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da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comunidade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através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do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emprego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do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homem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ou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fração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tropa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engajados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visualmente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identificáveis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quer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pela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farda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quer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pelo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equipamento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ou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viatura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objetivando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a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manutenção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da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ordem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pública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. </a:t>
            </a:r>
            <a:endParaRPr sz="24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g3120ebcea37_0_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6150" y="4051300"/>
            <a:ext cx="2825751" cy="280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3120ebcea37_0_1"/>
          <p:cNvSpPr/>
          <p:nvPr/>
        </p:nvSpPr>
        <p:spPr>
          <a:xfrm>
            <a:off x="0" y="0"/>
            <a:ext cx="501300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120ebcea37_0_1"/>
          <p:cNvSpPr txBox="1"/>
          <p:nvPr/>
        </p:nvSpPr>
        <p:spPr>
          <a:xfrm>
            <a:off x="900112" y="741362"/>
            <a:ext cx="8693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Portfólio de Serviços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120ebcea37_0_1"/>
          <p:cNvSpPr txBox="1"/>
          <p:nvPr/>
        </p:nvSpPr>
        <p:spPr>
          <a:xfrm rot="-5400000">
            <a:off x="-2435925" y="3305825"/>
            <a:ext cx="53658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PORTFÓLIO DE SERVIÇOS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120ebcea37_0_1"/>
          <p:cNvSpPr txBox="1"/>
          <p:nvPr/>
        </p:nvSpPr>
        <p:spPr>
          <a:xfrm>
            <a:off x="946150" y="5691187"/>
            <a:ext cx="2825700" cy="1177800"/>
          </a:xfrm>
          <a:prstGeom prst="rect">
            <a:avLst/>
          </a:prstGeom>
          <a:gradFill>
            <a:gsLst>
              <a:gs pos="0">
                <a:srgbClr val="F6F8FC"/>
              </a:gs>
              <a:gs pos="74000">
                <a:srgbClr val="D9D9D9"/>
              </a:gs>
              <a:gs pos="100000">
                <a:srgbClr val="BFBFBF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g3120ebcea37_0_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6150" y="1412875"/>
            <a:ext cx="2841626" cy="2806699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120ebcea37_0_1"/>
          <p:cNvSpPr txBox="1"/>
          <p:nvPr/>
        </p:nvSpPr>
        <p:spPr>
          <a:xfrm>
            <a:off x="962025" y="3070225"/>
            <a:ext cx="2825700" cy="1179600"/>
          </a:xfrm>
          <a:prstGeom prst="rect">
            <a:avLst/>
          </a:prstGeom>
          <a:gradFill>
            <a:gsLst>
              <a:gs pos="0">
                <a:srgbClr val="F6F8FC"/>
              </a:gs>
              <a:gs pos="74000">
                <a:srgbClr val="D9D9D9"/>
              </a:gs>
              <a:gs pos="100000">
                <a:srgbClr val="BFBFBF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3120ebcea37_0_1"/>
          <p:cNvSpPr txBox="1"/>
          <p:nvPr/>
        </p:nvSpPr>
        <p:spPr>
          <a:xfrm>
            <a:off x="4487125" y="1412875"/>
            <a:ext cx="7070700" cy="52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1" i="0" u="none" strike="noStrike" cap="none" dirty="0" err="1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Policiamento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1" i="0" u="none" strike="noStrike" cap="none" dirty="0" err="1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Ostensivo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1" i="0" u="none" strike="noStrike" cap="none" dirty="0" err="1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Geral</a:t>
            </a:r>
            <a:r>
              <a:rPr lang="en-US" sz="2400" b="1" i="0" u="none" strike="noStrike" cap="none" dirty="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–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Unidade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emprega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diuturnamente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veículos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quatro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(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carro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) 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duas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rodas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(moto) para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atendimentos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às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demandas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ocorrências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policiais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oriundas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da central de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operações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ou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para a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realização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ações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policiamento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ostensivo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preventivo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mediante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Ordem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Policiamento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Ostensiva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previamente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emitida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.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Pode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ainda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atender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à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solicitação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direta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da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população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neste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caso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deve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ser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informada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à central de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operações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. A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mesma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descrição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aplica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-se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Policiamento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Ostensivo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à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Pé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apenas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não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utilização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veículo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.</a:t>
            </a:r>
            <a:endParaRPr sz="2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1905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1"/>
          <p:cNvSpPr txBox="1"/>
          <p:nvPr/>
        </p:nvSpPr>
        <p:spPr>
          <a:xfrm>
            <a:off x="900112" y="741362"/>
            <a:ext cx="8693150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Portfólio de Serviços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1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PORTFÓLIO DE SERVIÇOS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1"/>
          <p:cNvSpPr txBox="1"/>
          <p:nvPr/>
        </p:nvSpPr>
        <p:spPr>
          <a:xfrm>
            <a:off x="660499" y="1858950"/>
            <a:ext cx="6162600" cy="4093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O </a:t>
            </a:r>
            <a:r>
              <a:rPr lang="en-US" sz="2000" b="1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Policiamento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1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Comunitário</a:t>
            </a:r>
            <a:r>
              <a:rPr lang="en-US" sz="2000" b="1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ocorre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através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visitas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diárias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em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estabelecimentos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comerciais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e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escolas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onde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é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feita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a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aproximação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da PM com a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comunidade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assim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como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é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feita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a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inclusão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destes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no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processo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resolução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dos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problemas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violência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e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segurança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.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Também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realizado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através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visitas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realizadas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na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zona rural,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nos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finais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semana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onde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propriedades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rurais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e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residências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são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percorridas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fazendo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também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um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trabalho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aproximação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principalmente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pelo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fato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a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polícia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não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estar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presente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todos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os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dias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nas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referidas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localidades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em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virtude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da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falta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efetivo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suficiente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.</a:t>
            </a:r>
            <a:endParaRPr sz="20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11"/>
          <p:cNvPicPr preferRelativeResize="0"/>
          <p:nvPr/>
        </p:nvPicPr>
        <p:blipFill rotWithShape="1">
          <a:blip r:embed="rId3">
            <a:alphaModFix/>
          </a:blip>
          <a:srcRect t="1912" b="19567"/>
          <a:stretch/>
        </p:blipFill>
        <p:spPr>
          <a:xfrm>
            <a:off x="7743825" y="0"/>
            <a:ext cx="3903662" cy="370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1"/>
          <p:cNvPicPr preferRelativeResize="0"/>
          <p:nvPr/>
        </p:nvPicPr>
        <p:blipFill rotWithShape="1">
          <a:blip r:embed="rId4">
            <a:alphaModFix/>
          </a:blip>
          <a:srcRect t="14216" b="15057"/>
          <a:stretch/>
        </p:blipFill>
        <p:spPr>
          <a:xfrm>
            <a:off x="7743825" y="3708400"/>
            <a:ext cx="3903662" cy="314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1"/>
          <p:cNvSpPr txBox="1"/>
          <p:nvPr/>
        </p:nvSpPr>
        <p:spPr>
          <a:xfrm>
            <a:off x="7743825" y="2528887"/>
            <a:ext cx="3903662" cy="1179512"/>
          </a:xfrm>
          <a:prstGeom prst="rect">
            <a:avLst/>
          </a:prstGeom>
          <a:gradFill>
            <a:gsLst>
              <a:gs pos="0">
                <a:srgbClr val="F6F8FC"/>
              </a:gs>
              <a:gs pos="74000">
                <a:srgbClr val="D9D9D9"/>
              </a:gs>
              <a:gs pos="100000">
                <a:srgbClr val="BFBFB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1"/>
          <p:cNvSpPr txBox="1"/>
          <p:nvPr/>
        </p:nvSpPr>
        <p:spPr>
          <a:xfrm>
            <a:off x="7743825" y="5699125"/>
            <a:ext cx="3903662" cy="1179512"/>
          </a:xfrm>
          <a:prstGeom prst="rect">
            <a:avLst/>
          </a:prstGeom>
          <a:gradFill>
            <a:gsLst>
              <a:gs pos="0">
                <a:srgbClr val="F6F8FC"/>
              </a:gs>
              <a:gs pos="74000">
                <a:srgbClr val="D9D9D9"/>
              </a:gs>
              <a:gs pos="100000">
                <a:srgbClr val="BFBFB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0"/>
          <p:cNvSpPr txBox="1"/>
          <p:nvPr/>
        </p:nvSpPr>
        <p:spPr>
          <a:xfrm>
            <a:off x="900112" y="741362"/>
            <a:ext cx="8693150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Portfólio de Serviços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0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PORTFÓLIO DE SERVIÇOS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10"/>
          <p:cNvPicPr preferRelativeResize="0"/>
          <p:nvPr/>
        </p:nvPicPr>
        <p:blipFill rotWithShape="1">
          <a:blip r:embed="rId3">
            <a:alphaModFix/>
          </a:blip>
          <a:srcRect l="55217" t="22735" b="13265"/>
          <a:stretch/>
        </p:blipFill>
        <p:spPr>
          <a:xfrm>
            <a:off x="1016000" y="1506537"/>
            <a:ext cx="3794125" cy="535146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0"/>
          <p:cNvSpPr txBox="1"/>
          <p:nvPr/>
        </p:nvSpPr>
        <p:spPr>
          <a:xfrm>
            <a:off x="5324775" y="1506525"/>
            <a:ext cx="5832300" cy="2569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Char char="●"/>
            </a:pPr>
            <a:r>
              <a:rPr lang="en-US" sz="2300" b="1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Policiamento</a:t>
            </a:r>
            <a:r>
              <a:rPr lang="en-US" sz="2300" b="1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300" b="1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trânsito</a:t>
            </a:r>
            <a:r>
              <a:rPr lang="en-US" sz="2300" b="1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3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realizado</a:t>
            </a:r>
            <a:r>
              <a:rPr lang="en-US" sz="23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3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em</a:t>
            </a:r>
            <a:r>
              <a:rPr lang="en-US" sz="23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conjunto com </a:t>
            </a:r>
            <a:r>
              <a:rPr lang="en-US" sz="23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prepostos</a:t>
            </a:r>
            <a:r>
              <a:rPr lang="en-US" sz="23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do </a:t>
            </a:r>
            <a:r>
              <a:rPr lang="en-US" sz="23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Departamento</a:t>
            </a:r>
            <a:r>
              <a:rPr lang="en-US" sz="23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3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Estadual</a:t>
            </a:r>
            <a:r>
              <a:rPr lang="en-US" sz="23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3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Trânsito</a:t>
            </a:r>
            <a:r>
              <a:rPr lang="en-US" sz="23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- DETRAN (</a:t>
            </a:r>
            <a:r>
              <a:rPr lang="en-US" sz="23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Estadual</a:t>
            </a:r>
            <a:r>
              <a:rPr lang="en-US" sz="23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) e da </a:t>
            </a:r>
            <a:r>
              <a:rPr lang="en-US" sz="23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Superintendência</a:t>
            </a:r>
            <a:r>
              <a:rPr lang="en-US" sz="23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3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Trânsito</a:t>
            </a:r>
            <a:r>
              <a:rPr lang="en-US" sz="23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Municipal - SUTRANS (Municipal) e </a:t>
            </a:r>
            <a:r>
              <a:rPr lang="en-US" sz="23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ainda</a:t>
            </a:r>
            <a:r>
              <a:rPr lang="en-US" sz="23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3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em</a:t>
            </a:r>
            <a:r>
              <a:rPr lang="en-US" sz="23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3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blitz</a:t>
            </a:r>
            <a:r>
              <a:rPr lang="en-US" sz="23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3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preventivas</a:t>
            </a:r>
            <a:r>
              <a:rPr lang="en-US" sz="23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3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realizadas</a:t>
            </a:r>
            <a:r>
              <a:rPr lang="en-US" sz="23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3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ao</a:t>
            </a:r>
            <a:r>
              <a:rPr lang="en-US" sz="23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3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longo</a:t>
            </a:r>
            <a:r>
              <a:rPr lang="en-US" sz="23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do </a:t>
            </a:r>
            <a:r>
              <a:rPr lang="en-US" sz="23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ano</a:t>
            </a:r>
            <a:r>
              <a:rPr lang="en-US" sz="2300" b="0" i="0" u="none" strike="noStrike" cap="none" dirty="0">
                <a:solidFill>
                  <a:srgbClr val="000000"/>
                </a:solidFill>
                <a:latin typeface="+mj-lt"/>
                <a:ea typeface="Open Sans Light"/>
                <a:cs typeface="Open Sans Light"/>
                <a:sym typeface="Open Sans Light"/>
              </a:rPr>
              <a:t>.</a:t>
            </a:r>
            <a:endParaRPr sz="19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0"/>
          <p:cNvSpPr txBox="1"/>
          <p:nvPr/>
        </p:nvSpPr>
        <p:spPr>
          <a:xfrm>
            <a:off x="946150" y="5691187"/>
            <a:ext cx="3903662" cy="1177925"/>
          </a:xfrm>
          <a:prstGeom prst="rect">
            <a:avLst/>
          </a:prstGeom>
          <a:gradFill>
            <a:gsLst>
              <a:gs pos="0">
                <a:srgbClr val="F6F8FC"/>
              </a:gs>
              <a:gs pos="74000">
                <a:srgbClr val="D9D9D9"/>
              </a:gs>
              <a:gs pos="100000">
                <a:srgbClr val="BFBFB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4"/>
          <p:cNvSpPr txBox="1"/>
          <p:nvPr/>
        </p:nvSpPr>
        <p:spPr>
          <a:xfrm>
            <a:off x="900112" y="741362"/>
            <a:ext cx="8693150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Partes Interessadas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4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PARTES INTERESSADAS E REDES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3" name="Table 162"/>
          <p:cNvGraphicFramePr>
            <a:graphicFrameLocks noGrp="1"/>
          </p:cNvGraphicFramePr>
          <p:nvPr/>
        </p:nvGraphicFramePr>
        <p:xfrm>
          <a:off x="950000" y="1450000"/>
          <a:ext cx="11000000" cy="4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0000"/>
                <a:gridCol w="3500000"/>
                <a:gridCol w="4600000"/>
              </a:tblGrid>
              <a:tr h="600000">
                <a:tc>
                  <a:txBody>
                    <a:bodyPr/>
                    <a:lstStyle/>
                    <a:p>
                      <a:r>
                        <a:rPr sz="1200" b="1"/>
                        <a:t>Parte interessada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200" b="1"/>
                        <a:t>Principais interlocutores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200" b="1"/>
                        <a:t>Principais necessidades e expectativas</a:t>
                      </a:r>
                    </a:p>
                  </a:txBody>
                  <a:tcPr marT="30000" marB="30000"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200" b="0"/>
                        <a:t>CPR-O (mantenedor)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200" b="0"/>
                        <a:t>Comandante do CPR-O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200" b="0"/>
                        <a:t>Implantação das Diretrizes Operacionais, cumprimento dos Planos Operacionais e Projetos</a:t>
                      </a:r>
                    </a:p>
                  </a:txBody>
                  <a:tcPr marT="30000" marB="30000"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200" b="0"/>
                        <a:t>Sociedade / clientes (zona urbana e rural)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200" b="0"/>
                        <a:t>Moradores, comerciantes, produtores rurais, escolas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200" b="0"/>
                        <a:t>Preservação da ordem pública, prevenção e redução da violência</a:t>
                      </a:r>
                    </a:p>
                  </a:txBody>
                  <a:tcPr marT="30000" marB="30000"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200" b="0"/>
                        <a:t>CONSEG LEM e CONSEG Roda Velha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200" b="0"/>
                        <a:t>Presidentes dos CONSEGs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200" b="0"/>
                        <a:t>Ligação entre a comunidade e a Polícia Militar</a:t>
                      </a:r>
                    </a:p>
                  </a:txBody>
                  <a:tcPr marT="30000" marB="30000"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200" b="0"/>
                        <a:t>Prefeituras de LEM e São Desidério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200" b="0"/>
                        <a:t>Prefeitos municipais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200" b="0"/>
                        <a:t>Fortalecimento da segurança e redução dos índices de violência</a:t>
                      </a:r>
                    </a:p>
                  </a:txBody>
                  <a:tcPr marT="30000" marB="30000"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200" b="0"/>
                        <a:t>Ministério Público, Judiciário e AIBA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200" b="0"/>
                        <a:t>Promotores, juízes, Associação dos Agricultores e Irrigantes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200" b="0"/>
                        <a:t>Resposta às demandas, prestação de contas e segurança no meio rural</a:t>
                      </a:r>
                    </a:p>
                  </a:txBody>
                  <a:tcPr marT="30000" marB="30000"/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1200" b="0"/>
                        <a:t>Força de trabalho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200" b="0"/>
                        <a:t>Policiais militares e servidores civis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200" b="0"/>
                        <a:t>Condições de trabalho, saúde, capacitação e reconhecimento</a:t>
                      </a:r>
                    </a:p>
                  </a:txBody>
                  <a:tcPr marT="30000" marB="30000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3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33"/>
          <p:cNvSpPr txBox="1"/>
          <p:nvPr/>
        </p:nvSpPr>
        <p:spPr>
          <a:xfrm>
            <a:off x="900112" y="140408"/>
            <a:ext cx="8693150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Redes de </a:t>
            </a:r>
            <a:r>
              <a:rPr lang="en-US" sz="2800" b="0" i="0" u="none" strike="noStrike" cap="none" dirty="0" err="1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Atuação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3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PARTES INTERESSADAS E REDES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560E96B9-60DF-643B-87EF-7CE0A3BB1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7331863"/>
              </p:ext>
            </p:extLst>
          </p:nvPr>
        </p:nvGraphicFramePr>
        <p:xfrm>
          <a:off x="749004" y="662695"/>
          <a:ext cx="11319171" cy="5656068"/>
        </p:xfrm>
        <a:graphic>
          <a:graphicData uri="http://schemas.openxmlformats.org/drawingml/2006/table">
            <a:tbl>
              <a:tblPr/>
              <a:tblGrid>
                <a:gridCol w="1777049">
                  <a:extLst>
                    <a:ext uri="{9D8B030D-6E8A-4147-A177-3AD203B41FA5}">
                      <a16:colId xmlns:a16="http://schemas.microsoft.com/office/drawing/2014/main" val="3459999161"/>
                    </a:ext>
                  </a:extLst>
                </a:gridCol>
                <a:gridCol w="3631880">
                  <a:extLst>
                    <a:ext uri="{9D8B030D-6E8A-4147-A177-3AD203B41FA5}">
                      <a16:colId xmlns:a16="http://schemas.microsoft.com/office/drawing/2014/main" val="1968331026"/>
                    </a:ext>
                  </a:extLst>
                </a:gridCol>
                <a:gridCol w="2870778">
                  <a:extLst>
                    <a:ext uri="{9D8B030D-6E8A-4147-A177-3AD203B41FA5}">
                      <a16:colId xmlns:a16="http://schemas.microsoft.com/office/drawing/2014/main" val="2762897640"/>
                    </a:ext>
                  </a:extLst>
                </a:gridCol>
                <a:gridCol w="3039464">
                  <a:extLst>
                    <a:ext uri="{9D8B030D-6E8A-4147-A177-3AD203B41FA5}">
                      <a16:colId xmlns:a16="http://schemas.microsoft.com/office/drawing/2014/main" val="2873102360"/>
                    </a:ext>
                  </a:extLst>
                </a:gridCol>
              </a:tblGrid>
              <a:tr h="506021">
                <a:tc>
                  <a:txBody>
                    <a:bodyPr/>
                    <a:lstStyle/>
                    <a:p>
                      <a:pPr marR="215265" algn="just">
                        <a:spcBef>
                          <a:spcPts val="835"/>
                        </a:spcBef>
                        <a:spcAft>
                          <a:spcPts val="0"/>
                        </a:spcAft>
                      </a:pPr>
                      <a:r>
                        <a:rPr lang="pt-BR" sz="16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Noto Sans Symbols" panose="020B0604020202020204" charset="0"/>
                        </a:rPr>
                        <a:t>Denominação da rede</a:t>
                      </a:r>
                      <a:endParaRPr lang="pt-BR" sz="1600" b="1" dirty="0">
                        <a:effectLst/>
                        <a:latin typeface="+mj-lt"/>
                        <a:ea typeface="Noto Sans Symbols" panose="020B0604020202020204" charset="0"/>
                      </a:endParaRPr>
                    </a:p>
                  </a:txBody>
                  <a:tcPr marL="58320" marR="583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69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115"/>
                        </a:spcBef>
                      </a:pPr>
                      <a:r>
                        <a:rPr lang="pt-BR" sz="16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Noto Sans Symbols" panose="020B0604020202020204" charset="0"/>
                        </a:rPr>
                        <a:t>Principais interlocutores ou representantes</a:t>
                      </a:r>
                      <a:endParaRPr lang="pt-BR" sz="1600" b="1" dirty="0">
                        <a:effectLst/>
                        <a:latin typeface="+mj-lt"/>
                        <a:ea typeface="Noto Sans Symbols" panose="020B0604020202020204" charset="0"/>
                      </a:endParaRPr>
                    </a:p>
                  </a:txBody>
                  <a:tcPr marL="58320" marR="583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69F"/>
                    </a:solidFill>
                  </a:tcPr>
                </a:tc>
                <a:tc>
                  <a:txBody>
                    <a:bodyPr/>
                    <a:lstStyle/>
                    <a:p>
                      <a:pPr marR="146050" algn="just">
                        <a:spcBef>
                          <a:spcPts val="835"/>
                        </a:spcBef>
                        <a:spcAft>
                          <a:spcPts val="0"/>
                        </a:spcAft>
                      </a:pPr>
                      <a:r>
                        <a:rPr lang="pt-BR" sz="16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Noto Sans Symbols" panose="020B0604020202020204" charset="0"/>
                        </a:rPr>
                        <a:t>Principais propósitos da rede</a:t>
                      </a:r>
                      <a:endParaRPr lang="pt-BR" sz="1600" b="1" dirty="0">
                        <a:effectLst/>
                        <a:latin typeface="+mj-lt"/>
                        <a:ea typeface="Noto Sans Symbols" panose="020B0604020202020204" charset="0"/>
                      </a:endParaRPr>
                    </a:p>
                  </a:txBody>
                  <a:tcPr marL="58320" marR="583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69F"/>
                    </a:solidFill>
                  </a:tcPr>
                </a:tc>
                <a:tc>
                  <a:txBody>
                    <a:bodyPr/>
                    <a:lstStyle/>
                    <a:p>
                      <a:pPr marR="66675" algn="just">
                        <a:spcBef>
                          <a:spcPts val="835"/>
                        </a:spcBef>
                        <a:spcAft>
                          <a:spcPts val="0"/>
                        </a:spcAft>
                      </a:pPr>
                      <a:r>
                        <a:rPr lang="pt-BR" sz="1600" b="1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Noto Sans Symbols" panose="020B0604020202020204" charset="0"/>
                        </a:rPr>
                        <a:t>Forma de atuação da organização na rede</a:t>
                      </a:r>
                      <a:endParaRPr lang="pt-BR" sz="1600" b="1" dirty="0">
                        <a:effectLst/>
                        <a:latin typeface="+mj-lt"/>
                        <a:ea typeface="Noto Sans Symbols" panose="020B0604020202020204" charset="0"/>
                      </a:endParaRPr>
                    </a:p>
                  </a:txBody>
                  <a:tcPr marL="58320" marR="583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C6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089714"/>
                  </a:ext>
                </a:extLst>
              </a:tr>
              <a:tr h="1464715">
                <a:tc>
                  <a:txBody>
                    <a:bodyPr/>
                    <a:lstStyle/>
                    <a:p>
                      <a:pPr algn="just">
                        <a:spcBef>
                          <a:spcPts val="20"/>
                        </a:spcBef>
                      </a:pPr>
                      <a:r>
                        <a:rPr lang="pt-BR" sz="1600" b="1" dirty="0">
                          <a:effectLst/>
                          <a:latin typeface="+mj-lt"/>
                          <a:ea typeface="Noto Sans Symbols" panose="020B0604020202020204" charset="0"/>
                        </a:rPr>
                        <a:t> </a:t>
                      </a:r>
                    </a:p>
                    <a:p>
                      <a:pPr marR="59055" algn="just"/>
                      <a:r>
                        <a:rPr lang="pt-BR" sz="1600" b="1" dirty="0">
                          <a:effectLst/>
                          <a:latin typeface="+mj-lt"/>
                          <a:ea typeface="Noto Sans Symbols" panose="020B0604020202020204" charset="0"/>
                        </a:rPr>
                        <a:t>Orgânico do CPR-O</a:t>
                      </a:r>
                    </a:p>
                  </a:txBody>
                  <a:tcPr marL="58320" marR="583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Comandante do CPR-O.</a:t>
                      </a:r>
                    </a:p>
                  </a:txBody>
                  <a:tcPr marL="58320" marR="583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700"/>
                        </a:spcBef>
                      </a:pPr>
                      <a:r>
                        <a:rPr lang="pt-BR" sz="1300">
                          <a:effectLst/>
                          <a:latin typeface="+mj-lt"/>
                          <a:ea typeface="Noto Sans Symbols" panose="020B0604020202020204" charset="0"/>
                        </a:rPr>
                        <a:t>Implementação dos serviços de Polícia Militar na região Oeste, através das Unidades do orgânico.</a:t>
                      </a:r>
                    </a:p>
                  </a:txBody>
                  <a:tcPr marL="58320" marR="583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84455" algn="just"/>
                      <a:r>
                        <a:rPr lang="pt-BR" sz="1300">
                          <a:effectLst/>
                          <a:latin typeface="+mj-lt"/>
                          <a:ea typeface="Noto Sans Symbols" panose="020B0604020202020204" charset="0"/>
                        </a:rPr>
                        <a:t>Cumprimento de metas operacionais; estabelecimento de  Planos de Serviço; identificação de locais críticos e remanejamento de policiamento; emprego de PMs em apoio ou reforço; operações extraordinárias.</a:t>
                      </a:r>
                    </a:p>
                  </a:txBody>
                  <a:tcPr marL="58320" marR="583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6433405"/>
                  </a:ext>
                </a:extLst>
              </a:tr>
              <a:tr h="932092">
                <a:tc>
                  <a:txBody>
                    <a:bodyPr/>
                    <a:lstStyle/>
                    <a:p>
                      <a:pPr marR="59055" algn="just">
                        <a:spcBef>
                          <a:spcPts val="725"/>
                        </a:spcBef>
                        <a:spcAft>
                          <a:spcPts val="0"/>
                        </a:spcAft>
                      </a:pPr>
                      <a:r>
                        <a:rPr lang="pt-BR" sz="1600" b="1">
                          <a:effectLst/>
                          <a:latin typeface="+mj-lt"/>
                          <a:ea typeface="Noto Sans Symbols" panose="020B0604020202020204" charset="0"/>
                        </a:rPr>
                        <a:t>AISP 30</a:t>
                      </a:r>
                    </a:p>
                  </a:txBody>
                  <a:tcPr marL="58320" marR="583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Ten Cel PM Diz Pazos – Comandante do 27º BPM; Delegado Titular da 11ª COORPIN.</a:t>
                      </a:r>
                    </a:p>
                  </a:txBody>
                  <a:tcPr marL="58320" marR="583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725"/>
                        </a:spcBef>
                      </a:pPr>
                      <a:r>
                        <a:rPr lang="pt-BR" sz="1300" dirty="0">
                          <a:effectLst/>
                          <a:latin typeface="+mj-lt"/>
                          <a:ea typeface="Noto Sans Symbols" panose="020B0604020202020204" charset="0"/>
                        </a:rPr>
                        <a:t>Alinhamento entre os serviços de polícia ostensiva e polícia judiciária dentro da atuação da AISP.</a:t>
                      </a:r>
                    </a:p>
                  </a:txBody>
                  <a:tcPr marL="58320" marR="583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Bef>
                          <a:spcPts val="5"/>
                        </a:spcBef>
                      </a:pPr>
                      <a:r>
                        <a:rPr lang="pt-BR" sz="1300">
                          <a:effectLst/>
                          <a:latin typeface="+mj-lt"/>
                          <a:ea typeface="Noto Sans Symbols" panose="020B0604020202020204" charset="0"/>
                        </a:rPr>
                        <a:t>Compartilhamento de informações de interesse das instituições envolvidas; policiamento orientado para o problema; realização de operações integradas. </a:t>
                      </a:r>
                    </a:p>
                  </a:txBody>
                  <a:tcPr marL="58320" marR="583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4552789"/>
                  </a:ext>
                </a:extLst>
              </a:tr>
              <a:tr h="932092">
                <a:tc>
                  <a:txBody>
                    <a:bodyPr/>
                    <a:lstStyle/>
                    <a:p>
                      <a:pPr marR="73025" algn="just"/>
                      <a:r>
                        <a:rPr lang="pt-BR" sz="1600" b="1">
                          <a:effectLst/>
                          <a:latin typeface="+mj-lt"/>
                          <a:ea typeface="Noto Sans Symbols" panose="020B0604020202020204" charset="0"/>
                        </a:rPr>
                        <a:t>Rede de proteção a violência contra mulher</a:t>
                      </a:r>
                    </a:p>
                  </a:txBody>
                  <a:tcPr marL="58320" marR="583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2870" algn="just">
                        <a:spcBef>
                          <a:spcPts val="700"/>
                        </a:spcBef>
                        <a:spcAft>
                          <a:spcPts val="0"/>
                        </a:spcAft>
                      </a:pPr>
                      <a:r>
                        <a:rPr lang="pt-BR" sz="1300">
                          <a:effectLst/>
                          <a:latin typeface="+mj-lt"/>
                          <a:ea typeface="Noto Sans Symbols" panose="020B0604020202020204" charset="0"/>
                        </a:rPr>
                        <a:t>Sraª Nara Cristina Apolinário, Coordenadora do Centro de Apoio à Mulher - CAM, da Pref. Municipal de Luís Eduardo Magalhães.</a:t>
                      </a:r>
                    </a:p>
                  </a:txBody>
                  <a:tcPr marL="58320" marR="583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73025" algn="just"/>
                      <a:r>
                        <a:rPr lang="pt-BR" sz="1300">
                          <a:effectLst/>
                          <a:latin typeface="+mj-lt"/>
                          <a:ea typeface="Noto Sans Symbols" panose="020B0604020202020204" charset="0"/>
                        </a:rPr>
                        <a:t>Acolhimento de mulheres do município de Luís Eduardo Magalhães em situação de vulnerabilidade. </a:t>
                      </a:r>
                    </a:p>
                  </a:txBody>
                  <a:tcPr marL="58320" marR="583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300">
                          <a:effectLst/>
                          <a:latin typeface="+mj-lt"/>
                          <a:ea typeface="Noto Sans Symbols" panose="020B0604020202020204" charset="0"/>
                        </a:rPr>
                        <a:t>Encaminhamento de mulheres ao CAM, flagradas em situação de violência doméstica, para que seja prestado apoio jurídico e</a:t>
                      </a:r>
                      <a:r>
                        <a:rPr lang="pt-BR" sz="1300">
                          <a:solidFill>
                            <a:srgbClr val="65676B"/>
                          </a:solidFill>
                          <a:effectLst/>
                          <a:highlight>
                            <a:srgbClr val="FFFFFF"/>
                          </a:highlight>
                          <a:latin typeface="+mj-lt"/>
                          <a:ea typeface="Noto Sans Symbols" panose="020B0604020202020204" charset="0"/>
                        </a:rPr>
                        <a:t> psicológico.</a:t>
                      </a:r>
                      <a:endParaRPr lang="pt-BR" sz="1300">
                        <a:effectLst/>
                        <a:latin typeface="+mj-lt"/>
                        <a:ea typeface="Noto Sans Symbols" panose="020B0604020202020204" charset="0"/>
                      </a:endParaRPr>
                    </a:p>
                  </a:txBody>
                  <a:tcPr marL="58320" marR="583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1762891"/>
                  </a:ext>
                </a:extLst>
              </a:tr>
              <a:tr h="1231692">
                <a:tc>
                  <a:txBody>
                    <a:bodyPr/>
                    <a:lstStyle/>
                    <a:p>
                      <a:pPr marR="202565" algn="just"/>
                      <a:r>
                        <a:rPr lang="pt-BR" sz="1600" b="1" dirty="0">
                          <a:effectLst/>
                          <a:latin typeface="+mj-lt"/>
                          <a:ea typeface="Noto Sans Symbols" panose="020B0604020202020204" charset="0"/>
                        </a:rPr>
                        <a:t>Operações de Divisa</a:t>
                      </a:r>
                    </a:p>
                  </a:txBody>
                  <a:tcPr marL="58320" marR="583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Ten Cel PM Diz Pazos – Comandante do 27º BPM e Comandante da CIPFaz – Companhia Independente de Polícia Fazendária.</a:t>
                      </a:r>
                    </a:p>
                  </a:txBody>
                  <a:tcPr marL="58320" marR="583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67310" algn="just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pt-BR" sz="1300">
                          <a:effectLst/>
                          <a:latin typeface="+mj-lt"/>
                          <a:ea typeface="Noto Sans Symbols" panose="020B0604020202020204" charset="0"/>
                        </a:rPr>
                        <a:t>Reforço de policiamento nas divisas dos Estados que margeiam o oeste baiano.</a:t>
                      </a:r>
                    </a:p>
                  </a:txBody>
                  <a:tcPr marL="58320" marR="583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42875" algn="just">
                        <a:spcBef>
                          <a:spcPts val="725"/>
                        </a:spcBef>
                        <a:spcAft>
                          <a:spcPts val="0"/>
                        </a:spcAft>
                      </a:pPr>
                      <a:r>
                        <a:rPr lang="pt-BR" sz="1300">
                          <a:effectLst/>
                          <a:latin typeface="+mj-lt"/>
                          <a:ea typeface="Noto Sans Symbols" panose="020B0604020202020204" charset="0"/>
                        </a:rPr>
                        <a:t>Emprego de Policiamento Ostensivo Motorizado, mediante Plano de Operações da OPM, em consonância com alinhamento prévio realizado entre as partes envolvidas.</a:t>
                      </a:r>
                    </a:p>
                  </a:txBody>
                  <a:tcPr marL="58320" marR="583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4113302"/>
                  </a:ext>
                </a:extLst>
              </a:tr>
              <a:tr h="183158">
                <a:tc>
                  <a:txBody>
                    <a:bodyPr/>
                    <a:lstStyle/>
                    <a:p>
                      <a:pPr marR="59055" algn="just"/>
                      <a:r>
                        <a:rPr lang="pt-BR" sz="1600" b="1" dirty="0">
                          <a:effectLst/>
                          <a:latin typeface="+mj-lt"/>
                          <a:ea typeface="Noto Sans Symbols" panose="020B0604020202020204" charset="0"/>
                        </a:rPr>
                        <a:t>Operação SAFRA</a:t>
                      </a:r>
                    </a:p>
                  </a:txBody>
                  <a:tcPr marL="58320" marR="583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02870" algn="just"/>
                      <a:r>
                        <a:rPr lang="pt-BR" sz="1300" dirty="0" err="1">
                          <a:effectLst/>
                          <a:latin typeface="+mj-lt"/>
                          <a:ea typeface="Noto Sans Symbols" panose="020B0604020202020204" charset="0"/>
                        </a:rPr>
                        <a:t>Srª</a:t>
                      </a:r>
                      <a:r>
                        <a:rPr lang="pt-BR" sz="1300" dirty="0">
                          <a:effectLst/>
                          <a:latin typeface="+mj-lt"/>
                          <a:ea typeface="Noto Sans Symbols" panose="020B0604020202020204" charset="0"/>
                        </a:rPr>
                        <a:t> </a:t>
                      </a:r>
                      <a:r>
                        <a:rPr lang="pt-BR" sz="1200" dirty="0" err="1">
                          <a:latin typeface="+mj-lt"/>
                          <a:ea typeface="Noto Sans Symbols" panose="020B0604020202020204" charset="0"/>
                        </a:rPr>
                        <a:t>Jenni</a:t>
                      </a:r>
                      <a:r>
                        <a:rPr lang="pt-BR" sz="1200" dirty="0">
                          <a:latin typeface="+mj-lt"/>
                          <a:ea typeface="Noto Sans Symbols" panose="020B0604020202020204" charset="0"/>
                        </a:rPr>
                        <a:t> Dias de Castro </a:t>
                      </a:r>
                      <a:r>
                        <a:rPr lang="pt-BR" sz="1200" dirty="0" err="1">
                          <a:latin typeface="+mj-lt"/>
                          <a:ea typeface="Noto Sans Symbols" panose="020B0604020202020204" charset="0"/>
                        </a:rPr>
                        <a:t>Tel</a:t>
                      </a:r>
                      <a:r>
                        <a:rPr lang="pt-BR" sz="1200" dirty="0">
                          <a:latin typeface="+mj-lt"/>
                          <a:ea typeface="Noto Sans Symbols" panose="020B0604020202020204" charset="0"/>
                        </a:rPr>
                        <a:t>: </a:t>
                      </a:r>
                      <a:r>
                        <a:rPr lang="pt-BR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Noto Sans Symbols" panose="020B0604020202020204" charset="0"/>
                          <a:cs typeface="+mn-cs"/>
                          <a:sym typeface="Arial"/>
                        </a:rPr>
                        <a:t>(77) 9.8101-6821, Coordenadora</a:t>
                      </a:r>
                      <a:endParaRPr lang="pt-BR" sz="1300" dirty="0">
                        <a:effectLst/>
                        <a:latin typeface="+mj-lt"/>
                        <a:ea typeface="Noto Sans Symbols" panose="020B0604020202020204" charset="0"/>
                      </a:endParaRPr>
                    </a:p>
                  </a:txBody>
                  <a:tcPr marL="58320" marR="583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1300">
                          <a:effectLst/>
                          <a:latin typeface="+mj-lt"/>
                          <a:ea typeface="Noto Sans Symbols" panose="020B0604020202020204" charset="0"/>
                        </a:rPr>
                        <a:t>Policiamento Ostensivo na zona Rural</a:t>
                      </a:r>
                    </a:p>
                  </a:txBody>
                  <a:tcPr marL="58320" marR="583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142875" algn="just">
                        <a:spcBef>
                          <a:spcPts val="5"/>
                        </a:spcBef>
                        <a:spcAft>
                          <a:spcPts val="0"/>
                        </a:spcAft>
                      </a:pPr>
                      <a:r>
                        <a:rPr lang="pt-BR" sz="1300" dirty="0">
                          <a:effectLst/>
                          <a:latin typeface="+mj-lt"/>
                          <a:ea typeface="Noto Sans Symbols" panose="020B0604020202020204" charset="0"/>
                        </a:rPr>
                        <a:t>Mediante Plano de Operações e integração com produtores rurais</a:t>
                      </a:r>
                    </a:p>
                  </a:txBody>
                  <a:tcPr marL="58320" marR="5832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630824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 txBox="1"/>
          <p:nvPr/>
        </p:nvSpPr>
        <p:spPr>
          <a:xfrm>
            <a:off x="900112" y="741362"/>
            <a:ext cx="8693150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Busca da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8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HISTÓRICO DA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900100" y="1542625"/>
            <a:ext cx="10695000" cy="5078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2020</a:t>
            </a:r>
            <a:endParaRPr sz="24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22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 </a:t>
            </a:r>
            <a:endParaRPr sz="22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-1397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Instrução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tiro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policial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e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abordagem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com o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efetivo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da</a:t>
            </a:r>
            <a:r>
              <a:rPr lang="en-US" sz="2200" b="0" i="0" u="none" strike="noStrike" cap="none" dirty="0">
                <a:solidFill>
                  <a:srgbClr val="00B05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ROCAM( </a:t>
            </a:r>
            <a:r>
              <a:rPr lang="en-US" sz="22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Rondas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com </a:t>
            </a:r>
            <a:r>
              <a:rPr lang="en-US" sz="22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Apoio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2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Motocicletas</a:t>
            </a:r>
            <a:r>
              <a:rPr lang="en-US" sz="22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),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no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sentido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desenvolver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e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aprimorar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habilidades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e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técnicas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proporcionando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segurança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confiança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e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uniformidade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nas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ações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policiais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;</a:t>
            </a:r>
          </a:p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</a:pPr>
            <a:endParaRPr sz="2200" b="0" i="0" u="none" strike="noStrike" cap="none" dirty="0">
              <a:solidFill>
                <a:schemeClr val="dk1"/>
              </a:solidFill>
              <a:latin typeface="+mj-lt"/>
              <a:ea typeface="Noto Sans Symbols"/>
              <a:cs typeface="Noto Sans Symbols"/>
              <a:sym typeface="Noto Sans Symbols"/>
            </a:endParaRPr>
          </a:p>
          <a:p>
            <a:pPr marL="0" marR="0" lvl="0" indent="-1397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Adoção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medidas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combate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a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disseminação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da COVID-19, a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partir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do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mês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março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daquele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ano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em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consonância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com a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legislação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estadual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e federal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pertinentes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bem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como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as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diretrizes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do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escalão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superior da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corporação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como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a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mudança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dos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grupos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serviço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horários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diferenciados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para as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guarnições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utilização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agentes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saneantes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e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realização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exames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sorológicos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junto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ao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Departamento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Saúde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da PMBA;</a:t>
            </a:r>
          </a:p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</a:pPr>
            <a:endParaRPr sz="2200" b="0" i="0" u="none" strike="noStrike" cap="none" dirty="0">
              <a:solidFill>
                <a:schemeClr val="dk1"/>
              </a:solidFill>
              <a:latin typeface="+mj-lt"/>
              <a:ea typeface="Noto Sans Symbols"/>
              <a:cs typeface="Noto Sans Symbols"/>
              <a:sym typeface="Noto Sans Symbols"/>
            </a:endParaRPr>
          </a:p>
          <a:p>
            <a:pPr marL="0" marR="0" lvl="0" indent="-1397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Char char="●"/>
            </a:pP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Realização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vacinação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da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tropa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para combater a </a:t>
            </a:r>
            <a:r>
              <a:rPr lang="en-US" sz="22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disseminação</a:t>
            </a:r>
            <a:r>
              <a:rPr lang="en-US" sz="22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da  COVID-19;</a:t>
            </a:r>
            <a:endParaRPr sz="2200" b="0" i="0" u="none" strike="noStrike" cap="none" dirty="0">
              <a:solidFill>
                <a:schemeClr val="dk1"/>
              </a:solidFill>
              <a:latin typeface="+mj-lt"/>
              <a:ea typeface="Noto Sans Symbols"/>
              <a:cs typeface="Noto Sans Symbols"/>
              <a:sym typeface="Noto Sans Symbol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120ebcea37_2_7"/>
          <p:cNvSpPr/>
          <p:nvPr/>
        </p:nvSpPr>
        <p:spPr>
          <a:xfrm>
            <a:off x="0" y="0"/>
            <a:ext cx="501300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g3120ebcea37_2_7"/>
          <p:cNvSpPr txBox="1"/>
          <p:nvPr/>
        </p:nvSpPr>
        <p:spPr>
          <a:xfrm>
            <a:off x="900112" y="741362"/>
            <a:ext cx="8693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Busca da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120ebcea37_2_7"/>
          <p:cNvSpPr txBox="1"/>
          <p:nvPr/>
        </p:nvSpPr>
        <p:spPr>
          <a:xfrm rot="-5400000">
            <a:off x="-2435925" y="3305825"/>
            <a:ext cx="53658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HISTÓRICO DA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120ebcea37_2_7"/>
          <p:cNvSpPr txBox="1"/>
          <p:nvPr/>
        </p:nvSpPr>
        <p:spPr>
          <a:xfrm>
            <a:off x="900100" y="1482725"/>
            <a:ext cx="10695000" cy="4772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2020</a:t>
            </a:r>
            <a:endParaRPr lang="en-US" sz="24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chemeClr val="dk1"/>
              </a:solidFill>
              <a:latin typeface="+mj-lt"/>
              <a:ea typeface="Noto Sans Symbols"/>
              <a:cs typeface="Noto Sans Symbols"/>
              <a:sym typeface="Noto Sans Symbols"/>
            </a:endParaRPr>
          </a:p>
          <a:p>
            <a:pPr marL="0" marR="0" lvl="0" indent="-1524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Instrução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Nivelamento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Conhecimentos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(INC/I) com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efetivo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da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Unidade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realizada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pel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CIPT-Oeste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no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intuito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disseminar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o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emprego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das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técnicas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e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táticas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utilizadas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em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atividade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400" dirty="0">
                <a:latin typeface="+mj-lt"/>
                <a:ea typeface="Noto Sans Symbols"/>
                <a:cs typeface="Noto Sans Symbols"/>
                <a:sym typeface="Noto Sans Symbols"/>
              </a:rPr>
              <a:t>motopatrulhamento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tático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empregadas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no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segundo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esforço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policiamento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; </a:t>
            </a:r>
            <a:endParaRPr sz="2400" b="0" i="0" u="none" strike="noStrike" cap="none" dirty="0">
              <a:solidFill>
                <a:srgbClr val="000000"/>
              </a:solidFill>
              <a:latin typeface="+mj-lt"/>
              <a:ea typeface="Noto Sans Symbols"/>
              <a:cs typeface="Noto Sans Symbols"/>
              <a:sym typeface="Noto Sans Symbols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+mj-lt"/>
              <a:ea typeface="Noto Sans Symbols"/>
              <a:cs typeface="Noto Sans Symbols"/>
              <a:sym typeface="Noto Sans Symbols"/>
            </a:endParaRPr>
          </a:p>
          <a:p>
            <a:pPr marL="0" marR="0" lvl="0" indent="-1524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●"/>
            </a:pP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Palestra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sobre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combate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a crimes contra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instituições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bancárias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para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Oficiais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Aspirantes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-a-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Oficial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Subtenentes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e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Sargentos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e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efetivo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do PETO da 85ª CIPM/LEM, para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nivelar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conhecimentos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e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padronizar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o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emprego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das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técnicas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e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táticas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policiais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militares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a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serem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aplicadas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pela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tropa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em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qualquer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intervenção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1º e 2º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nível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esforço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da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atividade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fim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da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Corporação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;</a:t>
            </a:r>
            <a:endParaRPr sz="2400" dirty="0">
              <a:solidFill>
                <a:schemeClr val="dk1"/>
              </a:solidFill>
              <a:latin typeface="+mj-lt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120ebcea37_2_0"/>
          <p:cNvSpPr/>
          <p:nvPr/>
        </p:nvSpPr>
        <p:spPr>
          <a:xfrm>
            <a:off x="0" y="0"/>
            <a:ext cx="501300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120ebcea37_2_0"/>
          <p:cNvSpPr txBox="1"/>
          <p:nvPr/>
        </p:nvSpPr>
        <p:spPr>
          <a:xfrm>
            <a:off x="900112" y="741362"/>
            <a:ext cx="8693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Busca da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120ebcea37_2_0"/>
          <p:cNvSpPr txBox="1"/>
          <p:nvPr/>
        </p:nvSpPr>
        <p:spPr>
          <a:xfrm rot="-5400000">
            <a:off x="-2435925" y="3305825"/>
            <a:ext cx="53658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HISTÓRICO DA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120ebcea37_2_0"/>
          <p:cNvSpPr txBox="1"/>
          <p:nvPr/>
        </p:nvSpPr>
        <p:spPr>
          <a:xfrm>
            <a:off x="900100" y="1482725"/>
            <a:ext cx="10695000" cy="4587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6200" algn="just">
              <a:lnSpc>
                <a:spcPct val="115000"/>
              </a:lnSpc>
              <a:buClr>
                <a:schemeClr val="dk1"/>
              </a:buClr>
              <a:buSzPts val="2400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2020</a:t>
            </a:r>
            <a:endParaRPr lang="en-US" sz="24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endParaRPr lang="en-US" sz="2400" dirty="0">
              <a:solidFill>
                <a:schemeClr val="dk1"/>
              </a:solidFill>
              <a:latin typeface="+mj-lt"/>
              <a:ea typeface="Noto Sans Symbols"/>
              <a:cs typeface="Noto Sans Symbols"/>
              <a:sym typeface="Noto Sans Symbols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Instrução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sobre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Sobrevivência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Policial para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policiais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militares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da 85ª CIPM/LEM,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através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palestra com o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efetivo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com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enfoque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em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situações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risco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fora de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serviço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;</a:t>
            </a: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endParaRPr sz="2400" dirty="0">
              <a:solidFill>
                <a:schemeClr val="dk1"/>
              </a:solidFill>
              <a:latin typeface="+mj-lt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Instrução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Policiamento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Rural para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policiais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militares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da 85ª CIPM/LEM que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participaram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da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Operação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SAFRA 2021. A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instrução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objetivou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nivelar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conhecimentos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no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intuito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padronizar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o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emprego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das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técnicas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e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táticas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policiais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militares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em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situações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patrulhamento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rural;</a:t>
            </a:r>
            <a:endParaRPr sz="2400" dirty="0">
              <a:solidFill>
                <a:schemeClr val="dk1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9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9"/>
          <p:cNvSpPr txBox="1"/>
          <p:nvPr/>
        </p:nvSpPr>
        <p:spPr>
          <a:xfrm>
            <a:off x="900112" y="741362"/>
            <a:ext cx="8693150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Busca da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9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HISTÓRICO DA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9"/>
          <p:cNvSpPr txBox="1"/>
          <p:nvPr/>
        </p:nvSpPr>
        <p:spPr>
          <a:xfrm>
            <a:off x="900112" y="1620837"/>
            <a:ext cx="10609200" cy="4734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3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2021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strike="noStrike" cap="none" dirty="0">
              <a:solidFill>
                <a:schemeClr val="dk1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sz="2400" dirty="0">
              <a:solidFill>
                <a:schemeClr val="dk1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0" marR="0" lvl="0" indent="-381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Criação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Comitê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Qualidade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da OPM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através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nota de BIO do Comandante com o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fito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buscar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dar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os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primeiros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passos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na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Gestão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excelência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; </a:t>
            </a:r>
            <a:endParaRPr sz="24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-38100" algn="just" rtl="0">
              <a:lnSpc>
                <a:spcPct val="115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Instrução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Tiro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Policial 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Abordagem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para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Oficiais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Aspirantes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Subtenentes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Graduados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efetivo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Administrativo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da UOPM; </a:t>
            </a:r>
            <a:endParaRPr sz="24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Reforma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das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instalações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da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Unidade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concluindo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com a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entrega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do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auditório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alojamentos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;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120ebcea37_2_14"/>
          <p:cNvSpPr/>
          <p:nvPr/>
        </p:nvSpPr>
        <p:spPr>
          <a:xfrm>
            <a:off x="0" y="0"/>
            <a:ext cx="501300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120ebcea37_2_14"/>
          <p:cNvSpPr txBox="1"/>
          <p:nvPr/>
        </p:nvSpPr>
        <p:spPr>
          <a:xfrm>
            <a:off x="900112" y="741362"/>
            <a:ext cx="8693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Busca da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120ebcea37_2_14"/>
          <p:cNvSpPr txBox="1"/>
          <p:nvPr/>
        </p:nvSpPr>
        <p:spPr>
          <a:xfrm rot="-5400000">
            <a:off x="-2435925" y="3305825"/>
            <a:ext cx="53658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HISTÓRICO DA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120ebcea37_2_14"/>
          <p:cNvSpPr txBox="1"/>
          <p:nvPr/>
        </p:nvSpPr>
        <p:spPr>
          <a:xfrm>
            <a:off x="900112" y="1620837"/>
            <a:ext cx="10609200" cy="4993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3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2021 </a:t>
            </a:r>
            <a:endParaRPr sz="3000" b="0" i="0" u="none" strike="noStrike" cap="none" dirty="0">
              <a:solidFill>
                <a:schemeClr val="dk1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endParaRPr sz="2400" dirty="0">
              <a:solidFill>
                <a:schemeClr val="dk1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Reforma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da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sede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do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pelotão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São Desidério, com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suas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instalações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implantadas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em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conjunto com a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Delegacia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Polícia Civil de São Desidério; </a:t>
            </a:r>
            <a:endParaRPr sz="2400" dirty="0">
              <a:solidFill>
                <a:schemeClr val="dk1"/>
              </a:solidFill>
              <a:latin typeface="+mj-lt"/>
            </a:endParaRPr>
          </a:p>
          <a:p>
            <a:pPr marL="457200" lvl="0" indent="-3810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Introdução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dos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formulários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online de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solicitações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(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dispensas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permutas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diversos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), do RCAT (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Registro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Atestados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Médicos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), e do RDOP (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Registro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Ocorrência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Policiais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). O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formulário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online de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solicitações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permitiu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a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tropa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pleitear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junto a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administração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da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UOp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questões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diversas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sem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ter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a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necessidade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de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deslocamento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para o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Quartel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,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reduzindo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ainda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os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custos de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impressão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 com </a:t>
            </a:r>
            <a:r>
              <a:rPr lang="en-US" sz="2400" dirty="0" err="1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formulários</a:t>
            </a:r>
            <a:r>
              <a:rPr lang="en-US" sz="2400" dirty="0">
                <a:solidFill>
                  <a:schemeClr val="dk1"/>
                </a:solidFill>
                <a:latin typeface="+mj-lt"/>
                <a:ea typeface="Noto Sans Symbols"/>
                <a:cs typeface="Noto Sans Symbols"/>
                <a:sym typeface="Noto Sans Symbols"/>
              </a:rPr>
              <a:t>. </a:t>
            </a:r>
            <a:endParaRPr sz="2400" dirty="0">
              <a:solidFill>
                <a:schemeClr val="dk1"/>
              </a:solidFill>
              <a:latin typeface="+mj-lt"/>
              <a:ea typeface="Noto Sans Symbols"/>
              <a:cs typeface="Noto Sans Symbols"/>
              <a:sym typeface="Noto Sans Symbols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0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900112" y="741362"/>
            <a:ext cx="8693150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Busca da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HISTÓRICO DA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900112" y="1374860"/>
            <a:ext cx="10609200" cy="5878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300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2022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endParaRPr sz="2400" dirty="0">
              <a:solidFill>
                <a:schemeClr val="dk1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0" marR="0" lvl="0" indent="-381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Curso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Pilotagem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veicular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o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efetivo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da 85ª CIPM/LEM para 42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policiais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militares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;</a:t>
            </a:r>
          </a:p>
          <a:p>
            <a:pPr marL="0" marR="0" lvl="0" indent="-381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endParaRPr lang="en-US" sz="2000" dirty="0">
              <a:latin typeface="+mj-lt"/>
              <a:ea typeface="Times New Roman"/>
            </a:endParaRPr>
          </a:p>
          <a:p>
            <a:pPr marL="0" marR="0" lvl="0" indent="-381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Projeto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SVP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Mais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Perto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Você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envolvendo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efetivo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da 85ª CIPM/LEM. O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projeto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pautou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-se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na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realização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atividades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voltadas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à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saúde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mental e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bem-estar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biopsicossocial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e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espiritual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dos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policiais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militares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em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prol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da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construção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uma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cultura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da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Saúde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Mental; 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-381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Instrução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Retenção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e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Contrarretenção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com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efetivo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da 85ª CIPM/LEM e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efetivo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outras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Unidades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. Uma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instrução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a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fim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nivelar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conhecimentos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e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desenvolvimento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atividades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voltadas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para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defesa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pessoal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dos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policiais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militares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;</a:t>
            </a:r>
          </a:p>
          <a:p>
            <a:pPr marL="0" marR="0" lvl="0" indent="-381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endParaRPr lang="en-US" sz="2000" b="0" i="0" u="none" strike="noStrike" cap="none" dirty="0">
              <a:solidFill>
                <a:schemeClr val="dk1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indent="-38100" algn="just">
              <a:buClr>
                <a:schemeClr val="dk1"/>
              </a:buClr>
              <a:buSzPts val="2200"/>
              <a:buFont typeface="Arial"/>
              <a:buChar char="●"/>
            </a:pPr>
            <a:r>
              <a:rPr lang="pt-BR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Acréscimo no valor destinado a Operação </a:t>
            </a:r>
            <a:r>
              <a:rPr lang="pt-BR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Enischysi</a:t>
            </a:r>
            <a:r>
              <a:rPr lang="pt-BR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(“Aprimoramento”), voltada a intensificação de policiamento para diminuir os índices de CVLI e CVP na cidade de Luís Eduardo Magalhães e São Desidério,</a:t>
            </a:r>
            <a:r>
              <a:rPr lang="pt-BR" sz="2000" b="0" i="0" u="none" strike="noStrike" cap="none" dirty="0">
                <a:solidFill>
                  <a:srgbClr val="FF0000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pt-BR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permitindo um maior emprego de policiamento, anteriormente reservado somente aos finais de semana, e que passou a abranger um maior quantitativo de policiais militares da </a:t>
            </a:r>
            <a:r>
              <a:rPr lang="pt-BR" sz="20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UOp</a:t>
            </a:r>
            <a:r>
              <a:rPr lang="pt-BR" sz="2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; </a:t>
            </a:r>
            <a:endParaRPr lang="pt-BR" sz="20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-381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●"/>
            </a:pPr>
            <a:endParaRPr sz="22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120ebcea37_2_21"/>
          <p:cNvSpPr/>
          <p:nvPr/>
        </p:nvSpPr>
        <p:spPr>
          <a:xfrm>
            <a:off x="0" y="0"/>
            <a:ext cx="501300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3120ebcea37_2_21"/>
          <p:cNvSpPr txBox="1"/>
          <p:nvPr/>
        </p:nvSpPr>
        <p:spPr>
          <a:xfrm>
            <a:off x="900112" y="741362"/>
            <a:ext cx="86931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Busca da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120ebcea37_2_21"/>
          <p:cNvSpPr txBox="1"/>
          <p:nvPr/>
        </p:nvSpPr>
        <p:spPr>
          <a:xfrm rot="-5400000">
            <a:off x="-2435925" y="3305825"/>
            <a:ext cx="53658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HISTÓRICO DA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g3120ebcea37_2_21"/>
          <p:cNvSpPr txBox="1"/>
          <p:nvPr/>
        </p:nvSpPr>
        <p:spPr>
          <a:xfrm>
            <a:off x="900112" y="1644650"/>
            <a:ext cx="10609200" cy="5047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3000" b="1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2022</a:t>
            </a:r>
            <a:endParaRPr sz="3000" b="1" i="0" u="none" strike="noStrike" cap="none" dirty="0">
              <a:solidFill>
                <a:schemeClr val="dk1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endParaRPr sz="1600" dirty="0">
              <a:solidFill>
                <a:schemeClr val="dk1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457200" lvl="0" indent="-3746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endParaRPr lang="en-US" sz="2300" dirty="0">
              <a:solidFill>
                <a:schemeClr val="dk1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457200" lvl="0" indent="-3746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pt-BR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Renovação da frota de veículos da Unidade; </a:t>
            </a:r>
            <a:endParaRPr lang="pt-BR" sz="2300" dirty="0">
              <a:solidFill>
                <a:schemeClr val="dk1"/>
              </a:solidFill>
              <a:latin typeface="+mj-lt"/>
            </a:endParaRPr>
          </a:p>
          <a:p>
            <a:pPr marL="457200" lvl="0" indent="-3746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Aquisição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cadeiras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para o Rancho,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através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compra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realizada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pela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Unidade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Gestora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possibilitando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a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substituição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parte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do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mobiliário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, que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já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se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encontrava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altamente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depreciado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; </a:t>
            </a:r>
            <a:endParaRPr sz="2300" dirty="0">
              <a:solidFill>
                <a:schemeClr val="dk1"/>
              </a:solidFill>
              <a:latin typeface="+mj-lt"/>
            </a:endParaRPr>
          </a:p>
          <a:p>
            <a:pPr marL="457200" lvl="0" indent="-3746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Aquisição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cafeteira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industrial para o rancho,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através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compra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realizada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pela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Unidade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Gestora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possibilitando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a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substituição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parte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do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mobiliário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, que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já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se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encontrava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altamente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depreciado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.</a:t>
            </a:r>
            <a:endParaRPr sz="2300" dirty="0">
              <a:solidFill>
                <a:schemeClr val="dk1"/>
              </a:solidFill>
              <a:latin typeface="+mj-lt"/>
            </a:endParaRPr>
          </a:p>
          <a:p>
            <a:pPr marL="457200" lvl="0" indent="-3746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Aquisição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de 25 HTs para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atividade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operacional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através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compra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realizada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pela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Unidade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Gestora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possibilitando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o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aprimoramento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da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comunicação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nos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serviços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300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diários</a:t>
            </a:r>
            <a:r>
              <a:rPr lang="en-US" sz="2300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. </a:t>
            </a:r>
            <a:endParaRPr sz="2300" dirty="0">
              <a:solidFill>
                <a:schemeClr val="dk1"/>
              </a:solidFill>
              <a:latin typeface="+mj-lt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300" dirty="0">
              <a:solidFill>
                <a:schemeClr val="dk1"/>
              </a:solidFill>
              <a:latin typeface="+mj-lt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1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900112" y="741362"/>
            <a:ext cx="8693150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Busca da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HISTÓRICO DA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900112" y="1366837"/>
            <a:ext cx="10767900" cy="48628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3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2023</a:t>
            </a:r>
            <a:endParaRPr sz="30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-38100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Início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das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tratativas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para a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implantação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da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escola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gestão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compartilhada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na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Escola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Onero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Costa da Rosa. Escola que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está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situada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num bairro popular de LEM,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tal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iniciativa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busca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estreitar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o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relacionamento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com a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comunidade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solidificar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a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imagem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da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corporação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como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uma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instituição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que prima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por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valores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tais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como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disciplina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civismo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. </a:t>
            </a:r>
            <a:endParaRPr sz="24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-381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Reforma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no PPM de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Roda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Velha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com a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construção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de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uma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local </a:t>
            </a:r>
            <a:endParaRPr sz="24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 </a:t>
            </a:r>
            <a:endParaRPr sz="24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30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2024</a:t>
            </a:r>
            <a:endParaRPr sz="30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 </a:t>
            </a:r>
            <a:endParaRPr sz="24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Em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fevereiro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iniciaram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-se as aulas da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primeira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Escola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Modelo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CPM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em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 Luís Eduardo </a:t>
            </a:r>
            <a:r>
              <a:rPr lang="en-US" sz="24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Magalhães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. </a:t>
            </a:r>
            <a:endParaRPr sz="2400" b="0" i="0" u="none" strike="noStrike" cap="none" dirty="0">
              <a:solidFill>
                <a:srgbClr val="000000"/>
              </a:solidFill>
              <a:latin typeface="+mj-lt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3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 txBox="1"/>
          <p:nvPr/>
        </p:nvSpPr>
        <p:spPr>
          <a:xfrm>
            <a:off x="900112" y="741362"/>
            <a:ext cx="8693150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Desafios Estratégicos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3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DESAFIOS ESTRATÉGICOS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3"/>
          <p:cNvSpPr txBox="1"/>
          <p:nvPr/>
        </p:nvSpPr>
        <p:spPr>
          <a:xfrm>
            <a:off x="1146175" y="2136775"/>
            <a:ext cx="10175700" cy="36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937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AutoNum type="arabicPeriod"/>
            </a:pPr>
            <a:r>
              <a:rPr lang="en-US" sz="2600" b="0" i="0" u="none" strike="noStrike" cap="none" dirty="0" err="1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Ampliar a frota de viaturas da Unidade; captação de recursos para reforma da Sede da Unidade, seja através da realização de convênios ou por intermédio de emendas parlamentares; aquisição de equipamentos voltados à atuação preventiva, tais como câmera de alta definição, equipamentos de edição e drone para ações de inteligência; aquisição de um servidor para armazenamento de arquivos; recompletar efetivo da OPM visando aproximar-se do previsto do fixado através da Portaria 026-CG/2026 (149 existentes / 300 previstos).</a:t>
            </a:r>
            <a:endParaRPr sz="2600" dirty="0">
              <a:latin typeface="+mj-lt"/>
            </a:endParaRPr>
          </a:p>
        </p:txBody>
      </p:sp>
      <p:sp>
        <p:nvSpPr>
          <p:cNvPr id="271" name="TextBox 270"/>
          <p:cNvSpPr txBox="1"/>
          <p:nvPr/>
        </p:nvSpPr>
        <p:spPr>
          <a:xfrm>
            <a:off x="1146175" y="5000000"/>
            <a:ext cx="101757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sz="1600" b="1">
                <a:solidFill>
                  <a:srgbClr val="404040"/>
                </a:solidFill>
              </a:rPr>
              <a:t>Parcerias:</a:t>
            </a:r>
          </a:p>
          <a:p>
            <a:pPr algn="just">
              <a:spcAft>
                <a:spcPts val="600"/>
              </a:spcAft>
            </a:pPr>
            <a:r>
              <a:rPr sz="1600" b="0">
                <a:solidFill>
                  <a:srgbClr val="404040"/>
                </a:solidFill>
              </a:rPr>
              <a:t>Reativar o CONSEG de São Desidério e incentivar conselhos nos bairros de LEM, ampliando a participação da comunidade.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5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900111" y="741362"/>
            <a:ext cx="1116806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pt-BR" sz="2800" b="0" i="0" u="none" strike="noStrike" cap="none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1a – Parada Matinal com Efetivo de Serviço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LIDERANÇA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5"/>
          <p:cNvSpPr txBox="1"/>
          <p:nvPr/>
        </p:nvSpPr>
        <p:spPr>
          <a:xfrm>
            <a:off x="801257" y="1947113"/>
            <a:ext cx="11025823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pt-BR" sz="2800" dirty="0">
                <a:latin typeface="+mj-lt"/>
              </a:rPr>
              <a:t>Em todas as assunções de serviço </a:t>
            </a:r>
            <a:r>
              <a:rPr lang="pt-BR" sz="2800" b="1" dirty="0">
                <a:latin typeface="+mj-lt"/>
              </a:rPr>
              <a:t>o efetivo do pelotão </a:t>
            </a:r>
            <a:r>
              <a:rPr lang="pt-BR" sz="2800" dirty="0">
                <a:latin typeface="+mj-lt"/>
              </a:rPr>
              <a:t>que entra de serviço é colocado em forma para a preleção, </a:t>
            </a:r>
            <a:r>
              <a:rPr lang="pt-BR" sz="2800" b="1" dirty="0">
                <a:latin typeface="+mj-lt"/>
              </a:rPr>
              <a:t>no pátio da sede </a:t>
            </a:r>
            <a:r>
              <a:rPr lang="pt-BR" sz="2800" dirty="0">
                <a:latin typeface="+mj-lt"/>
              </a:rPr>
              <a:t>da Unidade para o efetivo que assume na sede, e no pátio dos Destacamentos Policiais Militares (DPM) para os policiais que assumem o serviço nesses locais. Nesse momento, são </a:t>
            </a:r>
            <a:r>
              <a:rPr lang="pt-BR" sz="2800" b="1" dirty="0">
                <a:latin typeface="+mj-lt"/>
              </a:rPr>
              <a:t>transmitidas as recomendações do Comando e do escalão superior para o serviço, divulgadas informações importantes, reiterados os Procedimentos Operacionais Padrão, </a:t>
            </a:r>
            <a:r>
              <a:rPr lang="pt-BR" sz="2800" dirty="0">
                <a:latin typeface="+mj-lt"/>
              </a:rPr>
              <a:t>bem como são reforçados os valores institucionais, como por exemplo a </a:t>
            </a:r>
            <a:r>
              <a:rPr lang="pt-BR" sz="2800" b="1" dirty="0">
                <a:latin typeface="+mj-lt"/>
              </a:rPr>
              <a:t>cerimônia de hasteamento do pavilhão nacional</a:t>
            </a:r>
            <a:r>
              <a:rPr lang="pt-BR" sz="2800" dirty="0">
                <a:latin typeface="+mj-lt"/>
              </a:rPr>
              <a:t>, na sede.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5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900111" y="741362"/>
            <a:ext cx="1116806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pt-BR" sz="2800" b="0" i="0" u="none" strike="noStrike" cap="none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1a – Parada Matinal com Efetivo de Serviço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LIDERANÇA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5"/>
          <p:cNvSpPr txBox="1"/>
          <p:nvPr/>
        </p:nvSpPr>
        <p:spPr>
          <a:xfrm>
            <a:off x="801257" y="1947113"/>
            <a:ext cx="11025823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pt-BR" sz="2800" dirty="0"/>
              <a:t>Além disso, são transmitidas orientações sobre a conduta durante o serviço. </a:t>
            </a:r>
            <a:r>
              <a:rPr lang="pt-BR" sz="2800" b="1" dirty="0"/>
              <a:t>São registradas imagens da preleção com a tropa, bem como, das assunções de serviço nos </a:t>
            </a:r>
            <a:r>
              <a:rPr lang="pt-BR" sz="2800" b="1" dirty="0" err="1"/>
              <a:t>DPMs</a:t>
            </a:r>
            <a:r>
              <a:rPr lang="pt-BR" sz="2800" b="1" dirty="0"/>
              <a:t>, as quais são divulgadas no grupo de mensagens da Unidade “Minuto-a-Minuto</a:t>
            </a:r>
            <a:r>
              <a:rPr lang="pt-BR" sz="2800" dirty="0"/>
              <a:t>”. A comunicação social divulga, após seleção, parte dessas imagens nas redes sociais da UOE, com o objetivo fortalecer a imagem institucional frente ao público externo, que consegue visualizar uma parcela da rotina da UOE quando se prepara para iniciar a jornada de serviço</a:t>
            </a:r>
          </a:p>
        </p:txBody>
      </p:sp>
    </p:spTree>
    <p:extLst>
      <p:ext uri="{BB962C8B-B14F-4D97-AF65-F5344CB8AC3E}">
        <p14:creationId xmlns:p14="http://schemas.microsoft.com/office/powerpoint/2010/main" val="22167833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5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900112" y="741362"/>
            <a:ext cx="11025822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pt-BR" sz="2800" b="0" i="0" u="none" strike="noStrike" cap="none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1f – Acompanhamento das Atividades da Unidade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LIDERANÇA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5"/>
          <p:cNvSpPr txBox="1"/>
          <p:nvPr/>
        </p:nvSpPr>
        <p:spPr>
          <a:xfrm>
            <a:off x="1050324" y="2182525"/>
            <a:ext cx="10280822" cy="249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buClr>
                <a:srgbClr val="000000"/>
              </a:buClr>
              <a:tabLst>
                <a:tab pos="125730" algn="l"/>
              </a:tabLst>
            </a:pPr>
            <a:r>
              <a:rPr lang="pt-BR" sz="2600" dirty="0">
                <a:effectLst/>
                <a:latin typeface="Noto Sans Symbols" panose="020B0604020202020204" charset="0"/>
                <a:ea typeface="Noto Sans Symbols" panose="020B0604020202020204" charset="0"/>
                <a:cs typeface="Noto Sans Symbols" panose="020B0604020202020204" charset="0"/>
              </a:rPr>
              <a:t>O Subcomandante da Unidade, no início do expediente, visita as instalações da sede da Unidade, cumprimentando os policiais e verificando com o Oficial Coordenador de área se todos os policias estão aptos para o serviço, se todas as viaturas estão em pleno funcionamento ou se existe algum tipo de intercorrência que seja relevante ao serviço operacional. </a:t>
            </a:r>
            <a:endParaRPr lang="pt-BR" sz="2600" b="1" dirty="0">
              <a:effectLst/>
              <a:latin typeface="Noto Sans Symbols" panose="020B0604020202020204" charset="0"/>
              <a:ea typeface="Noto Sans Symbols" panose="020B0604020202020204" charset="0"/>
              <a:cs typeface="Noto Sans Symbol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17766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5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900112" y="741362"/>
            <a:ext cx="11025822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pt-BR" sz="2800" b="0" i="0" u="none" strike="noStrike" cap="none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1f – Acompanhamento das Atividades da Unidade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LIDERANÇA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5"/>
          <p:cNvSpPr txBox="1"/>
          <p:nvPr/>
        </p:nvSpPr>
        <p:spPr>
          <a:xfrm>
            <a:off x="1050324" y="2182525"/>
            <a:ext cx="10280822" cy="289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buClr>
                <a:srgbClr val="000000"/>
              </a:buClr>
              <a:tabLst>
                <a:tab pos="125730" algn="l"/>
              </a:tabLst>
            </a:pPr>
            <a:r>
              <a:rPr lang="pt-BR" sz="2600" dirty="0">
                <a:effectLst/>
                <a:latin typeface="Noto Sans Symbols" panose="020B0604020202020204" charset="0"/>
                <a:ea typeface="Noto Sans Symbols" panose="020B0604020202020204" charset="0"/>
                <a:cs typeface="Noto Sans Symbols" panose="020B0604020202020204" charset="0"/>
              </a:rPr>
              <a:t>Em seguida, dirige-se as seções a fim de passar orientações e diligenciar com cada chefe de seção as principais demandas administrativas do dia. Ressalta-se que as bases destacadas, são visitadas bimestralmente, em virtude da grande distância da sede da Unidade, e os PMs ali lotados tem o dever de fotografar a assunção de serviço, diariamente, bem como, informar, via celular, qualquer incongruência, atrelado à fotos.</a:t>
            </a:r>
            <a:endParaRPr lang="pt-BR" sz="2600" b="1" dirty="0">
              <a:effectLst/>
              <a:latin typeface="Noto Sans Symbols" panose="020B0604020202020204" charset="0"/>
              <a:ea typeface="Noto Sans Symbols" panose="020B0604020202020204" charset="0"/>
              <a:cs typeface="Noto Sans Symbol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23189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5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900112" y="741362"/>
            <a:ext cx="1102582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b="0" i="0" u="none" strike="noStrike" cap="none" dirty="0" err="1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1g – Reunião de Avaliação Anual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LIDERANÇA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5"/>
          <p:cNvSpPr txBox="1"/>
          <p:nvPr/>
        </p:nvSpPr>
        <p:spPr>
          <a:xfrm>
            <a:off x="900112" y="1970659"/>
            <a:ext cx="9992497" cy="2477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pt-BR" sz="2600" dirty="0"/>
              <a:t>Na primeira quinzena do ano é realizada a Reunião de Avaliação Anual, com vistas a analisar os pontos positivos e oportunidades de melhoria referentes às ações do ano anterior.</a:t>
            </a:r>
            <a:br>
              <a:rPr lang="pt-BR" sz="2600" dirty="0"/>
            </a:br>
            <a:r>
              <a:rPr lang="pt-BR" sz="2600" dirty="0"/>
              <a:t>Dessa reunião resulta o relatório anual de produtividade e gestão da unidade, o qual irá subsidiar a produção do Plano de Gestão do ano seguinte.</a:t>
            </a:r>
          </a:p>
        </p:txBody>
      </p:sp>
    </p:spTree>
    <p:extLst>
      <p:ext uri="{BB962C8B-B14F-4D97-AF65-F5344CB8AC3E}">
        <p14:creationId xmlns:p14="http://schemas.microsoft.com/office/powerpoint/2010/main" val="17836912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5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900112" y="746125"/>
            <a:ext cx="1102582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pt-BR" sz="2800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2c/2d – Plano de Gestão Anual (PGA)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ESTRATÉGIAS E PLANOS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5"/>
          <p:cNvSpPr txBox="1"/>
          <p:nvPr/>
        </p:nvSpPr>
        <p:spPr>
          <a:xfrm>
            <a:off x="900112" y="1970659"/>
            <a:ext cx="9992497" cy="2092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pt-BR" sz="2600" dirty="0"/>
              <a:t>No mês de dezembro as reuniões semanais têm atenção especial para a elaboração do Plano de Gestão Anual do ano seguinte, com ações, metas, prazos e indicador de evolução para cada iniciativa, acompanhados de forma contínua.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900112" y="3700000"/>
            <a:ext cx="9992497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sz="1800" b="1">
                <a:solidFill>
                  <a:srgbClr val="404040"/>
                </a:solidFill>
              </a:rPr>
              <a:t>Estratégias: </a:t>
            </a:r>
          </a:p>
          <a:p>
            <a:pPr algn="just">
              <a:spcAft>
                <a:spcPts val="600"/>
              </a:spcAft>
            </a:pPr>
            <a:r>
              <a:rPr sz="1800" b="0">
                <a:solidFill>
                  <a:srgbClr val="404040"/>
                </a:solidFill>
              </a:rPr>
              <a:t>capacitação e especialização da força de trabalho; foco na saúde ocupacional; foco no clima organizacional.</a:t>
            </a:r>
          </a:p>
          <a:p>
            <a:pPr algn="just">
              <a:spcAft>
                <a:spcPts val="600"/>
              </a:spcAft>
            </a:pPr>
            <a:r>
              <a:rPr sz="1800" b="1">
                <a:solidFill>
                  <a:srgbClr val="404040"/>
                </a:solidFill>
              </a:rPr>
              <a:t>Objetivos: </a:t>
            </a:r>
          </a:p>
          <a:p>
            <a:pPr algn="just">
              <a:spcAft>
                <a:spcPts val="600"/>
              </a:spcAft>
            </a:pPr>
            <a:r>
              <a:rPr sz="1800" b="0">
                <a:solidFill>
                  <a:srgbClr val="404040"/>
                </a:solidFill>
              </a:rPr>
              <a:t>capacitar e especializar o efetivo operacional; aumentar a oferta de eventos pedagógicos; melhorar as condições de trabalho.</a:t>
            </a:r>
          </a:p>
        </p:txBody>
      </p:sp>
    </p:spTree>
    <p:extLst>
      <p:ext uri="{BB962C8B-B14F-4D97-AF65-F5344CB8AC3E}">
        <p14:creationId xmlns:p14="http://schemas.microsoft.com/office/powerpoint/2010/main" val="32132714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5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900112" y="746125"/>
            <a:ext cx="1102582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pt-BR" sz="2800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3d – Ouvidoria Setorial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CLIENTES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5"/>
          <p:cNvSpPr txBox="1"/>
          <p:nvPr/>
        </p:nvSpPr>
        <p:spPr>
          <a:xfrm>
            <a:off x="900112" y="1674097"/>
            <a:ext cx="9992497" cy="4893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pt-BR" sz="2600" dirty="0"/>
              <a:t>As respostas e a prestação de contas seguem por SEI Bahia, e-mail institucional, sistema TAG, ofícios e reuniões com Ministério Público, CONSEG e AIBA. Manifestações via Instagram têm o denunciante identificado para retorno. Apurações são registradas em BIO. Indicador: 100% de feedback às denúncias (2023–2025).</a:t>
            </a:r>
          </a:p>
        </p:txBody>
      </p:sp>
    </p:spTree>
    <p:extLst>
      <p:ext uri="{BB962C8B-B14F-4D97-AF65-F5344CB8AC3E}">
        <p14:creationId xmlns:p14="http://schemas.microsoft.com/office/powerpoint/2010/main" val="29618295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5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900112" y="746125"/>
            <a:ext cx="11025822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pt-BR" sz="2800" b="0" i="0" u="none" strike="noStrike" cap="none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3b – Levantamento de Requisitos em Reuniões e Visitas (CONSEG)</a:t>
            </a:r>
            <a:endParaRPr lang="pt-BR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CLIENTES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5"/>
          <p:cNvSpPr txBox="1"/>
          <p:nvPr/>
        </p:nvSpPr>
        <p:spPr>
          <a:xfrm>
            <a:off x="900112" y="1719865"/>
            <a:ext cx="9992497" cy="5293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/>
            <a:r>
              <a:rPr lang="pt-BR" sz="2600" dirty="0"/>
              <a:t>Realização de reunião semestral presidida pelo Comandante da UOPM, com vistas à </a:t>
            </a:r>
            <a:r>
              <a:rPr lang="pt-BR" sz="2600" b="1" dirty="0"/>
              <a:t>análise de sugestões de medidas voltadas à elaboração da Política de Segurança Pública</a:t>
            </a:r>
            <a:r>
              <a:rPr lang="pt-BR" sz="2600" dirty="0"/>
              <a:t> aplicáveis aos municípios que integram a área de responsabilidade territorial da OPM, possibilitando o conhecimento das expectativas da comunidade e a antecipação no seu atendimento, além de zelar pela efetividade das ações voltadas à prevenção da violência e combate à criminalidade. </a:t>
            </a:r>
          </a:p>
          <a:p>
            <a:pPr algn="just"/>
            <a:endParaRPr lang="pt-BR" sz="2600" dirty="0"/>
          </a:p>
          <a:p>
            <a:pPr algn="just"/>
            <a:r>
              <a:rPr lang="pt-BR" sz="2600" dirty="0"/>
              <a:t>Com as informações geradas nas reuniões o comandante </a:t>
            </a:r>
            <a:r>
              <a:rPr lang="pt-BR" sz="2600" b="1" dirty="0"/>
              <a:t>convoca o STAFF e executa o planejamento das operações ou ações com o objetivo de resolver ou minimizar os problemas.</a:t>
            </a:r>
          </a:p>
        </p:txBody>
      </p:sp>
    </p:spTree>
    <p:extLst>
      <p:ext uri="{BB962C8B-B14F-4D97-AF65-F5344CB8AC3E}">
        <p14:creationId xmlns:p14="http://schemas.microsoft.com/office/powerpoint/2010/main" val="31349156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7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7"/>
          <p:cNvSpPr txBox="1"/>
          <p:nvPr/>
        </p:nvSpPr>
        <p:spPr>
          <a:xfrm>
            <a:off x="900112" y="605438"/>
            <a:ext cx="8693150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en-US" sz="2800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4d – Projeto Lutando Bem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7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SOCIEDADE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7"/>
          <p:cNvSpPr txBox="1"/>
          <p:nvPr/>
        </p:nvSpPr>
        <p:spPr>
          <a:xfrm>
            <a:off x="625178" y="1574988"/>
            <a:ext cx="6418173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None/>
            </a:pPr>
            <a:r>
              <a:rPr lang="pt-BR" sz="2400" b="1" dirty="0"/>
              <a:t>Quantidade de crianças atendidas pelo Projeto por ano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None/>
            </a:pPr>
            <a:endParaRPr lang="pt-BR" sz="2400" b="1" dirty="0"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600"/>
              <a:buFont typeface="Arial"/>
              <a:buNone/>
            </a:pPr>
            <a:r>
              <a:rPr lang="pt-BR" sz="2400" b="1" dirty="0"/>
              <a:t>O Projeto Lutando Bem,</a:t>
            </a:r>
            <a:r>
              <a:rPr lang="pt-BR" sz="2400" dirty="0"/>
              <a:t> é realizado pela 27º BPM, oferece aulas de judô para crianças com o objetivo de promover disciplina, respeito, autoconfiança e cidadania. A iniciativa busca desviar jovens de situações de vulnerabilidade, oferecendo uma atividade estruturada que contribui para o desenvolvimento físico e mental. Além disso, o projeto fortalece o vínculo entre a comunidade e a Polícia Militar, promovendo uma relação de confiança e cooperação.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B744D50-EB37-A07F-3DAA-D3843A0B9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5209" y="1759300"/>
            <a:ext cx="4176106" cy="415494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8"/>
          <p:cNvSpPr txBox="1"/>
          <p:nvPr/>
        </p:nvSpPr>
        <p:spPr>
          <a:xfrm>
            <a:off x="3508375" y="3892550"/>
            <a:ext cx="5326062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PMBA, UMA FORÇA A SERVIÇO DO CIDADÃO!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4" name="Google Shape;314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00675" y="2322512"/>
            <a:ext cx="1541462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4" name="Google Shape;284;p25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900111" y="741362"/>
            <a:ext cx="1116806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pt-BR" sz="2800" b="0" i="0" u="none" strike="noStrike" cap="none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Perfil da Organização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PERFIL DA ORGANIZAÇÃO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TextBox 286"/>
          <p:cNvSpPr txBox="1"/>
          <p:nvPr/>
        </p:nvSpPr>
        <p:spPr>
          <a:xfrm>
            <a:off x="900112" y="1500000"/>
            <a:ext cx="109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sz="2000" b="1">
                <a:solidFill>
                  <a:srgbClr val="404040"/>
                </a:solidFill>
              </a:rPr>
              <a:t>Denominação: 27º BPM / Luís Eduardo Magalhães – CPR-O</a:t>
            </a:r>
          </a:p>
          <a:p>
            <a:pPr algn="just">
              <a:spcAft>
                <a:spcPts val="600"/>
              </a:spcAft>
            </a:pPr>
            <a:r>
              <a:rPr sz="2000" b="0">
                <a:solidFill>
                  <a:srgbClr val="404040"/>
                </a:solidFill>
              </a:rPr>
              <a:t>• Origem: PPM no final da década de 80 → 5ª Cia do 10º BPM → 85ª CIPM (Lei nº 13.201, de 09/12/2014, instalada em junho/2015).</a:t>
            </a:r>
          </a:p>
          <a:p>
            <a:pPr algn="just">
              <a:spcAft>
                <a:spcPts val="600"/>
              </a:spcAft>
            </a:pPr>
            <a:r>
              <a:rPr sz="2000" b="0">
                <a:solidFill>
                  <a:srgbClr val="404040"/>
                </a:solidFill>
              </a:rPr>
              <a:t>• Elevada a 27º Batalhão pela Lei Estadual nº 14.962, de 05/09/2025, implantado em 08/09/2025 (Decreto nº 23.976).</a:t>
            </a:r>
          </a:p>
          <a:p>
            <a:pPr algn="just">
              <a:spcAft>
                <a:spcPts val="600"/>
              </a:spcAft>
            </a:pPr>
            <a:r>
              <a:rPr sz="2000" b="0">
                <a:solidFill>
                  <a:srgbClr val="404040"/>
                </a:solidFill>
              </a:rPr>
              <a:t>• Estrutura definida pela Portaria nº 026-CG/2026, de 26/02/2026: Comando, Subcomando, SOInt, CPOI, CAA e Corregedoria Setorial e Ouvidoria.</a:t>
            </a:r>
          </a:p>
          <a:p>
            <a:pPr algn="just">
              <a:spcAft>
                <a:spcPts val="600"/>
              </a:spcAft>
            </a:pPr>
            <a:r>
              <a:rPr sz="2000" b="0">
                <a:solidFill>
                  <a:srgbClr val="404040"/>
                </a:solidFill>
              </a:rPr>
              <a:t>• Área: municípios de Luís Eduardo Magalhães e São Desidério (cerca de 160 povoados; distritos de Roda Velha e Sítio Grande), divisa com GO e TO.</a:t>
            </a:r>
          </a:p>
          <a:p>
            <a:pPr algn="just">
              <a:spcAft>
                <a:spcPts val="600"/>
              </a:spcAft>
            </a:pPr>
            <a:r>
              <a:rPr sz="2000" b="0">
                <a:solidFill>
                  <a:srgbClr val="404040"/>
                </a:solidFill>
              </a:rPr>
              <a:t>• Subunidades: 1ª, 2ª e 3ª Cias (LEM), 4ª Cia destacada (São Desidério), 5ª Cia e CETO.</a:t>
            </a:r>
          </a:p>
          <a:p>
            <a:pPr algn="just">
              <a:spcAft>
                <a:spcPts val="600"/>
              </a:spcAft>
            </a:pPr>
            <a:r>
              <a:rPr sz="2000" b="0">
                <a:solidFill>
                  <a:srgbClr val="404040"/>
                </a:solidFill>
              </a:rPr>
              <a:t>• Produtos: Policiamento Ostensivo (radiopatrulha e a pé), Policiamento Comunitário e Policiamento de Trânsito.</a:t>
            </a:r>
          </a:p>
          <a:p>
            <a:pPr algn="just">
              <a:spcAft>
                <a:spcPts val="600"/>
              </a:spcAft>
            </a:pPr>
            <a:r>
              <a:rPr sz="2000" b="0">
                <a:solidFill>
                  <a:srgbClr val="404040"/>
                </a:solidFill>
              </a:rPr>
              <a:t>• Mantenedor: CPR-O. Apoio: Prefeituras de LEM e São Desidério e CONSEGs de LEM e Roda Velha.</a:t>
            </a:r>
          </a:p>
          <a:p>
            <a:pPr algn="just">
              <a:spcAft>
                <a:spcPts val="600"/>
              </a:spcAft>
            </a:pPr>
            <a:r>
              <a:rPr sz="2000" b="0">
                <a:solidFill>
                  <a:srgbClr val="404040"/>
                </a:solidFill>
              </a:rPr>
              <a:t>• Sede: Rua Xique-xique, nº 530, Loteamento Santa Cruz fase 1, LEM-BA.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4" name="Google Shape;284;p25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900111" y="741362"/>
            <a:ext cx="1116806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pt-BR" sz="2800" b="0" i="0" u="none" strike="noStrike" cap="none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Recursos Materiais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ESTRUTURA DE FUNCIONAMENTO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7" name="Table 286"/>
          <p:cNvGraphicFramePr>
            <a:graphicFrameLocks noGrp="1"/>
          </p:cNvGraphicFramePr>
          <p:nvPr/>
        </p:nvGraphicFramePr>
        <p:xfrm>
          <a:off x="1100000" y="1600000"/>
          <a:ext cx="7400000" cy="31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00"/>
                <a:gridCol w="4600000"/>
              </a:tblGrid>
              <a:tr h="520000">
                <a:tc>
                  <a:txBody>
                    <a:bodyPr/>
                    <a:lstStyle/>
                    <a:p>
                      <a:r>
                        <a:rPr sz="1600" b="1"/>
                        <a:t>Recurso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600" b="1"/>
                        <a:t>Quantidade</a:t>
                      </a:r>
                    </a:p>
                  </a:txBody>
                  <a:tcPr marT="30000" marB="30000"/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600" b="0"/>
                        <a:t>Viaturas 4 rodas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600" b="0"/>
                        <a:t>14 (inclui 01 da SOInt)</a:t>
                      </a:r>
                    </a:p>
                  </a:txBody>
                  <a:tcPr marT="30000" marB="30000"/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600" b="0"/>
                        <a:t>Motocicletas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600" b="0"/>
                        <a:t>10 (Sede, São Desidério e Roda Velha)</a:t>
                      </a:r>
                    </a:p>
                  </a:txBody>
                  <a:tcPr marT="30000" marB="30000"/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600" b="0"/>
                        <a:t>Armamento de porte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600" b="0"/>
                        <a:t>139 (inclui 03 TASER)</a:t>
                      </a:r>
                    </a:p>
                  </a:txBody>
                  <a:tcPr marT="30000" marB="30000"/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600" b="0"/>
                        <a:t>Armamento portátil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600" b="0"/>
                        <a:t>37 (fuzis, carabinas, SMT, espingarda)</a:t>
                      </a:r>
                    </a:p>
                  </a:txBody>
                  <a:tcPr marT="30000" marB="30000"/>
                </a:tc>
              </a:tr>
              <a:tr h="520000">
                <a:tc>
                  <a:txBody>
                    <a:bodyPr/>
                    <a:lstStyle/>
                    <a:p>
                      <a:r>
                        <a:rPr sz="1600" b="0"/>
                        <a:t>Coletes balísticos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600" b="0"/>
                        <a:t>156 (136 em carga pessoal)</a:t>
                      </a:r>
                    </a:p>
                  </a:txBody>
                  <a:tcPr marT="30000" marB="30000"/>
                </a:tc>
              </a:tr>
            </a:tbl>
          </a:graphicData>
        </a:graphic>
      </p:graphicFrame>
      <p:sp>
        <p:nvSpPr>
          <p:cNvPr id="288" name="TextBox 287"/>
          <p:cNvSpPr txBox="1"/>
          <p:nvPr/>
        </p:nvSpPr>
        <p:spPr>
          <a:xfrm>
            <a:off x="1100000" y="5000000"/>
            <a:ext cx="104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</a:rPr>
              <a:t>Frota: Trail Blazer, S10, Ranger, Duster e Sprinter. Proprietários: PMBA, Consórcio (CSBR) e Prefeitura de São Desidério (PMSD).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4" name="Google Shape;284;p25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900111" y="741362"/>
            <a:ext cx="1116806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pt-BR" sz="2800" b="0" i="0" u="none" strike="noStrike" cap="none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Busca da Excelência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HISTÓRICO DA EXCELÊNCIA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TextBox 286"/>
          <p:cNvSpPr txBox="1"/>
          <p:nvPr/>
        </p:nvSpPr>
        <p:spPr>
          <a:xfrm>
            <a:off x="900112" y="1450000"/>
            <a:ext cx="109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sz="1700" b="1">
                <a:solidFill>
                  <a:srgbClr val="404040"/>
                </a:solidFill>
              </a:rPr>
              <a:t>2025</a:t>
            </a:r>
          </a:p>
          <a:p>
            <a:pPr algn="just">
              <a:spcAft>
                <a:spcPts val="600"/>
              </a:spcAft>
            </a:pPr>
            <a:r>
              <a:rPr sz="1700" b="0">
                <a:solidFill>
                  <a:srgbClr val="404040"/>
                </a:solidFill>
              </a:rPr>
              <a:t>• Lei Estadual nº 14.962, de 05/09/2025: elevação da 85ª CIPM a 27º Batalhão de Polícia Militar, implantado em 08/09/2025 (Decreto nº 23.976).</a:t>
            </a:r>
          </a:p>
          <a:p>
            <a:pPr algn="just">
              <a:spcAft>
                <a:spcPts val="600"/>
              </a:spcAft>
            </a:pPr>
            <a:r>
              <a:rPr sz="1700" b="1">
                <a:solidFill>
                  <a:srgbClr val="404040"/>
                </a:solidFill>
              </a:rPr>
              <a:t>2026</a:t>
            </a:r>
          </a:p>
          <a:p>
            <a:pPr algn="just">
              <a:spcAft>
                <a:spcPts val="600"/>
              </a:spcAft>
            </a:pPr>
            <a:r>
              <a:rPr sz="1700" b="0">
                <a:solidFill>
                  <a:srgbClr val="404040"/>
                </a:solidFill>
              </a:rPr>
              <a:t>• Portaria nº 026-CG/2026: nova estrutura com a CPOI (planejamento operacional, instrução, avaliação e estatística) e a CAA (pessoal, material, patrimônio, transportes, qualidade e tecnologia).</a:t>
            </a:r>
          </a:p>
          <a:p>
            <a:pPr algn="just">
              <a:spcAft>
                <a:spcPts val="600"/>
              </a:spcAft>
            </a:pPr>
            <a:r>
              <a:rPr sz="1700" b="0">
                <a:solidFill>
                  <a:srgbClr val="404040"/>
                </a:solidFill>
              </a:rPr>
              <a:t>• Publicação dos POP da Guarda, do Coordenador de Área, do Comandante de Guarnição e da Operação Safra.</a:t>
            </a:r>
          </a:p>
          <a:p>
            <a:pPr algn="just">
              <a:spcAft>
                <a:spcPts val="600"/>
              </a:spcAft>
            </a:pPr>
            <a:r>
              <a:rPr sz="1700" b="0">
                <a:solidFill>
                  <a:srgbClr val="404040"/>
                </a:solidFill>
              </a:rPr>
              <a:t>• Capacitação: Instrução com Fuzil ARAD 7, Curso Básico de Motociclista Policial e Curso Básico de Emprego Tático Operacional.</a:t>
            </a:r>
          </a:p>
          <a:p>
            <a:pPr algn="just">
              <a:spcAft>
                <a:spcPts val="600"/>
              </a:spcAft>
            </a:pPr>
            <a:r>
              <a:rPr sz="1700" b="0">
                <a:solidFill>
                  <a:srgbClr val="404040"/>
                </a:solidFill>
              </a:rPr>
              <a:t>• Projeto Saúde no Quartel (biênio 2026/2027): circuito de treinamento físico nas dependências do 27º BPM.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4" name="Google Shape;284;p25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900111" y="741362"/>
            <a:ext cx="1116806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pt-BR" sz="2800" b="0" i="0" u="none" strike="noStrike" cap="none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Práticas de Gestão – Relato Organizacional 2026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PROCESSOS ORGANIZACIONAIS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7" name="Table 286"/>
          <p:cNvGraphicFramePr>
            <a:graphicFrameLocks noGrp="1"/>
          </p:cNvGraphicFramePr>
          <p:nvPr/>
        </p:nvGraphicFramePr>
        <p:xfrm>
          <a:off x="800000" y="1450000"/>
          <a:ext cx="5500000" cy="48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0000"/>
                <a:gridCol w="4850000"/>
              </a:tblGrid>
              <a:tr h="440000">
                <a:tc>
                  <a:txBody>
                    <a:bodyPr/>
                    <a:lstStyle/>
                    <a:p>
                      <a:r>
                        <a:rPr sz="1100" b="1"/>
                        <a:t>Item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100" b="1"/>
                        <a:t>Prática</a:t>
                      </a:r>
                    </a:p>
                  </a:txBody>
                  <a:tcPr marT="30000" marB="30000"/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0"/>
                        <a:t>1a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100" b="0"/>
                        <a:t>Parada matinal com efetivo de serviço</a:t>
                      </a:r>
                    </a:p>
                  </a:txBody>
                  <a:tcPr marT="30000" marB="30000"/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0"/>
                        <a:t>1b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100" b="0"/>
                        <a:t>POP – criação, aplicação, checagem e adequação</a:t>
                      </a:r>
                    </a:p>
                  </a:txBody>
                  <a:tcPr marT="30000" marB="30000"/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0"/>
                        <a:t>1c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100" b="0"/>
                        <a:t>Revisão dos POP</a:t>
                      </a:r>
                    </a:p>
                  </a:txBody>
                  <a:tcPr marT="30000" marB="30000"/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0"/>
                        <a:t>1d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100" b="0"/>
                        <a:t>Reunião semanal de oficiais</a:t>
                      </a:r>
                    </a:p>
                  </a:txBody>
                  <a:tcPr marT="30000" marB="30000"/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0"/>
                        <a:t>1e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100" b="0"/>
                        <a:t>Relatório bimestral de produtividade e gestão</a:t>
                      </a:r>
                    </a:p>
                  </a:txBody>
                  <a:tcPr marT="30000" marB="30000"/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0"/>
                        <a:t>1f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100" b="0"/>
                        <a:t>Acompanhamento das atividades da Unidade</a:t>
                      </a:r>
                    </a:p>
                  </a:txBody>
                  <a:tcPr marT="30000" marB="30000"/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0"/>
                        <a:t>1g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100" b="0"/>
                        <a:t>Reunião de avaliação anual</a:t>
                      </a:r>
                    </a:p>
                  </a:txBody>
                  <a:tcPr marT="30000" marB="30000"/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0"/>
                        <a:t>2a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100" b="0"/>
                        <a:t>Análise do Plano de Gestão Anual</a:t>
                      </a:r>
                    </a:p>
                  </a:txBody>
                  <a:tcPr marT="30000" marB="30000"/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0"/>
                        <a:t>2b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100" b="0"/>
                        <a:t>Fale com o Comandante</a:t>
                      </a:r>
                    </a:p>
                  </a:txBody>
                  <a:tcPr marT="30000" marB="30000"/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0"/>
                        <a:t>2c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100" b="0"/>
                        <a:t>Elaboração do Plano de Gestão Anual</a:t>
                      </a:r>
                    </a:p>
                  </a:txBody>
                  <a:tcPr marT="30000" marB="30000"/>
                </a:tc>
              </a:tr>
            </a:tbl>
          </a:graphicData>
        </a:graphic>
      </p:graphicFrame>
      <p:graphicFrame>
        <p:nvGraphicFramePr>
          <p:cNvPr id="288" name="Table 287"/>
          <p:cNvGraphicFramePr>
            <a:graphicFrameLocks noGrp="1"/>
          </p:cNvGraphicFramePr>
          <p:nvPr/>
        </p:nvGraphicFramePr>
        <p:xfrm>
          <a:off x="6450000" y="1450000"/>
          <a:ext cx="5500000" cy="48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0000"/>
                <a:gridCol w="4850000"/>
              </a:tblGrid>
              <a:tr h="440000">
                <a:tc>
                  <a:txBody>
                    <a:bodyPr/>
                    <a:lstStyle/>
                    <a:p>
                      <a:r>
                        <a:rPr sz="1100" b="1"/>
                        <a:t>Item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100" b="1"/>
                        <a:t>Prática</a:t>
                      </a:r>
                    </a:p>
                  </a:txBody>
                  <a:tcPr marT="30000" marB="30000"/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0"/>
                        <a:t>2d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100" b="0"/>
                        <a:t>Elaboração e acompanhamento da execução do PGA</a:t>
                      </a:r>
                    </a:p>
                  </a:txBody>
                  <a:tcPr marT="30000" marB="30000"/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0"/>
                        <a:t>3a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100" b="0"/>
                        <a:t>Segmentação de clientes – zona urbana e rural</a:t>
                      </a:r>
                    </a:p>
                  </a:txBody>
                  <a:tcPr marT="30000" marB="30000"/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0"/>
                        <a:t>3b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100" b="0"/>
                        <a:t>Levantamento de requisitos em reuniões e visitas</a:t>
                      </a:r>
                    </a:p>
                  </a:txBody>
                  <a:tcPr marT="30000" marB="30000"/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0"/>
                        <a:t>3c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100" b="0"/>
                        <a:t>Divulgação nas mídias sociais</a:t>
                      </a:r>
                    </a:p>
                  </a:txBody>
                  <a:tcPr marT="30000" marB="30000"/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0"/>
                        <a:t>3d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100" b="0"/>
                        <a:t>Ouvidoria setorial</a:t>
                      </a:r>
                    </a:p>
                  </a:txBody>
                  <a:tcPr marT="30000" marB="30000"/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0"/>
                        <a:t>3e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100" b="0"/>
                        <a:t>Gestão participativa e acompanhamento das mídias sociais</a:t>
                      </a:r>
                    </a:p>
                  </a:txBody>
                  <a:tcPr marT="30000" marB="30000"/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0"/>
                        <a:t>4a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100" b="0"/>
                        <a:t>Acompanhamento das publicações nos sistemas oficiais</a:t>
                      </a:r>
                    </a:p>
                  </a:txBody>
                  <a:tcPr marT="30000" marB="30000"/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0"/>
                        <a:t>4b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100" b="0"/>
                        <a:t>Instauração de feitos investigatórios</a:t>
                      </a:r>
                    </a:p>
                  </a:txBody>
                  <a:tcPr marT="30000" marB="30000"/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0"/>
                        <a:t>4c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100" b="0"/>
                        <a:t>Acompanhamento do consumo de energia elétrica</a:t>
                      </a:r>
                    </a:p>
                  </a:txBody>
                  <a:tcPr marT="30000" marB="30000"/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0"/>
                        <a:t>4d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100" b="0"/>
                        <a:t>Apoio ao judô – Projeto Lutando Bem</a:t>
                      </a:r>
                    </a:p>
                  </a:txBody>
                  <a:tcPr marT="30000" marB="30000"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4" name="Google Shape;284;p25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900111" y="741362"/>
            <a:ext cx="1116806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pt-BR" sz="2800" b="0" i="0" u="none" strike="noStrike" cap="none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Práticas de Gestão – Relato Organizacional 2026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PROCESSOS ORGANIZACIONAIS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7" name="Table 286"/>
          <p:cNvGraphicFramePr>
            <a:graphicFrameLocks noGrp="1"/>
          </p:cNvGraphicFramePr>
          <p:nvPr/>
        </p:nvGraphicFramePr>
        <p:xfrm>
          <a:off x="800000" y="1450000"/>
          <a:ext cx="5500000" cy="39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0000"/>
                <a:gridCol w="4850000"/>
              </a:tblGrid>
              <a:tr h="440000">
                <a:tc>
                  <a:txBody>
                    <a:bodyPr/>
                    <a:lstStyle/>
                    <a:p>
                      <a:r>
                        <a:rPr sz="1100" b="1"/>
                        <a:t>Item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100" b="1"/>
                        <a:t>Prática</a:t>
                      </a:r>
                    </a:p>
                  </a:txBody>
                  <a:tcPr marT="30000" marB="30000"/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0"/>
                        <a:t>5a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100" b="0"/>
                        <a:t>Reunião com os setores administrativos</a:t>
                      </a:r>
                    </a:p>
                  </a:txBody>
                  <a:tcPr marT="30000" marB="30000"/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0"/>
                        <a:t>5b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100" b="0"/>
                        <a:t>Acesso aos sistemas governamentais</a:t>
                      </a:r>
                    </a:p>
                  </a:txBody>
                  <a:tcPr marT="30000" marB="30000"/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0"/>
                        <a:t>5c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100" b="0"/>
                        <a:t>Uso dos sistemas internos mediante senha pessoal</a:t>
                      </a:r>
                    </a:p>
                  </a:txBody>
                  <a:tcPr marT="30000" marB="30000"/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0"/>
                        <a:t>5d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100" b="0"/>
                        <a:t>Ciclo de treinamento do efetivo</a:t>
                      </a:r>
                    </a:p>
                  </a:txBody>
                  <a:tcPr marT="30000" marB="30000"/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0"/>
                        <a:t>6a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100" b="0"/>
                        <a:t>Classificação dos policiais em locais de trabalho</a:t>
                      </a:r>
                    </a:p>
                  </a:txBody>
                  <a:tcPr marT="30000" marB="30000"/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0"/>
                        <a:t>6b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100" b="0"/>
                        <a:t>Seleção interna de pessoal</a:t>
                      </a:r>
                    </a:p>
                  </a:txBody>
                  <a:tcPr marT="30000" marB="30000"/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0"/>
                        <a:t>6c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100" b="0"/>
                        <a:t>Fichas de conceito e de informações para promoção</a:t>
                      </a:r>
                    </a:p>
                  </a:txBody>
                  <a:tcPr marT="30000" marB="30000"/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0"/>
                        <a:t>6d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100" b="0"/>
                        <a:t>Prêmio Policial Padrão</a:t>
                      </a:r>
                    </a:p>
                  </a:txBody>
                  <a:tcPr marT="30000" marB="30000"/>
                </a:tc>
              </a:tr>
            </a:tbl>
          </a:graphicData>
        </a:graphic>
      </p:graphicFrame>
      <p:graphicFrame>
        <p:nvGraphicFramePr>
          <p:cNvPr id="288" name="Table 287"/>
          <p:cNvGraphicFramePr>
            <a:graphicFrameLocks noGrp="1"/>
          </p:cNvGraphicFramePr>
          <p:nvPr/>
        </p:nvGraphicFramePr>
        <p:xfrm>
          <a:off x="6450000" y="1450000"/>
          <a:ext cx="5500000" cy="39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0000"/>
                <a:gridCol w="4850000"/>
              </a:tblGrid>
              <a:tr h="440000">
                <a:tc>
                  <a:txBody>
                    <a:bodyPr/>
                    <a:lstStyle/>
                    <a:p>
                      <a:r>
                        <a:rPr sz="1100" b="1"/>
                        <a:t>Item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100" b="1"/>
                        <a:t>Prática</a:t>
                      </a:r>
                    </a:p>
                  </a:txBody>
                  <a:tcPr marT="30000" marB="30000"/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0"/>
                        <a:t>6e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100" b="0"/>
                        <a:t>Programa de atualização técnico-profissional</a:t>
                      </a:r>
                    </a:p>
                  </a:txBody>
                  <a:tcPr marT="30000" marB="30000"/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0"/>
                        <a:t>6f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100" b="0"/>
                        <a:t>Gestão da segurança e saúde no trabalho</a:t>
                      </a:r>
                    </a:p>
                  </a:txBody>
                  <a:tcPr marT="30000" marB="30000"/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0"/>
                        <a:t>6g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100" b="0"/>
                        <a:t>Fale com o Comandante</a:t>
                      </a:r>
                    </a:p>
                  </a:txBody>
                  <a:tcPr marT="30000" marB="30000"/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0"/>
                        <a:t>7a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100" b="0"/>
                        <a:t>Levantamento de requisitos com partes interessadas</a:t>
                      </a:r>
                    </a:p>
                  </a:txBody>
                  <a:tcPr marT="30000" marB="30000"/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0"/>
                        <a:t>7b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100" b="0"/>
                        <a:t>Relatório de serviço</a:t>
                      </a:r>
                    </a:p>
                  </a:txBody>
                  <a:tcPr marT="30000" marB="30000"/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0"/>
                        <a:t>7c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100" b="0"/>
                        <a:t>Reunião com o staff</a:t>
                      </a:r>
                    </a:p>
                  </a:txBody>
                  <a:tcPr marT="30000" marB="30000"/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0"/>
                        <a:t>7d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100" b="0"/>
                        <a:t>Avaliação de produtos do CPR-O e pesquisa de preços</a:t>
                      </a:r>
                    </a:p>
                  </a:txBody>
                  <a:tcPr marT="30000" marB="30000"/>
                </a:tc>
              </a:tr>
              <a:tr h="440000">
                <a:tc>
                  <a:txBody>
                    <a:bodyPr/>
                    <a:lstStyle/>
                    <a:p>
                      <a:r>
                        <a:rPr sz="1100" b="0"/>
                        <a:t>7e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100" b="0"/>
                        <a:t>Execução orçamentária, controle patrimonial e plano de compras</a:t>
                      </a:r>
                    </a:p>
                  </a:txBody>
                  <a:tcPr marT="30000" marB="30000"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4" name="Google Shape;284;p25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900111" y="741362"/>
            <a:ext cx="1116806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pt-BR" sz="2800" b="0" i="0" u="none" strike="noStrike" cap="none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1b/1c – Procedimentos Operacionais Padrão (POP)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LIDERANÇA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TextBox 286"/>
          <p:cNvSpPr txBox="1"/>
          <p:nvPr/>
        </p:nvSpPr>
        <p:spPr>
          <a:xfrm>
            <a:off x="900112" y="1500000"/>
            <a:ext cx="109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sz="2400" b="0">
                <a:solidFill>
                  <a:srgbClr val="404040"/>
                </a:solidFill>
              </a:rPr>
              <a:t>Criação, aplicação, checagem e adequação do efetivo aos novos procedimentos, com revisão periódica dos POP.</a:t>
            </a:r>
          </a:p>
          <a:p>
            <a:pPr algn="just">
              <a:spcAft>
                <a:spcPts val="600"/>
              </a:spcAft>
            </a:pPr>
            <a:r>
              <a:rPr sz="2400" b="0">
                <a:solidFill>
                  <a:srgbClr val="404040"/>
                </a:solidFill>
              </a:rPr>
              <a:t>A leitura dos POP na passagem de serviço reforça os padrões de conduta, estimula a padronização das ações operacionais e fortalece a disciplina, atuando como elo entre o Coordenador de Área/Comandante de Pelotão e a tropa.</a:t>
            </a:r>
          </a:p>
          <a:p>
            <a:pPr algn="just">
              <a:spcAft>
                <a:spcPts val="600"/>
              </a:spcAft>
            </a:pPr>
            <a:r>
              <a:rPr sz="2400" b="1">
                <a:solidFill>
                  <a:srgbClr val="404040"/>
                </a:solidFill>
              </a:rPr>
              <a:t>Evidências:</a:t>
            </a:r>
          </a:p>
          <a:p>
            <a:pPr algn="just">
              <a:spcAft>
                <a:spcPts val="600"/>
              </a:spcAft>
            </a:pPr>
            <a:r>
              <a:rPr sz="2400" b="0">
                <a:solidFill>
                  <a:srgbClr val="404040"/>
                </a:solidFill>
              </a:rPr>
              <a:t>• Publicação dos POP da Guarda, do Coordenador de Área, do Comandante de Guarnição e da Operação Safra.</a:t>
            </a:r>
          </a:p>
          <a:p>
            <a:pPr algn="just">
              <a:spcAft>
                <a:spcPts val="600"/>
              </a:spcAft>
            </a:pPr>
            <a:r>
              <a:rPr sz="2400" b="0">
                <a:solidFill>
                  <a:srgbClr val="404040"/>
                </a:solidFill>
              </a:rPr>
              <a:t>• Interação constante com outras Unidades ("endomarketing") para atualizar rotinas administrativas e operacionais.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4" name="Google Shape;284;p25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900111" y="741362"/>
            <a:ext cx="1116806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pt-BR" sz="2800" b="0" i="0" u="none" strike="noStrike" cap="none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1d – Reunião Semanal de Oficiais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LIDERANÇA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TextBox 286"/>
          <p:cNvSpPr txBox="1"/>
          <p:nvPr/>
        </p:nvSpPr>
        <p:spPr>
          <a:xfrm>
            <a:off x="900112" y="1500000"/>
            <a:ext cx="109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sz="2600" b="0">
                <a:solidFill>
                  <a:srgbClr val="404040"/>
                </a:solidFill>
              </a:rPr>
              <a:t>As principais decisões são tomadas e acompanhadas na reunião semanal de oficiais.</a:t>
            </a:r>
          </a:p>
          <a:p>
            <a:pPr algn="just">
              <a:spcAft>
                <a:spcPts val="600"/>
              </a:spcAft>
            </a:pPr>
            <a:r>
              <a:rPr sz="2600" b="0">
                <a:solidFill>
                  <a:srgbClr val="404040"/>
                </a:solidFill>
              </a:rPr>
              <a:t>Nessas reuniões é realizada a "gestão de riscos": ao ser identificado algum risco à instituição, o colegiado propõe soluções e traça um pequeno plano de ação.</a:t>
            </a:r>
          </a:p>
          <a:p>
            <a:pPr algn="just">
              <a:spcAft>
                <a:spcPts val="600"/>
              </a:spcAft>
            </a:pPr>
            <a:r>
              <a:rPr sz="2600" b="0">
                <a:solidFill>
                  <a:srgbClr val="404040"/>
                </a:solidFill>
              </a:rPr>
              <a:t>O Subcomandante verifica se o problema foi plenamente resolvido ou se a demanda é de nível superior, repassando as informações ao Comandante.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4" name="Google Shape;284;p25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900111" y="741362"/>
            <a:ext cx="1116806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pt-BR" sz="2800" b="0" i="0" u="none" strike="noStrike" cap="none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1e – Prestação de Contas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LIDERANÇA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TextBox 286"/>
          <p:cNvSpPr txBox="1"/>
          <p:nvPr/>
        </p:nvSpPr>
        <p:spPr>
          <a:xfrm>
            <a:off x="900112" y="1500000"/>
            <a:ext cx="109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sz="2600" b="0">
                <a:solidFill>
                  <a:srgbClr val="404040"/>
                </a:solidFill>
              </a:rPr>
              <a:t>Confecção do Relatório Bimestral de Produtividade e Gestão da Unidade e participação na Reunião de Avaliação e Alinhamento Operacional junto ao escalão superior (CPR-O).</a:t>
            </a:r>
          </a:p>
          <a:p>
            <a:pPr algn="just">
              <a:spcAft>
                <a:spcPts val="600"/>
              </a:spcAft>
            </a:pPr>
            <a:r>
              <a:rPr sz="2600" b="0">
                <a:solidFill>
                  <a:srgbClr val="404040"/>
                </a:solidFill>
              </a:rPr>
              <a:t>Todos os integrantes têm acesso ao Comandante e ao Subcomandante, observada a cadeia de comando. Nas paradas gerais, a tropa ouve as explanações das seções administrativas e recebe orientações sobre o serviço operacional.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4" name="Google Shape;284;p25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900111" y="741362"/>
            <a:ext cx="1116806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pt-BR" sz="2800" b="0" i="0" u="none" strike="noStrike" cap="none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2b/6g – Fale com o Comandante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ESTRATÉGIAS E PLANOS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TextBox 286"/>
          <p:cNvSpPr txBox="1"/>
          <p:nvPr/>
        </p:nvSpPr>
        <p:spPr>
          <a:xfrm>
            <a:off x="900112" y="1500000"/>
            <a:ext cx="109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sz="2400" b="0">
                <a:solidFill>
                  <a:srgbClr val="404040"/>
                </a:solidFill>
              </a:rPr>
              <a:t>Ferramenta de feedback da tropa sobre as condições da UOPM, usada para analisar as forças impulsoras e restritivas do ambiente interno e o bem-estar das pessoas.</a:t>
            </a:r>
          </a:p>
          <a:p>
            <a:pPr algn="just">
              <a:spcAft>
                <a:spcPts val="600"/>
              </a:spcAft>
            </a:pPr>
            <a:r>
              <a:rPr sz="2400" b="0">
                <a:solidFill>
                  <a:srgbClr val="404040"/>
                </a:solidFill>
              </a:rPr>
              <a:t>Ao serem detectados problemas de qualquer natureza, o Comando busca solucioná-los, seja em estrutura física e condições de trabalho, seja com encaminhamentos e acompanhamento médico e psicológico.</a:t>
            </a:r>
          </a:p>
          <a:p>
            <a:pPr algn="just">
              <a:spcAft>
                <a:spcPts val="600"/>
              </a:spcAft>
            </a:pPr>
            <a:r>
              <a:rPr sz="2400" b="1">
                <a:solidFill>
                  <a:srgbClr val="404040"/>
                </a:solidFill>
              </a:rPr>
              <a:t>2a – Ambiente externo:</a:t>
            </a:r>
          </a:p>
          <a:p>
            <a:pPr algn="just">
              <a:spcAft>
                <a:spcPts val="600"/>
              </a:spcAft>
            </a:pPr>
            <a:r>
              <a:rPr sz="2400" b="0">
                <a:solidFill>
                  <a:srgbClr val="404040"/>
                </a:solidFill>
              </a:rPr>
              <a:t>Análise do PGA considerando demandas da comunidade, Ministério Público, Judiciário e órgãos municipais, além de relatórios de inteligência produzidos pelos agentes do BPM.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4" name="Google Shape;284;p25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900111" y="741362"/>
            <a:ext cx="1116806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pt-BR" sz="2800" b="0" i="0" u="none" strike="noStrike" cap="none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3a – Segmentação de Clientes: Zona Urbana e Zona Rural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CLIENTES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TextBox 286"/>
          <p:cNvSpPr txBox="1"/>
          <p:nvPr/>
        </p:nvSpPr>
        <p:spPr>
          <a:xfrm>
            <a:off x="900112" y="1500000"/>
            <a:ext cx="109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sz="2400" b="0">
                <a:solidFill>
                  <a:srgbClr val="404040"/>
                </a:solidFill>
              </a:rPr>
              <a:t>• Zona rural: planejamento com base no histórico de crimes contra propriedades rurais, especialmente nas épocas de plantio e colheita (Operação Safra).</a:t>
            </a:r>
          </a:p>
          <a:p>
            <a:pPr algn="just">
              <a:spcAft>
                <a:spcPts val="600"/>
              </a:spcAft>
            </a:pPr>
            <a:r>
              <a:rPr sz="2400" b="0">
                <a:solidFill>
                  <a:srgbClr val="404040"/>
                </a:solidFill>
              </a:rPr>
              <a:t>• Zona urbana: planejamento a partir da mancha criminal fornecida pela SOInt, priorizando os locais de maior incidência.</a:t>
            </a:r>
          </a:p>
          <a:p>
            <a:pPr algn="just">
              <a:spcAft>
                <a:spcPts val="600"/>
              </a:spcAft>
            </a:pPr>
            <a:r>
              <a:rPr sz="2400" b="0">
                <a:solidFill>
                  <a:srgbClr val="404040"/>
                </a:solidFill>
              </a:rPr>
              <a:t>• As estratégias consideram características socioeconômicas, atividades produtivas e perfil demográfico das comunidades.</a:t>
            </a:r>
          </a:p>
          <a:p>
            <a:pPr algn="just">
              <a:spcAft>
                <a:spcPts val="600"/>
              </a:spcAft>
            </a:pPr>
            <a:r>
              <a:rPr sz="2400" b="0">
                <a:solidFill>
                  <a:srgbClr val="404040"/>
                </a:solidFill>
              </a:rPr>
              <a:t>• Setorização de LEM em 1ª, 2ª e 3ª Cias; 4ª Cia destacada em São Desidério (sede, Roda Velha e Sítio Grande).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4" name="Google Shape;284;p25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900111" y="741362"/>
            <a:ext cx="1116806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pt-BR" sz="2800" b="0" i="0" u="none" strike="noStrike" cap="none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3c/3e – Mídias Sociais e Gestão Participativa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CLIENTES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TextBox 286"/>
          <p:cNvSpPr txBox="1"/>
          <p:nvPr/>
        </p:nvSpPr>
        <p:spPr>
          <a:xfrm>
            <a:off x="900112" y="1500000"/>
            <a:ext cx="109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sz="2400" b="0">
                <a:solidFill>
                  <a:srgbClr val="404040"/>
                </a:solidFill>
              </a:rPr>
              <a:t>• Interação contínua com partes interessadas e clientes por meio das mídias sociais institucionais (Instagram oficial).</a:t>
            </a:r>
          </a:p>
          <a:p>
            <a:pPr algn="just">
              <a:spcAft>
                <a:spcPts val="600"/>
              </a:spcAft>
            </a:pPr>
            <a:r>
              <a:rPr sz="2400" b="0">
                <a:solidFill>
                  <a:srgbClr val="404040"/>
                </a:solidFill>
              </a:rPr>
              <a:t>• Grupo de WhatsApp "NEWS 27º" para o encaminhamento organizado de publicações aos órgãos de imprensa.</a:t>
            </a:r>
          </a:p>
          <a:p>
            <a:pPr algn="just">
              <a:spcAft>
                <a:spcPts val="600"/>
              </a:spcAft>
            </a:pPr>
            <a:r>
              <a:rPr sz="2400" b="0">
                <a:solidFill>
                  <a:srgbClr val="404040"/>
                </a:solidFill>
              </a:rPr>
              <a:t>• WhatsApp funcional dos Coordenadores de Área para comunicação direta com atores estratégicos.</a:t>
            </a:r>
          </a:p>
          <a:p>
            <a:pPr algn="just">
              <a:spcAft>
                <a:spcPts val="600"/>
              </a:spcAft>
            </a:pPr>
            <a:r>
              <a:rPr sz="2400" b="0">
                <a:solidFill>
                  <a:srgbClr val="404040"/>
                </a:solidFill>
              </a:rPr>
              <a:t>• Elogios e críticas recebidos pelas mídias e em reuniões com conselhos, representantes de bairros e comerciantes alimentam o indicador de satisfação dos clientes (90% em 2025).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4" name="Google Shape;284;p25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900111" y="741362"/>
            <a:ext cx="1116806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pt-BR" sz="2800" b="0" i="0" u="none" strike="noStrike" cap="none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4a/4b – Requisitos Legais e Feitos Investigatórios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SOCIEDADE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TextBox 286"/>
          <p:cNvSpPr txBox="1"/>
          <p:nvPr/>
        </p:nvSpPr>
        <p:spPr>
          <a:xfrm>
            <a:off x="900112" y="1500000"/>
            <a:ext cx="109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sz="2000" b="0">
                <a:solidFill>
                  <a:srgbClr val="404040"/>
                </a:solidFill>
              </a:rPr>
              <a:t>• Acompanhamento das publicações nos sistemas oficiais; pendências encaminhadas ao Comandante ou Subcomandante para orientação, correção e responsabilização.</a:t>
            </a:r>
          </a:p>
          <a:p>
            <a:pPr algn="just">
              <a:spcAft>
                <a:spcPts val="600"/>
              </a:spcAft>
            </a:pPr>
            <a:r>
              <a:rPr sz="2000" b="0">
                <a:solidFill>
                  <a:srgbClr val="404040"/>
                </a:solidFill>
              </a:rPr>
              <a:t>• Instauração de Apuração Sumária, Sindicância, PDS, PAD ou IPM conforme a natureza e gravidade dos fatos.</a:t>
            </a:r>
          </a:p>
          <a:p>
            <a:pPr algn="just">
              <a:spcAft>
                <a:spcPts val="600"/>
              </a:spcAft>
            </a:pPr>
            <a:r>
              <a:rPr sz="2000" b="0">
                <a:solidFill>
                  <a:srgbClr val="404040"/>
                </a:solidFill>
              </a:rPr>
              <a:t>• Registro e acompanhamento dos feitos para identificar causas recorrentes e aperfeiçoar a prevenção.</a:t>
            </a:r>
          </a:p>
        </p:txBody>
      </p:sp>
      <p:graphicFrame>
        <p:nvGraphicFramePr>
          <p:cNvPr id="288" name="Table 287"/>
          <p:cNvGraphicFramePr>
            <a:graphicFrameLocks noGrp="1"/>
          </p:cNvGraphicFramePr>
          <p:nvPr/>
        </p:nvGraphicFramePr>
        <p:xfrm>
          <a:off x="2500000" y="3900000"/>
          <a:ext cx="7000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0000"/>
                <a:gridCol w="1800000"/>
                <a:gridCol w="1800000"/>
              </a:tblGrid>
              <a:tr h="300000">
                <a:tc>
                  <a:txBody>
                    <a:bodyPr/>
                    <a:lstStyle/>
                    <a:p>
                      <a:r>
                        <a:rPr sz="1200" b="1"/>
                        <a:t>Feitos investigatórios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200" b="1"/>
                        <a:t>2025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200" b="1"/>
                        <a:t>2026</a:t>
                      </a:r>
                    </a:p>
                  </a:txBody>
                  <a:tcPr marT="30000" marB="30000"/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0"/>
                        <a:t>Sindicância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200" b="0"/>
                        <a:t>6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200" b="0"/>
                        <a:t>3</a:t>
                      </a:r>
                    </a:p>
                  </a:txBody>
                  <a:tcPr marT="30000" marB="30000"/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0"/>
                        <a:t>PDS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200" b="0"/>
                        <a:t>5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200" b="0"/>
                        <a:t>2</a:t>
                      </a:r>
                    </a:p>
                  </a:txBody>
                  <a:tcPr marT="30000" marB="30000"/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0"/>
                        <a:t>IPM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200" b="0"/>
                        <a:t>4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 marT="30000" marB="30000"/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0"/>
                        <a:t>ITEC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200" b="0"/>
                        <a:t>4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200" b="0"/>
                        <a:t>1</a:t>
                      </a:r>
                    </a:p>
                  </a:txBody>
                  <a:tcPr marT="30000" marB="30000"/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0"/>
                        <a:t>VPI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200" b="0"/>
                        <a:t>2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 marT="30000" marB="30000"/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0"/>
                        <a:t>Baixa de autos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200" b="0"/>
                        <a:t>4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200" b="0"/>
                        <a:t>1</a:t>
                      </a:r>
                    </a:p>
                  </a:txBody>
                  <a:tcPr marT="30000" marB="30000"/>
                </a:tc>
              </a:tr>
              <a:tr h="300000">
                <a:tc>
                  <a:txBody>
                    <a:bodyPr/>
                    <a:lstStyle/>
                    <a:p>
                      <a:r>
                        <a:rPr sz="1200" b="1"/>
                        <a:t>TOTAL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200" b="1"/>
                        <a:t>25</a:t>
                      </a:r>
                    </a:p>
                  </a:txBody>
                  <a:tcPr marT="30000" marB="30000"/>
                </a:tc>
                <a:tc>
                  <a:txBody>
                    <a:bodyPr/>
                    <a:lstStyle/>
                    <a:p>
                      <a:r>
                        <a:rPr sz="1200" b="1"/>
                        <a:t>7</a:t>
                      </a:r>
                    </a:p>
                  </a:txBody>
                  <a:tcPr marT="30000" marB="30000"/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4" name="Google Shape;284;p25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900111" y="741362"/>
            <a:ext cx="1116806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pt-BR" sz="2800" b="0" i="0" u="none" strike="noStrike" cap="none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5d/6e – Capacitação e Difusão do Conhecimento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PESSOAS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TextBox 286"/>
          <p:cNvSpPr txBox="1"/>
          <p:nvPr/>
        </p:nvSpPr>
        <p:spPr>
          <a:xfrm>
            <a:off x="900112" y="1500000"/>
            <a:ext cx="109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sz="2400" b="1">
                <a:solidFill>
                  <a:srgbClr val="404040"/>
                </a:solidFill>
              </a:rPr>
              <a:t>Ciclo de treinamento do efetivo:</a:t>
            </a:r>
          </a:p>
          <a:p>
            <a:pPr algn="just">
              <a:spcAft>
                <a:spcPts val="600"/>
              </a:spcAft>
            </a:pPr>
            <a:r>
              <a:rPr sz="2400" b="0">
                <a:solidFill>
                  <a:srgbClr val="404040"/>
                </a:solidFill>
              </a:rPr>
              <a:t>Emprego Tático Operacional; Patrulhamento Rural; Tiro Policial; APH tático em combate; instrução para os PMs da Operação Safra.</a:t>
            </a:r>
          </a:p>
          <a:p>
            <a:pPr algn="just">
              <a:spcAft>
                <a:spcPts val="600"/>
              </a:spcAft>
            </a:pPr>
            <a:r>
              <a:rPr sz="2400" b="1">
                <a:solidFill>
                  <a:srgbClr val="404040"/>
                </a:solidFill>
              </a:rPr>
              <a:t>Programa de atualização técnico-profissional:</a:t>
            </a:r>
          </a:p>
          <a:p>
            <a:pPr algn="just">
              <a:spcAft>
                <a:spcPts val="600"/>
              </a:spcAft>
            </a:pPr>
            <a:r>
              <a:rPr sz="2400" b="0">
                <a:solidFill>
                  <a:srgbClr val="404040"/>
                </a:solidFill>
              </a:rPr>
              <a:t>Vagas reservadas aos líderes, com observação de iniciativa, proatividade e camaradagem. Oficiais participaram do curso de gestão da qualidade, do mestrado da UFBA em Segurança Pública, do CGLog e do Curso de Gestão de TIC da PMBA.</a:t>
            </a:r>
          </a:p>
          <a:p>
            <a:pPr algn="just">
              <a:spcAft>
                <a:spcPts val="600"/>
              </a:spcAft>
            </a:pPr>
            <a:r>
              <a:rPr sz="2400" b="1">
                <a:solidFill>
                  <a:srgbClr val="404040"/>
                </a:solidFill>
              </a:rPr>
              <a:t>2026:</a:t>
            </a:r>
          </a:p>
          <a:p>
            <a:pPr algn="just">
              <a:spcAft>
                <a:spcPts val="600"/>
              </a:spcAft>
            </a:pPr>
            <a:r>
              <a:rPr sz="2400" b="0">
                <a:solidFill>
                  <a:srgbClr val="404040"/>
                </a:solidFill>
              </a:rPr>
              <a:t>Instrução com Fuzil ARAD 7; Curso Básico de Motociclista Policial; Curso Básico de Emprego Tático Operacional.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4" name="Google Shape;284;p25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900111" y="741362"/>
            <a:ext cx="1116806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pt-BR" sz="2800" b="0" i="0" u="none" strike="noStrike" cap="none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6c/6d – Avaliação e Reconhecimento das Pessoas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PESSOAS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TextBox 286"/>
          <p:cNvSpPr txBox="1"/>
          <p:nvPr/>
        </p:nvSpPr>
        <p:spPr>
          <a:xfrm>
            <a:off x="900112" y="1500000"/>
            <a:ext cx="109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sz="2400" b="0">
                <a:solidFill>
                  <a:srgbClr val="404040"/>
                </a:solidFill>
              </a:rPr>
              <a:t>• Fichas de Conceito e de Informações para Promoção, avaliadas pela Comissão de Avaliação de Desempenho (Comandante, Subcomandante, chefes da CPOI e da CAA e um representante do mesmo posto ou graduação).</a:t>
            </a:r>
          </a:p>
          <a:p>
            <a:pPr algn="just">
              <a:spcAft>
                <a:spcPts val="600"/>
              </a:spcAft>
            </a:pPr>
            <a:r>
              <a:rPr sz="2400" b="0">
                <a:solidFill>
                  <a:srgbClr val="404040"/>
                </a:solidFill>
              </a:rPr>
              <a:t>• Ranking Operacional: acompanha produtividade e participação nas atividades operacionais e administrativas.</a:t>
            </a:r>
          </a:p>
          <a:p>
            <a:pPr algn="just">
              <a:spcAft>
                <a:spcPts val="600"/>
              </a:spcAft>
            </a:pPr>
            <a:r>
              <a:rPr sz="2400" b="0">
                <a:solidFill>
                  <a:srgbClr val="404040"/>
                </a:solidFill>
              </a:rPr>
              <a:t>• Prêmio Policial Padrão: eleição mensal e anual, com participação voluntária do efetivo, considerando desempenho, comprometimento, disciplina e iniciativa.</a:t>
            </a:r>
          </a:p>
          <a:p>
            <a:pPr algn="just">
              <a:spcAft>
                <a:spcPts val="600"/>
              </a:spcAft>
            </a:pPr>
            <a:r>
              <a:rPr sz="2400" b="0">
                <a:solidFill>
                  <a:srgbClr val="404040"/>
                </a:solidFill>
              </a:rPr>
              <a:t>• 6a/6b: alocação por habilidade e aptidão, e apresentação institucional aos recém-transferidos (missão, visão, valores e rotinas).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4" name="Google Shape;284;p25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900111" y="741362"/>
            <a:ext cx="1116806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pt-BR" sz="2800" b="0" i="0" u="none" strike="noStrike" cap="none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6f – Segurança e Saúde no Trabalho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PESSOAS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TextBox 286"/>
          <p:cNvSpPr txBox="1"/>
          <p:nvPr/>
        </p:nvSpPr>
        <p:spPr>
          <a:xfrm>
            <a:off x="900112" y="1500000"/>
            <a:ext cx="109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sz="2600" b="0">
                <a:solidFill>
                  <a:srgbClr val="404040"/>
                </a:solidFill>
              </a:rPr>
              <a:t>O contato direto dos oficiais com a tropa identifica policiais que necessitam de cuidados. Eles são encaminhados para conversa com o Comandante (triagem) e para tratamento.</a:t>
            </a:r>
          </a:p>
          <a:p>
            <a:pPr algn="just">
              <a:spcAft>
                <a:spcPts val="600"/>
              </a:spcAft>
            </a:pPr>
            <a:r>
              <a:rPr sz="2600" b="1">
                <a:solidFill>
                  <a:srgbClr val="404040"/>
                </a:solidFill>
              </a:rPr>
              <a:t>Projeto Saúde no Quartel (biênio 2026/2027):</a:t>
            </a:r>
          </a:p>
          <a:p>
            <a:pPr algn="just">
              <a:spcAft>
                <a:spcPts val="600"/>
              </a:spcAft>
            </a:pPr>
            <a:r>
              <a:rPr sz="2600" b="0">
                <a:solidFill>
                  <a:srgbClr val="404040"/>
                </a:solidFill>
              </a:rPr>
              <a:t>Implantação de um circuito de treinamento físico básico nas dependências do 27º BPM para promover a saúde física e mental, o condicionamento e a qualidade de vida.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4" name="Google Shape;284;p25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900111" y="741362"/>
            <a:ext cx="1116806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pt-BR" sz="2800" b="0" i="0" u="none" strike="noStrike" cap="none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5a/5b/5c – Informações e Conhecimento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INFORMAÇÕES E CONHECIMENTO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TextBox 286"/>
          <p:cNvSpPr txBox="1"/>
          <p:nvPr/>
        </p:nvSpPr>
        <p:spPr>
          <a:xfrm>
            <a:off x="900112" y="1500000"/>
            <a:ext cx="109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sz="2600" b="0">
                <a:solidFill>
                  <a:srgbClr val="404040"/>
                </a:solidFill>
              </a:rPr>
              <a:t>• 5a: reunião com os setores administrativos para identificar as necessidades de informação.</a:t>
            </a:r>
          </a:p>
          <a:p>
            <a:pPr algn="just">
              <a:spcAft>
                <a:spcPts val="600"/>
              </a:spcAft>
            </a:pPr>
            <a:r>
              <a:rPr sz="2600" b="0">
                <a:solidFill>
                  <a:srgbClr val="404040"/>
                </a:solidFill>
              </a:rPr>
              <a:t>• 5b: sistemas utilizados – SIGESPOL (escalas, permutas, frota), SEI, Portal RH Bahia, SAP GUI (RH Bahia) e Portal de Facilidades (Office 365).</a:t>
            </a:r>
          </a:p>
          <a:p>
            <a:pPr algn="just">
              <a:spcAft>
                <a:spcPts val="600"/>
              </a:spcAft>
            </a:pPr>
            <a:r>
              <a:rPr sz="2600" b="0">
                <a:solidFill>
                  <a:srgbClr val="404040"/>
                </a:solidFill>
              </a:rPr>
              <a:t>• 5c: acesso aos sistemas mediante senha pessoal, com capacitação dos usuários.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4" name="Google Shape;284;p25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900111" y="741362"/>
            <a:ext cx="1116806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pt-BR" sz="2800" b="0" i="0" u="none" strike="noStrike" cap="none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7a/7b/7c – Gestão dos Processos da Cadeia de Valor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PROCESSOS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TextBox 286"/>
          <p:cNvSpPr txBox="1"/>
          <p:nvPr/>
        </p:nvSpPr>
        <p:spPr>
          <a:xfrm>
            <a:off x="900112" y="1500000"/>
            <a:ext cx="109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sz="2600" b="0">
                <a:solidFill>
                  <a:srgbClr val="404040"/>
                </a:solidFill>
              </a:rPr>
              <a:t>• 7a: requisitos levantados em reuniões com partes interessadas e traduzidos em Ordens de Policiamento Ostensivo (OPO).</a:t>
            </a:r>
          </a:p>
          <a:p>
            <a:pPr algn="just">
              <a:spcAft>
                <a:spcPts val="600"/>
              </a:spcAft>
            </a:pPr>
            <a:r>
              <a:rPr sz="2600" b="0">
                <a:solidFill>
                  <a:srgbClr val="404040"/>
                </a:solidFill>
              </a:rPr>
              <a:t>• 7b: relatório de serviço; atendimentos seguem os POP e as não conformidades são sanadas pelo Coordenador de Área ou oficial de maior posto.</a:t>
            </a:r>
          </a:p>
          <a:p>
            <a:pPr algn="just">
              <a:spcAft>
                <a:spcPts val="600"/>
              </a:spcAft>
            </a:pPr>
            <a:r>
              <a:rPr sz="2600" b="0">
                <a:solidFill>
                  <a:srgbClr val="404040"/>
                </a:solidFill>
              </a:rPr>
              <a:t>• 7c: reunião com o staff, com gestão de riscos e plano de ação acompanhado pelo Subcomandante.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4" name="Google Shape;284;p25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900111" y="741362"/>
            <a:ext cx="1116806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pt-BR" sz="2800" b="0" i="0" u="none" strike="noStrike" cap="none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7d/7e – Fornecedores e Orçamento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PROCESSOS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TextBox 286"/>
          <p:cNvSpPr txBox="1"/>
          <p:nvPr/>
        </p:nvSpPr>
        <p:spPr>
          <a:xfrm>
            <a:off x="900112" y="1500000"/>
            <a:ext cx="10900000" cy="4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sz="2600" b="0">
                <a:solidFill>
                  <a:srgbClr val="404040"/>
                </a:solidFill>
              </a:rPr>
              <a:t>• A qualificação dos fornecedores cabe à Unidade Gestora (CPR-O), subsidiada pela OPM com informações sobre a qualidade de produtos e serviços.</a:t>
            </a:r>
          </a:p>
          <a:p>
            <a:pPr algn="just">
              <a:spcAft>
                <a:spcPts val="600"/>
              </a:spcAft>
            </a:pPr>
            <a:r>
              <a:rPr sz="2600" b="0">
                <a:solidFill>
                  <a:srgbClr val="404040"/>
                </a:solidFill>
              </a:rPr>
              <a:t>• Pesquisa de preços antes das compras pelo cartão corporativo; avaliação de prazo de entrega, pós-venda e tempo de resposta de oficina e manutenção de ar-condicionado.</a:t>
            </a:r>
          </a:p>
          <a:p>
            <a:pPr algn="just">
              <a:spcAft>
                <a:spcPts val="600"/>
              </a:spcAft>
            </a:pPr>
            <a:r>
              <a:rPr sz="2600" b="0">
                <a:solidFill>
                  <a:srgbClr val="404040"/>
                </a:solidFill>
              </a:rPr>
              <a:t>• Execução orçamentária conforme disponibilidade mensal, com controle patrimonial e plano de compras.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4" name="Google Shape;284;p25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900111" y="741362"/>
            <a:ext cx="1116806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pt-BR" sz="2800" b="0" i="0" u="none" strike="noStrike" cap="none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8.A – Controle Patrimonial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RESULTADOS – ECONÔMICO-FINANCEIROS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TextBox 286"/>
          <p:cNvSpPr txBox="1"/>
          <p:nvPr/>
        </p:nvSpPr>
        <p:spPr>
          <a:xfrm>
            <a:off x="900112" y="1600000"/>
            <a:ext cx="50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sz="2000" b="0">
                <a:solidFill>
                  <a:srgbClr val="404040"/>
                </a:solidFill>
              </a:rPr>
              <a:t>Percentual de bens permanentes controlados conforme as normas do Estado, reduzindo não conformidades apontadas pelo TCE. Fórmula: [(∑BU − ∑NC) / ∑BU] × 100. Prática 7e.</a:t>
            </a:r>
          </a:p>
          <a:p>
            <a:pPr algn="just">
              <a:spcAft>
                <a:spcPts val="600"/>
              </a:spcAft>
            </a:pPr>
            <a:r>
              <a:rPr sz="2000" b="1">
                <a:solidFill>
                  <a:srgbClr val="404040"/>
                </a:solidFill>
              </a:rPr>
              <a:t>Meta: ≥ 93%  •  Referencial (2024): 99%  •  Parte interessada: 93%</a:t>
            </a:r>
          </a:p>
          <a:p>
            <a:pPr algn="just">
              <a:spcAft>
                <a:spcPts val="600"/>
              </a:spcAft>
            </a:pPr>
            <a:r>
              <a:rPr sz="2000" b="0">
                <a:solidFill>
                  <a:srgbClr val="404040"/>
                </a:solidFill>
              </a:rPr>
              <a:t>Favorabilidade: ↑   •   Periodicidade: anual</a:t>
            </a:r>
          </a:p>
        </p:txBody>
      </p:sp>
      <p:graphicFrame>
        <p:nvGraphicFramePr>
          <p:cNvPr id="288" name="Chart 287"/>
          <p:cNvGraphicFramePr>
            <a:graphicFrameLocks noGrp="1"/>
          </p:cNvGraphicFramePr>
          <p:nvPr/>
        </p:nvGraphicFramePr>
        <p:xfrm>
          <a:off x="6200000" y="1500000"/>
          <a:ext cx="5600000" cy="47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4" name="Google Shape;284;p25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900111" y="741362"/>
            <a:ext cx="1116806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pt-BR" sz="2800" b="0" i="0" u="none" strike="noStrike" cap="none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8.B – Consumo per capita de Energia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RESULTADOS – SOCIAIS E AMBIENTAIS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TextBox 286"/>
          <p:cNvSpPr txBox="1"/>
          <p:nvPr/>
        </p:nvSpPr>
        <p:spPr>
          <a:xfrm>
            <a:off x="900112" y="1600000"/>
            <a:ext cx="50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sz="2000" b="0">
                <a:solidFill>
                  <a:srgbClr val="404040"/>
                </a:solidFill>
              </a:rPr>
              <a:t>Consumo de energia do quartel dividido pelo efetivo atualizado. Redução de 26,7% de 2024 para 2025. Prática 4c, com parceria para manutenção dos condicionadores de ar.</a:t>
            </a:r>
          </a:p>
          <a:p>
            <a:pPr algn="just">
              <a:spcAft>
                <a:spcPts val="600"/>
              </a:spcAft>
            </a:pPr>
            <a:r>
              <a:rPr sz="2000" b="1">
                <a:solidFill>
                  <a:srgbClr val="404040"/>
                </a:solidFill>
              </a:rPr>
              <a:t>Meta: redução de 10% ao ano  •  Referencial (2024): 541,28</a:t>
            </a:r>
          </a:p>
          <a:p>
            <a:pPr algn="just">
              <a:spcAft>
                <a:spcPts val="600"/>
              </a:spcAft>
            </a:pPr>
            <a:r>
              <a:rPr sz="2000" b="0">
                <a:solidFill>
                  <a:srgbClr val="404040"/>
                </a:solidFill>
              </a:rPr>
              <a:t>Favorabilidade: ↓   •   Periodicidade: anual</a:t>
            </a:r>
          </a:p>
        </p:txBody>
      </p:sp>
      <p:graphicFrame>
        <p:nvGraphicFramePr>
          <p:cNvPr id="288" name="Chart 287"/>
          <p:cNvGraphicFramePr>
            <a:graphicFrameLocks noGrp="1"/>
          </p:cNvGraphicFramePr>
          <p:nvPr/>
        </p:nvGraphicFramePr>
        <p:xfrm>
          <a:off x="6200000" y="1500000"/>
          <a:ext cx="5600000" cy="47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4" name="Google Shape;284;p25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900111" y="741362"/>
            <a:ext cx="1116806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pt-BR" sz="2800" b="0" i="0" u="none" strike="noStrike" cap="none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8.C – Satisfação dos CONSEGs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RESULTADOS – CLIENTES E MERCADOS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TextBox 286"/>
          <p:cNvSpPr txBox="1"/>
          <p:nvPr/>
        </p:nvSpPr>
        <p:spPr>
          <a:xfrm>
            <a:off x="900112" y="1600000"/>
            <a:ext cx="50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sz="2000" b="0">
                <a:solidFill>
                  <a:srgbClr val="404040"/>
                </a:solidFill>
              </a:rPr>
              <a:t>Grau de satisfação dos CONSEGs de LEM e Roda Velha, medido por questionário de avaliação do atendimento das demandas. Prática 3b.</a:t>
            </a:r>
          </a:p>
          <a:p>
            <a:pPr algn="just">
              <a:spcAft>
                <a:spcPts val="600"/>
              </a:spcAft>
            </a:pPr>
            <a:r>
              <a:rPr sz="2000" b="1">
                <a:solidFill>
                  <a:srgbClr val="404040"/>
                </a:solidFill>
              </a:rPr>
              <a:t>Meta: 100%  •  Referencial (2024): 100%</a:t>
            </a:r>
          </a:p>
          <a:p>
            <a:pPr algn="just">
              <a:spcAft>
                <a:spcPts val="600"/>
              </a:spcAft>
            </a:pPr>
            <a:r>
              <a:rPr sz="2000" b="0">
                <a:solidFill>
                  <a:srgbClr val="404040"/>
                </a:solidFill>
              </a:rPr>
              <a:t>Favorabilidade: →   •   Periodicidade: anual</a:t>
            </a:r>
          </a:p>
        </p:txBody>
      </p:sp>
      <p:graphicFrame>
        <p:nvGraphicFramePr>
          <p:cNvPr id="288" name="Chart 287"/>
          <p:cNvGraphicFramePr>
            <a:graphicFrameLocks noGrp="1"/>
          </p:cNvGraphicFramePr>
          <p:nvPr/>
        </p:nvGraphicFramePr>
        <p:xfrm>
          <a:off x="6200000" y="1500000"/>
          <a:ext cx="5600000" cy="47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4" name="Google Shape;284;p25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900111" y="741362"/>
            <a:ext cx="1116806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pt-BR" sz="2800" b="0" i="0" u="none" strike="noStrike" cap="none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8.C – Feedback às Denúncias (Ouvidoria)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RESULTADOS – CLIENTES E MERCADOS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TextBox 286"/>
          <p:cNvSpPr txBox="1"/>
          <p:nvPr/>
        </p:nvSpPr>
        <p:spPr>
          <a:xfrm>
            <a:off x="900112" y="1600000"/>
            <a:ext cx="50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sz="2000" b="0">
                <a:solidFill>
                  <a:srgbClr val="404040"/>
                </a:solidFill>
              </a:rPr>
              <a:t>Percentual de denúncias recebidas que tiveram resposta. Fórmula: (∑Resp / ∑Den) × 100. Prática 3d.</a:t>
            </a:r>
          </a:p>
          <a:p>
            <a:pPr algn="just">
              <a:spcAft>
                <a:spcPts val="600"/>
              </a:spcAft>
            </a:pPr>
            <a:r>
              <a:rPr sz="2000" b="1">
                <a:solidFill>
                  <a:srgbClr val="404040"/>
                </a:solidFill>
              </a:rPr>
              <a:t>Meta: 100%  •  Referencial (2024): 100%</a:t>
            </a:r>
          </a:p>
          <a:p>
            <a:pPr algn="just">
              <a:spcAft>
                <a:spcPts val="600"/>
              </a:spcAft>
            </a:pPr>
            <a:r>
              <a:rPr sz="2000" b="0">
                <a:solidFill>
                  <a:srgbClr val="404040"/>
                </a:solidFill>
              </a:rPr>
              <a:t>Favorabilidade: →   •   Periodicidade: anual</a:t>
            </a:r>
          </a:p>
        </p:txBody>
      </p:sp>
      <p:graphicFrame>
        <p:nvGraphicFramePr>
          <p:cNvPr id="288" name="Chart 287"/>
          <p:cNvGraphicFramePr>
            <a:graphicFrameLocks noGrp="1"/>
          </p:cNvGraphicFramePr>
          <p:nvPr/>
        </p:nvGraphicFramePr>
        <p:xfrm>
          <a:off x="6200000" y="1500000"/>
          <a:ext cx="5600000" cy="47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4" name="Google Shape;284;p25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900111" y="741362"/>
            <a:ext cx="1116806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pt-BR" sz="2800" b="0" i="0" u="none" strike="noStrike" cap="none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8.C – Satisfação dos Clientes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RESULTADOS – CLIENTES E MERCADOS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TextBox 286"/>
          <p:cNvSpPr txBox="1"/>
          <p:nvPr/>
        </p:nvSpPr>
        <p:spPr>
          <a:xfrm>
            <a:off x="900112" y="1600000"/>
            <a:ext cx="50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sz="2000" b="0">
                <a:solidFill>
                  <a:srgbClr val="404040"/>
                </a:solidFill>
              </a:rPr>
              <a:t>Percentual de comentários positivos nas reuniões com grupos sociais, no Instagram oficial e na imprensa local. Fórmula: (∑CP / ∑TC) × 100. Prática 3e.</a:t>
            </a:r>
          </a:p>
          <a:p>
            <a:pPr algn="just">
              <a:spcAft>
                <a:spcPts val="600"/>
              </a:spcAft>
            </a:pPr>
            <a:r>
              <a:rPr sz="2000" b="1">
                <a:solidFill>
                  <a:srgbClr val="404040"/>
                </a:solidFill>
              </a:rPr>
              <a:t>Meta: aumento de 10%  •  Referencial (2024): 80%</a:t>
            </a:r>
          </a:p>
          <a:p>
            <a:pPr algn="just">
              <a:spcAft>
                <a:spcPts val="600"/>
              </a:spcAft>
            </a:pPr>
            <a:r>
              <a:rPr sz="2000" b="0">
                <a:solidFill>
                  <a:srgbClr val="404040"/>
                </a:solidFill>
              </a:rPr>
              <a:t>Favorabilidade: ↑   •   Periodicidade: anual</a:t>
            </a:r>
          </a:p>
        </p:txBody>
      </p:sp>
      <p:graphicFrame>
        <p:nvGraphicFramePr>
          <p:cNvPr id="288" name="Chart 287"/>
          <p:cNvGraphicFramePr>
            <a:graphicFrameLocks noGrp="1"/>
          </p:cNvGraphicFramePr>
          <p:nvPr/>
        </p:nvGraphicFramePr>
        <p:xfrm>
          <a:off x="6200000" y="1500000"/>
          <a:ext cx="5600000" cy="47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4" name="Google Shape;284;p25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900111" y="741362"/>
            <a:ext cx="1116806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pt-BR" sz="2800" b="0" i="0" u="none" strike="noStrike" cap="none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8.D – Policiais com Conceito "E"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RESULTADOS – PESSOAS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TextBox 286"/>
          <p:cNvSpPr txBox="1"/>
          <p:nvPr/>
        </p:nvSpPr>
        <p:spPr>
          <a:xfrm>
            <a:off x="900112" y="1600000"/>
            <a:ext cx="50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sz="2000" b="0">
                <a:solidFill>
                  <a:srgbClr val="404040"/>
                </a:solidFill>
              </a:rPr>
              <a:t>Percentual de fichas de conceito com nota máxima, definidas pela Comissão de Avaliação de Desempenho do 27º BPM. Prática 6c.</a:t>
            </a:r>
          </a:p>
          <a:p>
            <a:pPr algn="just">
              <a:spcAft>
                <a:spcPts val="600"/>
              </a:spcAft>
            </a:pPr>
            <a:r>
              <a:rPr sz="2000" b="1">
                <a:solidFill>
                  <a:srgbClr val="404040"/>
                </a:solidFill>
              </a:rPr>
              <a:t>Meta: manter 100%  •  Referencial (2024): 100%</a:t>
            </a:r>
          </a:p>
          <a:p>
            <a:pPr algn="just">
              <a:spcAft>
                <a:spcPts val="600"/>
              </a:spcAft>
            </a:pPr>
            <a:r>
              <a:rPr sz="2000" b="0">
                <a:solidFill>
                  <a:srgbClr val="404040"/>
                </a:solidFill>
              </a:rPr>
              <a:t>Favorabilidade: →   •   Periodicidade: anual</a:t>
            </a:r>
          </a:p>
        </p:txBody>
      </p:sp>
      <p:graphicFrame>
        <p:nvGraphicFramePr>
          <p:cNvPr id="288" name="Chart 287"/>
          <p:cNvGraphicFramePr>
            <a:graphicFrameLocks noGrp="1"/>
          </p:cNvGraphicFramePr>
          <p:nvPr/>
        </p:nvGraphicFramePr>
        <p:xfrm>
          <a:off x="6200000" y="1500000"/>
          <a:ext cx="5600000" cy="47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4" name="Google Shape;284;p25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900111" y="741362"/>
            <a:ext cx="1116806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pt-BR" sz="2800" b="0" i="0" u="none" strike="noStrike" cap="none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8.E – Metas Alcançadas do PGA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RESULTADOS – PROCESSOS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TextBox 286"/>
          <p:cNvSpPr txBox="1"/>
          <p:nvPr/>
        </p:nvSpPr>
        <p:spPr>
          <a:xfrm>
            <a:off x="900112" y="1600000"/>
            <a:ext cx="50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sz="2000" b="0">
                <a:solidFill>
                  <a:srgbClr val="404040"/>
                </a:solidFill>
              </a:rPr>
              <a:t>Percentual de metas alcançadas entre as estabelecidas no Plano de Gestão Anual. Fórmula: (∑MA / ∑TM) × 100. Prática 2d.</a:t>
            </a:r>
          </a:p>
          <a:p>
            <a:pPr algn="just">
              <a:spcAft>
                <a:spcPts val="600"/>
              </a:spcAft>
            </a:pPr>
            <a:r>
              <a:rPr sz="2000" b="1">
                <a:solidFill>
                  <a:srgbClr val="404040"/>
                </a:solidFill>
              </a:rPr>
              <a:t>Meta: aumento de 10%  •  Referencial (2024): 50%</a:t>
            </a:r>
          </a:p>
          <a:p>
            <a:pPr algn="just">
              <a:spcAft>
                <a:spcPts val="600"/>
              </a:spcAft>
            </a:pPr>
            <a:r>
              <a:rPr sz="2000" b="0">
                <a:solidFill>
                  <a:srgbClr val="404040"/>
                </a:solidFill>
              </a:rPr>
              <a:t>Favorabilidade: ↑   •   Periodicidade: anual</a:t>
            </a:r>
          </a:p>
        </p:txBody>
      </p:sp>
      <p:graphicFrame>
        <p:nvGraphicFramePr>
          <p:cNvPr id="288" name="Chart 287"/>
          <p:cNvGraphicFramePr>
            <a:graphicFrameLocks noGrp="1"/>
          </p:cNvGraphicFramePr>
          <p:nvPr/>
        </p:nvGraphicFramePr>
        <p:xfrm>
          <a:off x="6200000" y="1500000"/>
          <a:ext cx="5600000" cy="47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4" name="Google Shape;284;p25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900111" y="741362"/>
            <a:ext cx="1116806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pt-BR" sz="2800" b="0" i="0" u="none" strike="noStrike" cap="none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8.E – Satisfação com Produtos Adquiridos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RESULTADOS – PROCESSOS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TextBox 286"/>
          <p:cNvSpPr txBox="1"/>
          <p:nvPr/>
        </p:nvSpPr>
        <p:spPr>
          <a:xfrm>
            <a:off x="900112" y="1600000"/>
            <a:ext cx="50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sz="2000" b="0">
                <a:solidFill>
                  <a:srgbClr val="404040"/>
                </a:solidFill>
              </a:rPr>
              <a:t>Grau de satisfação com os produtos adquiridos pelo CPR-O, Unidade Gestora do 27º BPM. Fórmula: (∑CQS / ∑TC) × 100. Prática 7d.</a:t>
            </a:r>
          </a:p>
          <a:p>
            <a:pPr algn="just">
              <a:spcAft>
                <a:spcPts val="600"/>
              </a:spcAft>
            </a:pPr>
            <a:r>
              <a:rPr sz="2000" b="1">
                <a:solidFill>
                  <a:srgbClr val="404040"/>
                </a:solidFill>
              </a:rPr>
              <a:t>Meta: aumento de 10%  •  Referencial (2024): 60%</a:t>
            </a:r>
          </a:p>
          <a:p>
            <a:pPr algn="just">
              <a:spcAft>
                <a:spcPts val="600"/>
              </a:spcAft>
            </a:pPr>
            <a:r>
              <a:rPr sz="2000" b="0">
                <a:solidFill>
                  <a:srgbClr val="404040"/>
                </a:solidFill>
              </a:rPr>
              <a:t>Favorabilidade: ↑   •   Periodicidade: anual</a:t>
            </a:r>
          </a:p>
        </p:txBody>
      </p:sp>
      <p:graphicFrame>
        <p:nvGraphicFramePr>
          <p:cNvPr id="288" name="Chart 287"/>
          <p:cNvGraphicFramePr>
            <a:graphicFrameLocks noGrp="1"/>
          </p:cNvGraphicFramePr>
          <p:nvPr/>
        </p:nvGraphicFramePr>
        <p:xfrm>
          <a:off x="6200000" y="1500000"/>
          <a:ext cx="5600000" cy="47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84" name="Google Shape;284;p25"/>
          <p:cNvSpPr/>
          <p:nvPr/>
        </p:nvSpPr>
        <p:spPr>
          <a:xfrm>
            <a:off x="0" y="0"/>
            <a:ext cx="501353" cy="6858000"/>
          </a:xfrm>
          <a:prstGeom prst="rect">
            <a:avLst/>
          </a:prstGeom>
          <a:gradFill>
            <a:gsLst>
              <a:gs pos="0">
                <a:schemeClr val="dk1"/>
              </a:gs>
              <a:gs pos="11000">
                <a:schemeClr val="dk1"/>
              </a:gs>
              <a:gs pos="38000">
                <a:srgbClr val="A57C00"/>
              </a:gs>
              <a:gs pos="69000">
                <a:srgbClr val="BF9000"/>
              </a:gs>
              <a:gs pos="90000">
                <a:schemeClr val="accent4"/>
              </a:gs>
              <a:gs pos="100000">
                <a:schemeClr val="accent4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 txBox="1"/>
          <p:nvPr/>
        </p:nvSpPr>
        <p:spPr>
          <a:xfrm>
            <a:off x="900111" y="741362"/>
            <a:ext cx="1116806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800"/>
              <a:buFont typeface="Arial Black"/>
              <a:buNone/>
            </a:pPr>
            <a:r>
              <a:rPr lang="pt-BR" sz="2800" b="0" i="0" u="none" strike="noStrike" cap="none" dirty="0">
                <a:solidFill>
                  <a:srgbClr val="595959"/>
                </a:solidFill>
                <a:latin typeface="Arial Black"/>
                <a:ea typeface="Arial Black"/>
                <a:cs typeface="Arial Black"/>
                <a:sym typeface="Arial Black"/>
              </a:rPr>
              <a:t>8.E – Correção de Quesitos Negativos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 txBox="1"/>
          <p:nvPr/>
        </p:nvSpPr>
        <p:spPr>
          <a:xfrm rot="-5400000">
            <a:off x="-2432050" y="3302000"/>
            <a:ext cx="5365750" cy="2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RESULTADOS – PROCESSOS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TextBox 286"/>
          <p:cNvSpPr txBox="1"/>
          <p:nvPr/>
        </p:nvSpPr>
        <p:spPr>
          <a:xfrm>
            <a:off x="900112" y="1600000"/>
            <a:ext cx="5000000" cy="4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sz="2000" b="0">
                <a:solidFill>
                  <a:srgbClr val="404040"/>
                </a:solidFill>
              </a:rPr>
              <a:t>Percentual de quesitos negativos apontados na Reunião de Avaliação Anual do ano anterior e corrigidos no ano corrente. Prática 1g.</a:t>
            </a:r>
          </a:p>
          <a:p>
            <a:pPr algn="just">
              <a:spcAft>
                <a:spcPts val="600"/>
              </a:spcAft>
            </a:pPr>
            <a:r>
              <a:rPr sz="2000" b="1">
                <a:solidFill>
                  <a:srgbClr val="404040"/>
                </a:solidFill>
              </a:rPr>
              <a:t>Meta: aumento de 10%  •  Referencial (2024): 80%</a:t>
            </a:r>
          </a:p>
          <a:p>
            <a:pPr algn="just">
              <a:spcAft>
                <a:spcPts val="600"/>
              </a:spcAft>
            </a:pPr>
            <a:r>
              <a:rPr sz="2000" b="0">
                <a:solidFill>
                  <a:srgbClr val="404040"/>
                </a:solidFill>
              </a:rPr>
              <a:t>Favorabilidade: ↑   •   Periodicidade: anual</a:t>
            </a:r>
          </a:p>
        </p:txBody>
      </p:sp>
      <p:graphicFrame>
        <p:nvGraphicFramePr>
          <p:cNvPr id="288" name="Chart 287"/>
          <p:cNvGraphicFramePr>
            <a:graphicFrameLocks noGrp="1"/>
          </p:cNvGraphicFramePr>
          <p:nvPr/>
        </p:nvGraphicFramePr>
        <p:xfrm>
          <a:off x="6200000" y="1500000"/>
          <a:ext cx="5600000" cy="47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1_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4_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2957</Words>
  <Application>Microsoft Office PowerPoint</Application>
  <PresentationFormat>Widescreen</PresentationFormat>
  <Paragraphs>416</Paragraphs>
  <Slides>34</Slides>
  <Notes>34</Notes>
  <HiddenSlides>1</HiddenSlides>
  <MMClips>0</MMClips>
  <ScaleCrop>false</ScaleCrop>
  <HeadingPairs>
    <vt:vector size="8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43" baseType="lpstr">
      <vt:lpstr>Arial</vt:lpstr>
      <vt:lpstr>Times New Roman</vt:lpstr>
      <vt:lpstr>Arial Black</vt:lpstr>
      <vt:lpstr>Noto Sans Symbols</vt:lpstr>
      <vt:lpstr>Calibri</vt:lpstr>
      <vt:lpstr>Open Sans Light</vt:lpstr>
      <vt:lpstr>1_Tema do Office</vt:lpstr>
      <vt:lpstr>4_Tema do Office</vt:lpstr>
      <vt:lpstr>Gráfico do Microsoft Excel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User</dc:creator>
  <cp:lastModifiedBy>User</cp:lastModifiedBy>
  <cp:revision>4</cp:revision>
  <dcterms:created xsi:type="dcterms:W3CDTF">2023-07-10T20:56:32Z</dcterms:created>
  <dcterms:modified xsi:type="dcterms:W3CDTF">2024-11-06T12:12:51Z</dcterms:modified>
</cp:coreProperties>
</file>