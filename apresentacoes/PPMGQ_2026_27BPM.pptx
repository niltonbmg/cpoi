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drawings/vmlDrawing1.vml" ContentType="application/vnd.openxmlformats-officedocument.vmlDrawing"/>
  <Override PartName="/ppt/embeddings/oleObject1.bin" ContentType="application/vnd.openxmlformats-officedocument.oleObject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  <p:sldMasterId id="2147483650" r:id="rId2"/>
  </p:sldMasterIdLst>
  <p:notesMasterIdLst>
    <p:notesMasterId r:id="rId37"/>
  </p:notesMasterIdLst>
  <p:sldIdLst>
    <p:sldId id="256" r:id="rId3"/>
    <p:sldId id="259" r:id="rId4"/>
    <p:sldId id="261" r:id="rId5"/>
    <p:sldId id="262" r:id="rId6"/>
    <p:sldId id="263" r:id="rId7"/>
    <p:sldId id="267" r:id="rId8"/>
    <p:sldId id="268" r:id="rId9"/>
    <p:sldId id="266" r:id="rId10"/>
    <p:sldId id="265" r:id="rId11"/>
    <p:sldId id="270" r:id="rId12"/>
    <p:sldId id="272" r:id="rId13"/>
    <p:sldId id="274" r:id="rId14"/>
    <p:sldId id="275" r:id="rId15"/>
    <p:sldId id="276" r:id="rId16"/>
    <p:sldId id="277" r:id="rId17"/>
    <p:sldId id="278" r:id="rId18"/>
    <p:sldId id="279" r:id="rId19"/>
    <p:sldId id="280" r:id="rId20"/>
    <p:sldId id="281" r:id="rId21"/>
    <p:sldId id="302" r:id="rId53"/>
    <p:sldId id="283" r:id="rId22"/>
    <p:sldId id="285" r:id="rId23"/>
    <p:sldId id="291" r:id="rId24"/>
    <p:sldId id="289" r:id="rId25"/>
    <p:sldId id="292" r:id="rId26"/>
    <p:sldId id="293" r:id="rId27"/>
    <p:sldId id="294" r:id="rId28"/>
    <p:sldId id="295" r:id="rId29"/>
    <p:sldId id="300" r:id="rId30"/>
    <p:sldId id="287" r:id="rId31"/>
    <p:sldId id="296" r:id="rId32"/>
    <p:sldId id="301" r:id="rId33"/>
    <p:sldId id="298" r:id="rId34"/>
    <p:sldId id="299" r:id="rId35"/>
    <p:sldId id="304" r:id="rId55"/>
    <p:sldId id="303" r:id="rId54"/>
    <p:sldId id="288" r:id="rId36"/>
  </p:sldIdLst>
  <p:sldSz cx="12192000" cy="6858000"/>
  <p:notesSz cx="6858000" cy="9144000"/>
  <p:embeddedFontLst>
    <p:embeddedFont>
      <p:font typeface="Arial Black" panose="020B0A04020102020204" pitchFamily="34" charset="0"/>
      <p:regular r:id="rId38"/>
      <p:bold r:id="rId39"/>
    </p:embeddedFont>
    <p:embeddedFont>
      <p:font typeface="Noto Sans Symbols" panose="020B0604020202020204" charset="0"/>
      <p:regular r:id="rId40"/>
      <p:bold r:id="rId41"/>
    </p:embeddedFont>
    <p:embeddedFont>
      <p:font typeface="Calibri" panose="020F0502020204030204" pitchFamily="34" charset="0"/>
      <p:regular r:id="rId42"/>
      <p:bold r:id="rId43"/>
      <p:italic r:id="rId44"/>
      <p:boldItalic r:id="rId4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48" roundtripDataSignature="AMtx7mjaVc6GtNneqVRT0ozU0M4PYHXsX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4FE9848-5764-4357-93EA-F29908C79110}">
  <a:tblStyle styleId="{64FE9848-5764-4357-93EA-F29908C7911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 b="off" i="off"/>
      <a:tcStyle>
        <a:tcBdr/>
      </a:tcStyle>
    </a:band1H>
    <a:band2H>
      <a:tcTxStyle b="off" i="off"/>
      <a:tcStyle>
        <a:tcBdr/>
      </a:tcStyle>
    </a:band2H>
    <a:band1V>
      <a:tcTxStyle b="off" i="off"/>
      <a:tcStyle>
        <a:tcBdr/>
      </a:tcStyle>
    </a:band1V>
    <a:band2V>
      <a:tcTxStyle b="off" i="off"/>
      <a:tcStyle>
        <a:tcBdr/>
      </a:tcStyle>
    </a:band2V>
    <a:lastCol>
      <a:tcTxStyle b="off" i="off"/>
      <a:tcStyle>
        <a:tcBdr/>
      </a:tcStyle>
    </a:lastCol>
    <a:firstCol>
      <a:tcTxStyle b="off" i="off"/>
      <a:tcStyle>
        <a:tcBdr/>
      </a:tcStyle>
    </a:firstCol>
    <a:lastRow>
      <a:tcTxStyle b="off" i="off"/>
      <a:tcStyle>
        <a:tcBdr/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ff" i="off"/>
      <a:tcStyle>
        <a:tcBdr/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  <a:tblStyle styleId="{708FC971-03AA-4B06-821C-AEFA27575B04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9" d="100"/>
          <a:sy n="69" d="100"/>
        </p:scale>
        <p:origin x="756" y="6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7.xml"/><Relationship Id="rId37" Type="http://schemas.openxmlformats.org/officeDocument/2006/relationships/notesMaster" Target="notesMasters/notesMaster1.xml"/><Relationship Id="rId38" Type="http://schemas.openxmlformats.org/officeDocument/2006/relationships/font" Target="fonts/font1.fntdata"/><Relationship Id="rId39" Type="http://schemas.openxmlformats.org/officeDocument/2006/relationships/font" Target="fonts/font2.fntdata"/><Relationship Id="rId40" Type="http://schemas.openxmlformats.org/officeDocument/2006/relationships/font" Target="fonts/font3.fntdata"/><Relationship Id="rId41" Type="http://schemas.openxmlformats.org/officeDocument/2006/relationships/font" Target="fonts/font4.fntdata"/><Relationship Id="rId42" Type="http://schemas.openxmlformats.org/officeDocument/2006/relationships/font" Target="fonts/font5.fntdata"/><Relationship Id="rId43" Type="http://schemas.openxmlformats.org/officeDocument/2006/relationships/font" Target="fonts/font6.fntdata"/><Relationship Id="rId44" Type="http://schemas.openxmlformats.org/officeDocument/2006/relationships/font" Target="fonts/font7.fntdata"/><Relationship Id="rId45" Type="http://schemas.openxmlformats.org/officeDocument/2006/relationships/font" Target="fonts/font8.fntdata"/><Relationship Id="rId48" Type="http://customschemas.google.com/relationships/presentationmetadata" Target="metadata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heme" Target="theme/theme1.xml"/><Relationship Id="rId52" Type="http://schemas.openxmlformats.org/officeDocument/2006/relationships/tableStyles" Target="tableStyles.xml"/><Relationship Id="rId53" Type="http://schemas.openxmlformats.org/officeDocument/2006/relationships/slide" Target="slides/slide20.xml"/><Relationship Id="rId54" Type="http://schemas.openxmlformats.org/officeDocument/2006/relationships/slide" Target="slides/slide36.xml"/><Relationship Id="rId55" Type="http://schemas.openxmlformats.org/officeDocument/2006/relationships/slide" Target="slides/slide35.xml"/></Relationships>
</file>

<file path=ppt/drawings/_rels/vmlDrawing1.vml.rels><?xml version='1.0' encoding='UTF-8' standalone='yes'?>
<Relationships xmlns="http://schemas.openxmlformats.org/package/2006/relationships"><Relationship Id="rId1" Type="http://schemas.openxmlformats.org/officeDocument/2006/relationships/image" Target="../media/image4.png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2" y="0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2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2" y="8685212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</a:pPr>
            <a:fld id="{00000000-1234-1234-1234-123412341234}" type="slidenum">
              <a:rPr lang="en-US"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‹nº›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1" name="Google Shape;2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51" name="Google Shape;51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70" name="Google Shape;70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78" name="Google Shape;78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6" name="Google Shape;86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25" name="Google Shape;125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3120ebcea37_0_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37" name="Google Shape;137;g3120ebcea37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3" name="Google Shape;113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03" name="Google Shape;103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58" name="Google Shape;158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3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75" name="Google Shape;175;p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92" name="Google Shape;192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3120ebcea37_2_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00" name="Google Shape;200;g3120ebcea37_2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g3120ebcea37_2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08" name="Google Shape;208;g3120ebcea37_2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16" name="Google Shape;216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3120ebcea37_2_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24" name="Google Shape;224;g3120ebcea37_2_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32" name="Google Shape;232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g3120ebcea37_2_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40" name="Google Shape;240;g3120ebcea37_2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48" name="Google Shape;248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65" name="Google Shape;265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2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82" name="Google Shape;282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2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82" name="Google Shape;282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54245145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2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82" name="Google Shape;282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32983315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2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82" name="Google Shape;282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1252803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2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82" name="Google Shape;282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00902778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2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82" name="Google Shape;282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09709556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2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82" name="Google Shape;282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45028981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2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82" name="Google Shape;282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11363958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01" name="Google Shape;301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01" name="Google Shape;301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746129400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01" name="Google Shape;301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3826848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01" name="Google Shape;301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47479930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01" name="Google Shape;301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72039719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2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11" name="Google Shape;311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de Título">
  <p:cSld name="Slide de Título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e Conteúdo">
  <p:cSld name="Título e Conteúdo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Relationship Id="rId3" Type="http://schemas.openxmlformats.org/officeDocument/2006/relationships/image" Target="../media/image1.jp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theme" Target="../theme/theme2.xml"/><Relationship Id="rId3" Type="http://schemas.openxmlformats.org/officeDocument/2006/relationships/image" Target="../media/image2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29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oogle Shape;15;p3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3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7" name="Google Shape;17;p3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1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.v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Relationship Id="rId4" Type="http://schemas.openxmlformats.org/officeDocument/2006/relationships/oleObject" Target="../embeddings/oleObject1.bin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9.jpg"/><Relationship Id="rId4" Type="http://schemas.openxmlformats.org/officeDocument/2006/relationships/image" Target="../media/image10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9.jpg"/><Relationship Id="rId4" Type="http://schemas.openxmlformats.org/officeDocument/2006/relationships/image" Target="../media/image10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1.jpg"/><Relationship Id="rId4" Type="http://schemas.openxmlformats.org/officeDocument/2006/relationships/image" Target="../media/image12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3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4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15.jpe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16.jpe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17.jpe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18.jpe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3" Type="http://schemas.openxmlformats.org/officeDocument/2006/relationships/image" Target="../media/image18.jpe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3" Type="http://schemas.openxmlformats.org/officeDocument/2006/relationships/image" Target="../media/image18.jpe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1"/>
          <p:cNvSpPr txBox="1"/>
          <p:nvPr/>
        </p:nvSpPr>
        <p:spPr>
          <a:xfrm>
            <a:off x="3011487" y="3490912"/>
            <a:ext cx="6319837" cy="6461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2CC"/>
              </a:buClr>
              <a:buSzPts val="1800"/>
              <a:buFont typeface="Arial"/>
              <a:buNone/>
            </a:pPr>
            <a:r>
              <a:rPr lang="en-US" sz="1800" b="1" i="0" u="none" strike="noStrike" cap="none">
                <a:solidFill>
                  <a:srgbClr val="FFF2CC"/>
                </a:solidFill>
                <a:latin typeface="Arial"/>
                <a:ea typeface="Arial"/>
                <a:cs typeface="Arial"/>
                <a:sym typeface="Arial"/>
              </a:rPr>
              <a:t>PRÊMIO POLÍCIA MILITAR DE GESTÃO DA QUALIDADE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2CC"/>
              </a:buClr>
              <a:buSzPts val="1800"/>
              <a:buFont typeface="Arial"/>
              <a:buNone/>
            </a:pPr>
            <a:r>
              <a:rPr lang="en-US" sz="1800" b="1" i="0" u="none" strike="noStrike" cap="none">
                <a:solidFill>
                  <a:srgbClr val="FFF2CC"/>
                </a:solidFill>
                <a:latin typeface="Arial"/>
                <a:ea typeface="Arial"/>
                <a:cs typeface="Arial"/>
                <a:sym typeface="Arial"/>
              </a:rPr>
              <a:t>[__]ª Edição – Ano 2026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2CC"/>
              </a:buClr>
              <a:buSzPts val="1800"/>
              <a:buFont typeface="Arial"/>
              <a:buNone/>
            </a:pPr>
            <a:r>
              <a:rPr lang="en-US" sz="1800" b="1" i="0" u="none" strike="noStrike" cap="none">
                <a:solidFill>
                  <a:srgbClr val="FFF2CC"/>
                </a:solidFill>
                <a:latin typeface="Arial"/>
                <a:ea typeface="Arial"/>
                <a:cs typeface="Arial"/>
                <a:sym typeface="Arial"/>
              </a:rPr>
              <a:t>27º BATALHÃO DE POLÍCIA MILITAR – LUÍS EDUARDO MAGALHÃES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" name="Google Shape;24;p1"/>
          <p:cNvSpPr txBox="1"/>
          <p:nvPr/>
        </p:nvSpPr>
        <p:spPr>
          <a:xfrm>
            <a:off x="2566194" y="2140336"/>
            <a:ext cx="7059612" cy="708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Arial"/>
              <a:buNone/>
            </a:pPr>
            <a:r>
              <a:rPr lang="en-US" sz="4000" b="1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POLÍCIA MILITAR DA BAHIA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5" name="Google Shape;25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00674" y="549274"/>
            <a:ext cx="1541462" cy="1446212"/>
          </a:xfrm>
          <a:prstGeom prst="rect">
            <a:avLst/>
          </a:prstGeom>
          <a:noFill/>
          <a:ln>
            <a:noFill/>
          </a:ln>
        </p:spPr>
      </p:pic>
      <p:sp>
        <p:nvSpPr>
          <p:cNvPr id="26" name="Google Shape;26;p1"/>
          <p:cNvSpPr txBox="1"/>
          <p:nvPr/>
        </p:nvSpPr>
        <p:spPr>
          <a:xfrm>
            <a:off x="4437062" y="5632450"/>
            <a:ext cx="3640137" cy="2778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</a:pPr>
            <a:r>
              <a:rPr lang="en-US" sz="12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[NOME] – COMANDANTE-GERAL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4"/>
          <p:cNvSpPr/>
          <p:nvPr/>
        </p:nvSpPr>
        <p:spPr>
          <a:xfrm>
            <a:off x="0" y="0"/>
            <a:ext cx="501353" cy="6858000"/>
          </a:xfrm>
          <a:prstGeom prst="rect">
            <a:avLst/>
          </a:prstGeom>
          <a:gradFill>
            <a:gsLst>
              <a:gs pos="0">
                <a:schemeClr val="dk1"/>
              </a:gs>
              <a:gs pos="11000">
                <a:schemeClr val="dk1"/>
              </a:gs>
              <a:gs pos="38000">
                <a:srgbClr val="A57C00"/>
              </a:gs>
              <a:gs pos="69000">
                <a:srgbClr val="BF9000"/>
              </a:gs>
              <a:gs pos="90000">
                <a:schemeClr val="accent4"/>
              </a:gs>
              <a:gs pos="100000">
                <a:schemeClr val="accent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4;p4"/>
          <p:cNvSpPr txBox="1"/>
          <p:nvPr/>
        </p:nvSpPr>
        <p:spPr>
          <a:xfrm>
            <a:off x="900112" y="741362"/>
            <a:ext cx="8693150" cy="5222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800"/>
              <a:buFont typeface="Arial Black"/>
              <a:buNone/>
            </a:pPr>
            <a:r>
              <a:rPr lang="en-US" sz="2800" b="0" i="0" u="none" strike="noStrike" cap="none">
                <a:solidFill>
                  <a:srgbClr val="595959"/>
                </a:solidFill>
                <a:latin typeface="Arial Black"/>
                <a:ea typeface="Arial Black"/>
                <a:cs typeface="Arial Black"/>
                <a:sym typeface="Arial Black"/>
              </a:rPr>
              <a:t>Missão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55" name="Google Shape;55;p4"/>
          <p:cNvGraphicFramePr/>
          <p:nvPr/>
        </p:nvGraphicFramePr>
        <p:xfrm>
          <a:off x="1981200" y="1498600"/>
          <a:ext cx="8229600" cy="4267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6" r:id="rId4" imgW="8229600" imgH="4267200" progId="Excel.Chart.8">
                  <p:embed/>
                </p:oleObj>
              </mc:Choice>
              <mc:Fallback>
                <p:oleObj r:id="rId4" imgW="8229600" imgH="4267200" progId="Excel.Chart.8">
                  <p:embed/>
                  <p:pic>
                    <p:nvPicPr>
                      <p:cNvPr id="55" name="Google Shape;55;p4"/>
                      <p:cNvPicPr preferRelativeResize="0"/>
                      <p:nvPr/>
                    </p:nvPicPr>
                    <p:blipFill rotWithShape="1">
                      <a:blip r:embed="rId5">
                        <a:alphaModFix/>
                      </a:blip>
                      <a:srcRect/>
                      <a:stretch/>
                    </p:blipFill>
                    <p:spPr>
                      <a:xfrm>
                        <a:off x="1981200" y="1498600"/>
                        <a:ext cx="8229600" cy="42672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56" name="Google Shape;56;p4"/>
          <p:cNvSpPr txBox="1"/>
          <p:nvPr/>
        </p:nvSpPr>
        <p:spPr>
          <a:xfrm rot="-5400000">
            <a:off x="-2432050" y="3302000"/>
            <a:ext cx="5365750" cy="2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lang="en-US" sz="10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MISSÃO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" name="Google Shape;57;p4"/>
          <p:cNvSpPr txBox="1"/>
          <p:nvPr/>
        </p:nvSpPr>
        <p:spPr>
          <a:xfrm>
            <a:off x="3341948" y="1002505"/>
            <a:ext cx="8311800" cy="21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600"/>
              <a:buFont typeface="Arial"/>
              <a:buNone/>
            </a:pPr>
            <a:r>
              <a:rPr lang="en-US" sz="2200" b="1" i="0" u="none" strike="noStrike" cap="none" dirty="0" err="1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Preservar a vida, a ordem pública e a cidadania.</a:t>
            </a:r>
            <a:endParaRPr sz="2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600"/>
              <a:buFont typeface="Arial"/>
              <a:buNone/>
            </a:pPr>
            <a:r>
              <a:rPr lang="en-US" sz="2200" b="0" i="0" u="none" strike="noStrike" cap="none" dirty="0" err="1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Missão institucional da PMBA (Lei nº 13.201/2014), executada pelo 27º BPM por meio de ações de polícia ostensiva nos municípios de Luís Eduardo Magalhães e São Desidério (distritos de Roda Velha e Sítio Grande).</a:t>
            </a:r>
            <a:endParaRPr sz="2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600"/>
              <a:buFont typeface="Arial"/>
              <a:buNone/>
            </a:pPr>
            <a:r>
              <a:rPr lang="en-US" sz="2200" b="0" i="0" u="none" strike="noStrike" cap="none" dirty="0" err="1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Visão: ser referência nacional até 2030, pela excelência na prestação dos serviços da polícia ostensiva e cidadã.</a:t>
            </a:r>
            <a:endParaRPr sz="2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9" name="Google Shape;59;p4" descr="85 CIPM_brasão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977775" y="2579687"/>
            <a:ext cx="1760537" cy="2105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Picture 2" descr="FIGURA-1-Localizacao-da-Area-de-Estudo-em-Luis-Eduardo-Magalhaes-BA-Fonte-elaborado">
            <a:extLst>
              <a:ext uri="{FF2B5EF4-FFF2-40B4-BE49-F238E27FC236}">
                <a16:creationId xmlns:a16="http://schemas.microsoft.com/office/drawing/2014/main" id="{FB43B3AE-6FB0-B4DD-99DE-B2B72E4EB5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38800" y="3632200"/>
            <a:ext cx="2681214" cy="30365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" name="Picture 3" descr="São Desidério_page-0001">
            <a:extLst>
              <a:ext uri="{FF2B5EF4-FFF2-40B4-BE49-F238E27FC236}">
                <a16:creationId xmlns:a16="http://schemas.microsoft.com/office/drawing/2014/main" id="{521E74F3-BF15-3305-0B2C-AF782FE328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13794" y="3712051"/>
            <a:ext cx="3887334" cy="2749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6"/>
          <p:cNvSpPr/>
          <p:nvPr/>
        </p:nvSpPr>
        <p:spPr>
          <a:xfrm>
            <a:off x="0" y="0"/>
            <a:ext cx="501353" cy="6858000"/>
          </a:xfrm>
          <a:prstGeom prst="rect">
            <a:avLst/>
          </a:prstGeom>
          <a:gradFill>
            <a:gsLst>
              <a:gs pos="0">
                <a:schemeClr val="dk1"/>
              </a:gs>
              <a:gs pos="11000">
                <a:schemeClr val="dk1"/>
              </a:gs>
              <a:gs pos="38000">
                <a:srgbClr val="A57C00"/>
              </a:gs>
              <a:gs pos="69000">
                <a:srgbClr val="BF9000"/>
              </a:gs>
              <a:gs pos="90000">
                <a:schemeClr val="accent4"/>
              </a:gs>
              <a:gs pos="100000">
                <a:schemeClr val="accent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6"/>
          <p:cNvSpPr txBox="1"/>
          <p:nvPr/>
        </p:nvSpPr>
        <p:spPr>
          <a:xfrm>
            <a:off x="900112" y="741362"/>
            <a:ext cx="8693150" cy="5222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800"/>
              <a:buFont typeface="Arial Black"/>
              <a:buNone/>
            </a:pPr>
            <a:r>
              <a:rPr lang="en-US" sz="2800" b="0" i="0" u="none" strike="noStrike" cap="none" dirty="0" err="1">
                <a:solidFill>
                  <a:srgbClr val="595959"/>
                </a:solidFill>
                <a:latin typeface="Arial Black"/>
                <a:ea typeface="Arial Black"/>
                <a:cs typeface="Arial Black"/>
                <a:sym typeface="Arial Black"/>
              </a:rPr>
              <a:t>Estrutura</a:t>
            </a:r>
            <a:r>
              <a:rPr lang="en-US" sz="2800" b="0" i="0" u="none" strike="noStrike" cap="none" dirty="0">
                <a:solidFill>
                  <a:srgbClr val="595959"/>
                </a:solidFill>
                <a:latin typeface="Arial Black"/>
                <a:ea typeface="Arial Black"/>
                <a:cs typeface="Arial Black"/>
                <a:sym typeface="Arial Black"/>
              </a:rPr>
              <a:t> e </a:t>
            </a:r>
            <a:r>
              <a:rPr lang="en-US" sz="2800" b="0" i="0" u="none" strike="noStrike" cap="none" dirty="0" err="1">
                <a:solidFill>
                  <a:srgbClr val="595959"/>
                </a:solidFill>
                <a:latin typeface="Arial Black"/>
                <a:ea typeface="Arial Black"/>
                <a:cs typeface="Arial Black"/>
                <a:sym typeface="Arial Black"/>
              </a:rPr>
              <a:t>Efetivo</a:t>
            </a:r>
            <a:r>
              <a:rPr lang="en-US" sz="2800" b="0" i="0" u="none" strike="noStrike" cap="none" dirty="0">
                <a:solidFill>
                  <a:srgbClr val="595959"/>
                </a:solidFill>
                <a:latin typeface="Arial Black"/>
                <a:ea typeface="Arial Black"/>
                <a:cs typeface="Arial Black"/>
                <a:sym typeface="Arial Black"/>
              </a:rPr>
              <a:t> 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" name="Google Shape;74;p6"/>
          <p:cNvSpPr txBox="1"/>
          <p:nvPr/>
        </p:nvSpPr>
        <p:spPr>
          <a:xfrm rot="-5400000">
            <a:off x="-2432050" y="3302000"/>
            <a:ext cx="5365750" cy="2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lang="en-US" sz="10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ESTRUTURA DE FUNCIONAMENTO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" name="Rounded Rectangle 74"/>
          <p:cNvSpPr/>
          <p:nvPr/>
        </p:nvSpPr>
        <p:spPr>
          <a:xfrm>
            <a:off x="4709160" y="1371600"/>
            <a:ext cx="3017520" cy="548640"/>
          </a:xfrm>
          <a:prstGeom prst="round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COMANDO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Arial"/>
              </a:rPr>
              <a:t>Ten Cel PM Diz Pazos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4709160" y="2148840"/>
            <a:ext cx="3017520" cy="457200"/>
          </a:xfrm>
          <a:prstGeom prst="round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SUBCOMANDO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6217920" y="1920240"/>
            <a:ext cx="0" cy="22860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6217920" y="2606040"/>
            <a:ext cx="0" cy="22860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1737360" y="2834640"/>
            <a:ext cx="8961120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1737360" y="2834640"/>
            <a:ext cx="0" cy="18288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Rounded Rectangle 80"/>
          <p:cNvSpPr/>
          <p:nvPr/>
        </p:nvSpPr>
        <p:spPr>
          <a:xfrm>
            <a:off x="868680" y="3017520"/>
            <a:ext cx="1737360" cy="868680"/>
          </a:xfrm>
          <a:prstGeom prst="round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CPOI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Arial"/>
              </a:rPr>
              <a:t>Cap PM Franciel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Arial"/>
              </a:rPr>
              <a:t>SPOI: 1º Ten PM Nilton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3931920" y="2834640"/>
            <a:ext cx="0" cy="18288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Rounded Rectangle 82"/>
          <p:cNvSpPr/>
          <p:nvPr/>
        </p:nvSpPr>
        <p:spPr>
          <a:xfrm>
            <a:off x="3063239" y="3017520"/>
            <a:ext cx="1737360" cy="868680"/>
          </a:xfrm>
          <a:prstGeom prst="round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CAA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Arial"/>
              </a:rPr>
              <a:t>Cap PM Leonardo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Arial"/>
              </a:rPr>
              <a:t>SAA: Cap PM Silva Souza</a:t>
            </a:r>
          </a:p>
        </p:txBody>
      </p:sp>
      <p:cxnSp>
        <p:nvCxnSpPr>
          <p:cNvPr id="84" name="Connector 83"/>
          <p:cNvCxnSpPr/>
          <p:nvPr/>
        </p:nvCxnSpPr>
        <p:spPr>
          <a:xfrm>
            <a:off x="6126480" y="2834640"/>
            <a:ext cx="0" cy="18288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Rounded Rectangle 84"/>
          <p:cNvSpPr/>
          <p:nvPr/>
        </p:nvSpPr>
        <p:spPr>
          <a:xfrm>
            <a:off x="5257800" y="3017520"/>
            <a:ext cx="1737360" cy="868680"/>
          </a:xfrm>
          <a:prstGeom prst="round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PCSM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Arial"/>
              </a:rPr>
              <a:t>Aprov. / Transp. / Almox.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8321039" y="2834640"/>
            <a:ext cx="0" cy="18288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Rounded Rectangle 86"/>
          <p:cNvSpPr/>
          <p:nvPr/>
        </p:nvSpPr>
        <p:spPr>
          <a:xfrm>
            <a:off x="7452359" y="3017520"/>
            <a:ext cx="1737360" cy="868680"/>
          </a:xfrm>
          <a:prstGeom prst="round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SOINT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Arial"/>
              </a:rPr>
              <a:t>Inteligência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10515599" y="2834640"/>
            <a:ext cx="0" cy="18288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Rounded Rectangle 88"/>
          <p:cNvSpPr/>
          <p:nvPr/>
        </p:nvSpPr>
        <p:spPr>
          <a:xfrm>
            <a:off x="9646919" y="3017520"/>
            <a:ext cx="1737360" cy="868680"/>
          </a:xfrm>
          <a:prstGeom prst="round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CORREG. SETORIAL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Arial"/>
              </a:rPr>
              <a:t>Feitos investigatórios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6217920" y="3886200"/>
            <a:ext cx="0" cy="64008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1737360" y="4526280"/>
            <a:ext cx="8961120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1737360" y="4526280"/>
            <a:ext cx="0" cy="18288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Rounded Rectangle 92"/>
          <p:cNvSpPr/>
          <p:nvPr/>
        </p:nvSpPr>
        <p:spPr>
          <a:xfrm>
            <a:off x="868680" y="4709160"/>
            <a:ext cx="1737360" cy="1051560"/>
          </a:xfrm>
          <a:prstGeom prst="roundRect">
            <a:avLst/>
          </a:prstGeom>
          <a:solidFill>
            <a:srgbClr val="D9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1ª CIA</a:t>
            </a:r>
          </a:p>
          <a:p>
            <a:pPr algn="ctr"/>
            <a:r>
              <a:rPr sz="1000" b="0">
                <a:solidFill>
                  <a:srgbClr val="000000"/>
                </a:solidFill>
                <a:latin typeface="Arial"/>
              </a:rPr>
              <a:t>LEM</a:t>
            </a:r>
          </a:p>
        </p:txBody>
      </p:sp>
      <p:cxnSp>
        <p:nvCxnSpPr>
          <p:cNvPr id="94" name="Connector 93"/>
          <p:cNvCxnSpPr/>
          <p:nvPr/>
        </p:nvCxnSpPr>
        <p:spPr>
          <a:xfrm>
            <a:off x="3931920" y="4526280"/>
            <a:ext cx="0" cy="18288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Rounded Rectangle 94"/>
          <p:cNvSpPr/>
          <p:nvPr/>
        </p:nvSpPr>
        <p:spPr>
          <a:xfrm>
            <a:off x="3063239" y="4709160"/>
            <a:ext cx="1737360" cy="1051560"/>
          </a:xfrm>
          <a:prstGeom prst="roundRect">
            <a:avLst/>
          </a:prstGeom>
          <a:solidFill>
            <a:srgbClr val="D9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2ª CIA</a:t>
            </a:r>
          </a:p>
          <a:p>
            <a:pPr algn="ctr"/>
            <a:r>
              <a:rPr sz="1000" b="0">
                <a:solidFill>
                  <a:srgbClr val="000000"/>
                </a:solidFill>
                <a:latin typeface="Arial"/>
              </a:rPr>
              <a:t>LEM</a:t>
            </a:r>
          </a:p>
        </p:txBody>
      </p:sp>
      <p:cxnSp>
        <p:nvCxnSpPr>
          <p:cNvPr id="96" name="Connector 95"/>
          <p:cNvCxnSpPr/>
          <p:nvPr/>
        </p:nvCxnSpPr>
        <p:spPr>
          <a:xfrm>
            <a:off x="6126480" y="4526280"/>
            <a:ext cx="0" cy="18288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Rounded Rectangle 96"/>
          <p:cNvSpPr/>
          <p:nvPr/>
        </p:nvSpPr>
        <p:spPr>
          <a:xfrm>
            <a:off x="5257800" y="4709160"/>
            <a:ext cx="1737360" cy="1051560"/>
          </a:xfrm>
          <a:prstGeom prst="roundRect">
            <a:avLst/>
          </a:prstGeom>
          <a:solidFill>
            <a:srgbClr val="D9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3ª CIA</a:t>
            </a:r>
          </a:p>
          <a:p>
            <a:pPr algn="ctr"/>
            <a:r>
              <a:rPr sz="1000" b="0">
                <a:solidFill>
                  <a:srgbClr val="000000"/>
                </a:solidFill>
                <a:latin typeface="Arial"/>
              </a:rPr>
              <a:t>LEM</a:t>
            </a:r>
          </a:p>
        </p:txBody>
      </p:sp>
      <p:cxnSp>
        <p:nvCxnSpPr>
          <p:cNvPr id="98" name="Connector 97"/>
          <p:cNvCxnSpPr/>
          <p:nvPr/>
        </p:nvCxnSpPr>
        <p:spPr>
          <a:xfrm>
            <a:off x="8321039" y="4526280"/>
            <a:ext cx="0" cy="18288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Rounded Rectangle 98"/>
          <p:cNvSpPr/>
          <p:nvPr/>
        </p:nvSpPr>
        <p:spPr>
          <a:xfrm>
            <a:off x="7452359" y="4709160"/>
            <a:ext cx="1737360" cy="1051560"/>
          </a:xfrm>
          <a:prstGeom prst="roundRect">
            <a:avLst/>
          </a:prstGeom>
          <a:solidFill>
            <a:srgbClr val="D9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CETO</a:t>
            </a:r>
          </a:p>
          <a:p>
            <a:pPr algn="ctr"/>
            <a:r>
              <a:rPr sz="1000" b="0">
                <a:solidFill>
                  <a:srgbClr val="000000"/>
                </a:solidFill>
                <a:latin typeface="Arial"/>
              </a:rPr>
              <a:t>Emprego tático</a:t>
            </a:r>
          </a:p>
        </p:txBody>
      </p:sp>
      <p:cxnSp>
        <p:nvCxnSpPr>
          <p:cNvPr id="100" name="Connector 99"/>
          <p:cNvCxnSpPr/>
          <p:nvPr/>
        </p:nvCxnSpPr>
        <p:spPr>
          <a:xfrm>
            <a:off x="10515599" y="4526280"/>
            <a:ext cx="0" cy="18288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Rounded Rectangle 100"/>
          <p:cNvSpPr/>
          <p:nvPr/>
        </p:nvSpPr>
        <p:spPr>
          <a:xfrm>
            <a:off x="9646919" y="4709160"/>
            <a:ext cx="1737360" cy="1051560"/>
          </a:xfrm>
          <a:prstGeom prst="roundRect">
            <a:avLst/>
          </a:prstGeom>
          <a:solidFill>
            <a:srgbClr val="D9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4ª CIA DESTACADA</a:t>
            </a:r>
          </a:p>
          <a:p>
            <a:pPr algn="ctr"/>
            <a:r>
              <a:rPr sz="1000" b="0">
                <a:solidFill>
                  <a:srgbClr val="000000"/>
                </a:solidFill>
                <a:latin typeface="Arial"/>
              </a:rPr>
              <a:t>São Desidério · Roda Velha · Sítio Grande</a:t>
            </a:r>
          </a:p>
          <a:p>
            <a:pPr algn="ctr"/>
            <a:r>
              <a:rPr sz="1000" b="0">
                <a:solidFill>
                  <a:srgbClr val="000000"/>
                </a:solidFill>
                <a:latin typeface="Arial"/>
              </a:rPr>
              <a:t>Cap PM Glauber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868680" y="5989320"/>
            <a:ext cx="10515600" cy="411480"/>
          </a:xfrm>
          <a:prstGeom prst="roundRect">
            <a:avLst/>
          </a:prstGeom>
          <a:solidFill>
            <a:srgbClr val="D9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000000"/>
                </a:solidFill>
                <a:latin typeface="Arial"/>
              </a:rPr>
              <a:t>Rondas especializadas: Ronda Escolar · Ronda Maria da Penha  |  Estrutura: Lei nº 14.962/2025 e Portaria nº 026-CG/2026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7"/>
          <p:cNvSpPr/>
          <p:nvPr/>
        </p:nvSpPr>
        <p:spPr>
          <a:xfrm>
            <a:off x="0" y="0"/>
            <a:ext cx="501353" cy="6858000"/>
          </a:xfrm>
          <a:prstGeom prst="rect">
            <a:avLst/>
          </a:prstGeom>
          <a:gradFill>
            <a:gsLst>
              <a:gs pos="0">
                <a:schemeClr val="dk1"/>
              </a:gs>
              <a:gs pos="11000">
                <a:schemeClr val="dk1"/>
              </a:gs>
              <a:gs pos="38000">
                <a:srgbClr val="A57C00"/>
              </a:gs>
              <a:gs pos="69000">
                <a:srgbClr val="BF9000"/>
              </a:gs>
              <a:gs pos="90000">
                <a:schemeClr val="accent4"/>
              </a:gs>
              <a:gs pos="100000">
                <a:schemeClr val="accent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7"/>
          <p:cNvSpPr txBox="1"/>
          <p:nvPr/>
        </p:nvSpPr>
        <p:spPr>
          <a:xfrm>
            <a:off x="900112" y="741362"/>
            <a:ext cx="8693150" cy="5222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800"/>
              <a:buFont typeface="Arial Black"/>
              <a:buNone/>
            </a:pPr>
            <a:r>
              <a:rPr lang="en-US" sz="2800" b="0" i="0" u="none" strike="noStrike" cap="none">
                <a:solidFill>
                  <a:srgbClr val="595959"/>
                </a:solidFill>
                <a:latin typeface="Arial Black"/>
                <a:ea typeface="Arial Black"/>
                <a:cs typeface="Arial Black"/>
                <a:sym typeface="Arial Black"/>
              </a:rPr>
              <a:t>Estrutura e Efetivo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7"/>
          <p:cNvSpPr txBox="1"/>
          <p:nvPr/>
        </p:nvSpPr>
        <p:spPr>
          <a:xfrm rot="-5400000">
            <a:off x="-2432050" y="3302000"/>
            <a:ext cx="5365750" cy="2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lang="en-US" sz="10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ESTRUTURA DE FUNCIONAMENTO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83" name="Table 82"/>
          <p:cNvGraphicFramePr>
            <a:graphicFrameLocks noGrp="1"/>
          </p:cNvGraphicFramePr>
          <p:nvPr/>
        </p:nvGraphicFramePr>
        <p:xfrm>
          <a:off x="1097280" y="1508760"/>
          <a:ext cx="658368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1371600"/>
                <a:gridCol w="1371600"/>
                <a:gridCol w="1371600"/>
              </a:tblGrid>
              <a:tr h="38404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Posto/Graduação</a:t>
                      </a:r>
                    </a:p>
                  </a:txBody>
                  <a:tcPr marT="27432" marB="27432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Existente</a:t>
                      </a:r>
                    </a:p>
                  </a:txBody>
                  <a:tcPr marT="27432" marB="27432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Previsto</a:t>
                      </a:r>
                    </a:p>
                  </a:txBody>
                  <a:tcPr marT="27432" marB="27432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Claro</a:t>
                      </a:r>
                    </a:p>
                  </a:txBody>
                  <a:tcPr marT="27432" marB="27432">
                    <a:solidFill>
                      <a:srgbClr val="1F386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00000"/>
                          </a:solidFill>
                          <a:latin typeface="Arial"/>
                        </a:rPr>
                        <a:t>Ten Cel PM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00000"/>
                          </a:solidFill>
                          <a:latin typeface="Arial"/>
                        </a:rPr>
                        <a:t>Major PM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00000"/>
                          </a:solidFill>
                          <a:latin typeface="Arial"/>
                        </a:rPr>
                        <a:t>Cap PM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00000"/>
                          </a:solidFill>
                          <a:latin typeface="Arial"/>
                        </a:rPr>
                        <a:t>1º Ten PM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00000"/>
                          </a:solidFill>
                          <a:latin typeface="Arial"/>
                        </a:rPr>
                        <a:t>Sub Ten PM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00000"/>
                          </a:solidFill>
                          <a:latin typeface="Arial"/>
                        </a:rPr>
                        <a:t>1º Sgt PM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00000"/>
                          </a:solidFill>
                          <a:latin typeface="Arial"/>
                        </a:rPr>
                        <a:t>Cb PM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00000"/>
                          </a:solidFill>
                          <a:latin typeface="Arial"/>
                        </a:rPr>
                        <a:t>Sd 1ª Cl PM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T="27432" marB="27432"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00000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T="27432" marB="27432"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00000"/>
                          </a:solidFill>
                          <a:latin typeface="Arial"/>
                        </a:rPr>
                        <a:t>300</a:t>
                      </a:r>
                    </a:p>
                  </a:txBody>
                  <a:tcPr marT="27432" marB="27432"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00000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T="27432" marB="27432">
                    <a:solidFill>
                      <a:srgbClr val="D9E2F3"/>
                    </a:solidFill>
                  </a:tcPr>
                </a:tc>
              </a:tr>
            </a:tbl>
          </a:graphicData>
        </a:graphic>
      </p:graphicFrame>
      <p:sp>
        <p:nvSpPr>
          <p:cNvPr id="84" name="Rounded Rectangle 83"/>
          <p:cNvSpPr/>
          <p:nvPr/>
        </p:nvSpPr>
        <p:spPr>
          <a:xfrm>
            <a:off x="8138160" y="1508760"/>
            <a:ext cx="3291840" cy="1463040"/>
          </a:xfrm>
          <a:prstGeom prst="round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49,7%</a:t>
            </a:r>
          </a:p>
          <a:p>
            <a:pPr algn="ctr"/>
            <a:r>
              <a:rPr sz="2100" b="0">
                <a:solidFill>
                  <a:srgbClr val="FFFFFF"/>
                </a:solidFill>
                <a:latin typeface="Arial"/>
              </a:rPr>
              <a:t>do efetivo previsto preenchido (149 de 300)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8138160" y="3200400"/>
            <a:ext cx="3291840" cy="2103120"/>
          </a:xfrm>
          <a:prstGeom prst="roundRect">
            <a:avLst/>
          </a:prstGeom>
          <a:solidFill>
            <a:srgbClr val="D9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00000"/>
                </a:solidFill>
                <a:latin typeface="Arial"/>
              </a:rPr>
              <a:t>Efetivo agregado (controle)</a:t>
            </a:r>
          </a:p>
          <a:p>
            <a:pPr algn="ctr"/>
            <a:r>
              <a:rPr sz="1200" b="0">
                <a:solidFill>
                  <a:srgbClr val="000000"/>
                </a:solidFill>
                <a:latin typeface="Arial"/>
              </a:rPr>
              <a:t>Al Of PM Albuquerque – APM</a:t>
            </a:r>
          </a:p>
          <a:p>
            <a:pPr algn="ctr"/>
            <a:r>
              <a:rPr sz="1200" b="0">
                <a:solidFill>
                  <a:srgbClr val="000000"/>
                </a:solidFill>
                <a:latin typeface="Arial"/>
              </a:rPr>
              <a:t>Sd PM Duarte – BPChq</a:t>
            </a:r>
          </a:p>
          <a:p>
            <a:pPr algn="ctr"/>
            <a:r>
              <a:rPr sz="1200" b="0">
                <a:solidFill>
                  <a:srgbClr val="000000"/>
                </a:solidFill>
                <a:latin typeface="Arial"/>
              </a:rPr>
              <a:t>Sd PM Pacheco – apresentado ao CPR-O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8"/>
          <p:cNvSpPr/>
          <p:nvPr/>
        </p:nvSpPr>
        <p:spPr>
          <a:xfrm>
            <a:off x="0" y="0"/>
            <a:ext cx="501353" cy="6858000"/>
          </a:xfrm>
          <a:prstGeom prst="rect">
            <a:avLst/>
          </a:prstGeom>
          <a:gradFill>
            <a:gsLst>
              <a:gs pos="0">
                <a:schemeClr val="dk1"/>
              </a:gs>
              <a:gs pos="11000">
                <a:schemeClr val="dk1"/>
              </a:gs>
              <a:gs pos="38000">
                <a:srgbClr val="A57C00"/>
              </a:gs>
              <a:gs pos="69000">
                <a:srgbClr val="BF9000"/>
              </a:gs>
              <a:gs pos="90000">
                <a:schemeClr val="accent4"/>
              </a:gs>
              <a:gs pos="100000">
                <a:schemeClr val="accent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8"/>
          <p:cNvSpPr txBox="1"/>
          <p:nvPr/>
        </p:nvSpPr>
        <p:spPr>
          <a:xfrm>
            <a:off x="900112" y="741362"/>
            <a:ext cx="8693150" cy="5222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800"/>
              <a:buFont typeface="Arial Black"/>
              <a:buNone/>
            </a:pPr>
            <a:r>
              <a:rPr lang="en-US" sz="2800" b="0" i="0" u="none" strike="noStrike" cap="none">
                <a:solidFill>
                  <a:srgbClr val="595959"/>
                </a:solidFill>
                <a:latin typeface="Arial Black"/>
                <a:ea typeface="Arial Black"/>
                <a:cs typeface="Arial Black"/>
                <a:sym typeface="Arial Black"/>
              </a:rPr>
              <a:t>Estrutura e Meios Materiais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8"/>
          <p:cNvSpPr txBox="1"/>
          <p:nvPr/>
        </p:nvSpPr>
        <p:spPr>
          <a:xfrm rot="-5400000">
            <a:off x="-2432050" y="3302000"/>
            <a:ext cx="5365750" cy="2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lang="en-US" sz="10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ESTRUTURA DE FUNCIONAMENTO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91" name="Table 90"/>
          <p:cNvGraphicFramePr>
            <a:graphicFrameLocks noGrp="1"/>
          </p:cNvGraphicFramePr>
          <p:nvPr/>
        </p:nvGraphicFramePr>
        <p:xfrm>
          <a:off x="1097280" y="1600200"/>
          <a:ext cx="1033272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1463040"/>
                <a:gridCol w="6217920"/>
              </a:tblGrid>
              <a:tr h="5029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Recurso</a:t>
                      </a:r>
                    </a:p>
                  </a:txBody>
                  <a:tcPr marT="27432" marB="27432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Quantidade</a:t>
                      </a:r>
                    </a:p>
                  </a:txBody>
                  <a:tcPr marT="27432" marB="27432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Observação</a:t>
                      </a:r>
                    </a:p>
                  </a:txBody>
                  <a:tcPr marT="27432" marB="27432">
                    <a:solidFill>
                      <a:srgbClr val="1F386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  <a:latin typeface="Arial"/>
                        </a:rPr>
                        <a:t>Viaturas 4 rodas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"/>
                        </a:rPr>
                        <a:t>PMBA 7 · CSBR 6 · PMSD 1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  <a:latin typeface="Arial"/>
                        </a:rPr>
                        <a:t>Viaturas 2 rodas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"/>
                        </a:rPr>
                        <a:t>Sede 5 · São Desidério 3 · Roda Velha 2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  <a:latin typeface="Arial"/>
                        </a:rPr>
                        <a:t>Armamento portátil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"/>
                        </a:rPr>
                        <a:t>Fuzis ARAD 7, ARAD 5, IA2, SMT, espingarda, carabinas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  <a:latin typeface="Arial"/>
                        </a:rPr>
                        <a:t>Armamento de porte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"/>
                        </a:rPr>
                        <a:t>139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"/>
                        </a:rPr>
                        <a:t>PT 100, Glock G22/G23, revólveres .38, 3 TASER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  <a:latin typeface="Arial"/>
                        </a:rPr>
                        <a:t>Coletes balísticos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"/>
                        </a:rPr>
                        <a:t>136 em carga pessoal · 16 em uso · 4 inservíveis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2" name="Rounded Rectangle 91"/>
          <p:cNvSpPr/>
          <p:nvPr/>
        </p:nvSpPr>
        <p:spPr>
          <a:xfrm>
            <a:off x="1097280" y="4937760"/>
            <a:ext cx="10332720" cy="822960"/>
          </a:xfrm>
          <a:prstGeom prst="roundRect">
            <a:avLst/>
          </a:prstGeom>
          <a:solidFill>
            <a:srgbClr val="D9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000000"/>
                </a:solidFill>
                <a:latin typeface="Arial"/>
              </a:rPr>
              <a:t>Sede: Rua Xique-xique, nº 530, Loteamento Santa Cruz fase 1 – Luís Eduardo Magalhães/BA · (77) 9 9866-1567 · bpm27.cmd@pm.ba.gov.br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7" name="Google Shape;127;p1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46150" y="4051300"/>
            <a:ext cx="2825750" cy="2806700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2"/>
          <p:cNvSpPr/>
          <p:nvPr/>
        </p:nvSpPr>
        <p:spPr>
          <a:xfrm>
            <a:off x="0" y="0"/>
            <a:ext cx="501353" cy="6858000"/>
          </a:xfrm>
          <a:prstGeom prst="rect">
            <a:avLst/>
          </a:prstGeom>
          <a:gradFill>
            <a:gsLst>
              <a:gs pos="0">
                <a:schemeClr val="dk1"/>
              </a:gs>
              <a:gs pos="11000">
                <a:schemeClr val="dk1"/>
              </a:gs>
              <a:gs pos="38000">
                <a:srgbClr val="A57C00"/>
              </a:gs>
              <a:gs pos="69000">
                <a:srgbClr val="BF9000"/>
              </a:gs>
              <a:gs pos="90000">
                <a:schemeClr val="accent4"/>
              </a:gs>
              <a:gs pos="100000">
                <a:schemeClr val="accent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12"/>
          <p:cNvSpPr txBox="1"/>
          <p:nvPr/>
        </p:nvSpPr>
        <p:spPr>
          <a:xfrm>
            <a:off x="900112" y="741362"/>
            <a:ext cx="8693150" cy="5222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800"/>
              <a:buFont typeface="Arial Black"/>
              <a:buNone/>
            </a:pPr>
            <a:r>
              <a:rPr lang="en-US" sz="2800" b="0" i="0" u="none" strike="noStrike" cap="none">
                <a:solidFill>
                  <a:srgbClr val="595959"/>
                </a:solidFill>
                <a:latin typeface="Arial Black"/>
                <a:ea typeface="Arial Black"/>
                <a:cs typeface="Arial Black"/>
                <a:sym typeface="Arial Black"/>
              </a:rPr>
              <a:t>Portfólio de Serviços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" name="Google Shape;130;p12"/>
          <p:cNvSpPr txBox="1"/>
          <p:nvPr/>
        </p:nvSpPr>
        <p:spPr>
          <a:xfrm rot="-5400000">
            <a:off x="-2432050" y="3302000"/>
            <a:ext cx="5365750" cy="2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lang="en-US" sz="10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PORTFÓLIO DE SERVIÇOS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12"/>
          <p:cNvSpPr txBox="1"/>
          <p:nvPr/>
        </p:nvSpPr>
        <p:spPr>
          <a:xfrm>
            <a:off x="946150" y="5691187"/>
            <a:ext cx="2825750" cy="1177925"/>
          </a:xfrm>
          <a:prstGeom prst="rect">
            <a:avLst/>
          </a:prstGeom>
          <a:gradFill>
            <a:gsLst>
              <a:gs pos="0">
                <a:srgbClr val="F6F8FC"/>
              </a:gs>
              <a:gs pos="74000">
                <a:srgbClr val="D9D9D9"/>
              </a:gs>
              <a:gs pos="100000">
                <a:srgbClr val="BFBFBF"/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2" name="Google Shape;132;p1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46150" y="1412875"/>
            <a:ext cx="2841625" cy="2806700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12"/>
          <p:cNvSpPr txBox="1"/>
          <p:nvPr/>
        </p:nvSpPr>
        <p:spPr>
          <a:xfrm>
            <a:off x="962025" y="3070225"/>
            <a:ext cx="2825750" cy="1179512"/>
          </a:xfrm>
          <a:prstGeom prst="rect">
            <a:avLst/>
          </a:prstGeom>
          <a:gradFill>
            <a:gsLst>
              <a:gs pos="0">
                <a:srgbClr val="F6F8FC"/>
              </a:gs>
              <a:gs pos="74000">
                <a:srgbClr val="D9D9D9"/>
              </a:gs>
              <a:gs pos="100000">
                <a:srgbClr val="BFBFBF"/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12"/>
          <p:cNvSpPr txBox="1"/>
          <p:nvPr/>
        </p:nvSpPr>
        <p:spPr>
          <a:xfrm>
            <a:off x="4232575" y="2136125"/>
            <a:ext cx="7070700" cy="26776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342900" marR="0" lvl="0" indent="-34290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lang="en-US" sz="2400" b="1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Policiamento</a:t>
            </a:r>
            <a:r>
              <a:rPr lang="en-US" sz="2400" b="1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b="1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Ostensivo</a:t>
            </a:r>
            <a:r>
              <a:rPr lang="en-US" sz="2400" b="1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b="1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Geral</a:t>
            </a:r>
            <a:r>
              <a:rPr lang="en-US" sz="2400" b="1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– </a:t>
            </a:r>
            <a:r>
              <a:rPr lang="en-US" sz="24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desenvolvido</a:t>
            </a:r>
            <a:r>
              <a:rPr lang="en-US" sz="24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exclusivamente</a:t>
            </a:r>
            <a:r>
              <a:rPr lang="en-US" sz="24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pela PMBA, </a:t>
            </a:r>
            <a:r>
              <a:rPr lang="en-US" sz="24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objetiva</a:t>
            </a:r>
            <a:r>
              <a:rPr lang="en-US" sz="24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satisfazer</a:t>
            </a:r>
            <a:r>
              <a:rPr lang="en-US" sz="24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as </a:t>
            </a:r>
            <a:r>
              <a:rPr lang="en-US" sz="24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necessidades</a:t>
            </a:r>
            <a:r>
              <a:rPr lang="en-US" sz="24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básicas</a:t>
            </a:r>
            <a:r>
              <a:rPr lang="en-US" sz="24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da </a:t>
            </a:r>
            <a:r>
              <a:rPr lang="en-US" sz="24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comunidade</a:t>
            </a:r>
            <a:r>
              <a:rPr lang="en-US" sz="24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, </a:t>
            </a:r>
            <a:r>
              <a:rPr lang="en-US" sz="24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através</a:t>
            </a:r>
            <a:r>
              <a:rPr lang="en-US" sz="24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do </a:t>
            </a:r>
            <a:r>
              <a:rPr lang="en-US" sz="24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emprego</a:t>
            </a:r>
            <a:r>
              <a:rPr lang="en-US" sz="24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do </a:t>
            </a:r>
            <a:r>
              <a:rPr lang="en-US" sz="24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homem</a:t>
            </a:r>
            <a:r>
              <a:rPr lang="en-US" sz="24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ou</a:t>
            </a:r>
            <a:r>
              <a:rPr lang="en-US" sz="24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fração</a:t>
            </a:r>
            <a:r>
              <a:rPr lang="en-US" sz="24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de </a:t>
            </a:r>
            <a:r>
              <a:rPr lang="en-US" sz="24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tropa</a:t>
            </a:r>
            <a:r>
              <a:rPr lang="en-US" sz="24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engajados</a:t>
            </a:r>
            <a:r>
              <a:rPr lang="en-US" sz="24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, </a:t>
            </a:r>
            <a:r>
              <a:rPr lang="en-US" sz="24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visualmente</a:t>
            </a:r>
            <a:r>
              <a:rPr lang="en-US" sz="24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identificáveis</a:t>
            </a:r>
            <a:r>
              <a:rPr lang="en-US" sz="24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quer</a:t>
            </a:r>
            <a:r>
              <a:rPr lang="en-US" sz="24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pela </a:t>
            </a:r>
            <a:r>
              <a:rPr lang="en-US" sz="24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farda</a:t>
            </a:r>
            <a:r>
              <a:rPr lang="en-US" sz="24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, </a:t>
            </a:r>
            <a:r>
              <a:rPr lang="en-US" sz="24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quer</a:t>
            </a:r>
            <a:r>
              <a:rPr lang="en-US" sz="24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pelo</a:t>
            </a:r>
            <a:r>
              <a:rPr lang="en-US" sz="24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equipamento</a:t>
            </a:r>
            <a:r>
              <a:rPr lang="en-US" sz="24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, </a:t>
            </a:r>
            <a:r>
              <a:rPr lang="en-US" sz="24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ou</a:t>
            </a:r>
            <a:r>
              <a:rPr lang="en-US" sz="24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viatura</a:t>
            </a:r>
            <a:r>
              <a:rPr lang="en-US" sz="24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, </a:t>
            </a:r>
            <a:r>
              <a:rPr lang="en-US" sz="24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objetivando</a:t>
            </a:r>
            <a:r>
              <a:rPr lang="en-US" sz="24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a </a:t>
            </a:r>
            <a:r>
              <a:rPr lang="en-US" sz="24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manutenção</a:t>
            </a:r>
            <a:r>
              <a:rPr lang="en-US" sz="24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da </a:t>
            </a:r>
            <a:r>
              <a:rPr lang="en-US" sz="24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ordem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pública</a:t>
            </a:r>
            <a:r>
              <a:rPr lang="en-US" sz="24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. </a:t>
            </a:r>
            <a:endParaRPr sz="2400" b="0" i="0" u="none" strike="noStrike" cap="none" dirty="0">
              <a:solidFill>
                <a:srgbClr val="000000"/>
              </a:solidFill>
              <a:latin typeface="+mj-lt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9" name="Google Shape;139;g3120ebcea37_0_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46150" y="4051300"/>
            <a:ext cx="2825751" cy="2806700"/>
          </a:xfrm>
          <a:prstGeom prst="rect">
            <a:avLst/>
          </a:prstGeom>
          <a:noFill/>
          <a:ln>
            <a:noFill/>
          </a:ln>
        </p:spPr>
      </p:pic>
      <p:sp>
        <p:nvSpPr>
          <p:cNvPr id="140" name="Google Shape;140;g3120ebcea37_0_1"/>
          <p:cNvSpPr/>
          <p:nvPr/>
        </p:nvSpPr>
        <p:spPr>
          <a:xfrm>
            <a:off x="0" y="0"/>
            <a:ext cx="501300" cy="6858000"/>
          </a:xfrm>
          <a:prstGeom prst="rect">
            <a:avLst/>
          </a:prstGeom>
          <a:gradFill>
            <a:gsLst>
              <a:gs pos="0">
                <a:schemeClr val="dk1"/>
              </a:gs>
              <a:gs pos="11000">
                <a:schemeClr val="dk1"/>
              </a:gs>
              <a:gs pos="38000">
                <a:srgbClr val="A57C00"/>
              </a:gs>
              <a:gs pos="69000">
                <a:srgbClr val="BF9000"/>
              </a:gs>
              <a:gs pos="90000">
                <a:schemeClr val="accent4"/>
              </a:gs>
              <a:gs pos="100000">
                <a:schemeClr val="accent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g3120ebcea37_0_1"/>
          <p:cNvSpPr txBox="1"/>
          <p:nvPr/>
        </p:nvSpPr>
        <p:spPr>
          <a:xfrm>
            <a:off x="900112" y="741362"/>
            <a:ext cx="86931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800"/>
              <a:buFont typeface="Arial Black"/>
              <a:buNone/>
            </a:pPr>
            <a:r>
              <a:rPr lang="en-US" sz="2800" b="0" i="0" u="none" strike="noStrike" cap="none">
                <a:solidFill>
                  <a:srgbClr val="595959"/>
                </a:solidFill>
                <a:latin typeface="Arial Black"/>
                <a:ea typeface="Arial Black"/>
                <a:cs typeface="Arial Black"/>
                <a:sym typeface="Arial Black"/>
              </a:rPr>
              <a:t>Portfólio de Serviços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" name="Google Shape;142;g3120ebcea37_0_1"/>
          <p:cNvSpPr txBox="1"/>
          <p:nvPr/>
        </p:nvSpPr>
        <p:spPr>
          <a:xfrm rot="-5400000">
            <a:off x="-2435925" y="3305825"/>
            <a:ext cx="5365800" cy="2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lang="en-US" sz="10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PORTFÓLIO DE SERVIÇOS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" name="Google Shape;143;g3120ebcea37_0_1"/>
          <p:cNvSpPr txBox="1"/>
          <p:nvPr/>
        </p:nvSpPr>
        <p:spPr>
          <a:xfrm>
            <a:off x="946150" y="5691187"/>
            <a:ext cx="2825700" cy="1177800"/>
          </a:xfrm>
          <a:prstGeom prst="rect">
            <a:avLst/>
          </a:prstGeom>
          <a:gradFill>
            <a:gsLst>
              <a:gs pos="0">
                <a:srgbClr val="F6F8FC"/>
              </a:gs>
              <a:gs pos="74000">
                <a:srgbClr val="D9D9D9"/>
              </a:gs>
              <a:gs pos="100000">
                <a:srgbClr val="BFBFBF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4" name="Google Shape;144;g3120ebcea37_0_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46150" y="1412875"/>
            <a:ext cx="2841626" cy="2806699"/>
          </a:xfrm>
          <a:prstGeom prst="rect">
            <a:avLst/>
          </a:prstGeom>
          <a:noFill/>
          <a:ln>
            <a:noFill/>
          </a:ln>
        </p:spPr>
      </p:pic>
      <p:sp>
        <p:nvSpPr>
          <p:cNvPr id="145" name="Google Shape;145;g3120ebcea37_0_1"/>
          <p:cNvSpPr txBox="1"/>
          <p:nvPr/>
        </p:nvSpPr>
        <p:spPr>
          <a:xfrm>
            <a:off x="962025" y="3070225"/>
            <a:ext cx="2825700" cy="1179600"/>
          </a:xfrm>
          <a:prstGeom prst="rect">
            <a:avLst/>
          </a:prstGeom>
          <a:gradFill>
            <a:gsLst>
              <a:gs pos="0">
                <a:srgbClr val="F6F8FC"/>
              </a:gs>
              <a:gs pos="74000">
                <a:srgbClr val="D9D9D9"/>
              </a:gs>
              <a:gs pos="100000">
                <a:srgbClr val="BFBFBF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g3120ebcea37_0_1"/>
          <p:cNvSpPr txBox="1"/>
          <p:nvPr/>
        </p:nvSpPr>
        <p:spPr>
          <a:xfrm>
            <a:off x="4487125" y="1412875"/>
            <a:ext cx="7070700" cy="52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342900" marR="0" lvl="0" indent="-34290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lang="en-US" sz="2400" b="1" i="0" u="none" strike="noStrike" cap="none" dirty="0" err="1">
                <a:solidFill>
                  <a:srgbClr val="000000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Policiamento</a:t>
            </a:r>
            <a:r>
              <a:rPr lang="en-US" sz="2400" b="1" i="0" u="none" strike="noStrike" cap="none" dirty="0">
                <a:solidFill>
                  <a:srgbClr val="000000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b="1" i="0" u="none" strike="noStrike" cap="none" dirty="0" err="1">
                <a:solidFill>
                  <a:srgbClr val="000000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Ostensivo</a:t>
            </a:r>
            <a:r>
              <a:rPr lang="en-US" sz="2400" b="1" i="0" u="none" strike="noStrike" cap="none" dirty="0">
                <a:solidFill>
                  <a:srgbClr val="000000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b="1" i="0" u="none" strike="noStrike" cap="none" dirty="0" err="1">
                <a:solidFill>
                  <a:srgbClr val="000000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Geral</a:t>
            </a:r>
            <a:r>
              <a:rPr lang="en-US" sz="2400" b="1" i="0" u="none" strike="noStrike" cap="none" dirty="0">
                <a:solidFill>
                  <a:srgbClr val="000000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b="0" i="0" u="none" strike="noStrike" cap="none" dirty="0">
                <a:solidFill>
                  <a:srgbClr val="000000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– 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A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Unidade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emprega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diuturnamente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veículos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 de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quatro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 (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carro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) e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duas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rodas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 (moto) para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atendimentos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às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demandas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 de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ocorrências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policiais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oriundas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 da central de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operações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ou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 para a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realização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 de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ações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 de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policiamento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ostensivo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preventivo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,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mediante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Ordem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 de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Policiamento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Ostensiva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previamente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emitida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.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Pode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ainda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atender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 à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solicitação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direta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 da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população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 e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neste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caso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deve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 ser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informada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 à central de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operações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. A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mesma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descrição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aplica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-se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ao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Policiamento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Ostensivo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 à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Pé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,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apenas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não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utilização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veículo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.</a:t>
            </a:r>
            <a:endParaRPr sz="24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42900" marR="0" lvl="0" indent="-19050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Noto Sans Symbols"/>
              <a:buNone/>
            </a:pPr>
            <a:endParaRPr sz="2400" b="0" i="0" u="none" strike="noStrike" cap="none" dirty="0">
              <a:solidFill>
                <a:srgbClr val="000000"/>
              </a:solidFill>
              <a:latin typeface="Noto Sans Symbols"/>
              <a:ea typeface="Noto Sans Symbols"/>
              <a:cs typeface="Noto Sans Symbols"/>
              <a:sym typeface="Noto Sans Symbol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1"/>
          <p:cNvSpPr/>
          <p:nvPr/>
        </p:nvSpPr>
        <p:spPr>
          <a:xfrm>
            <a:off x="0" y="0"/>
            <a:ext cx="501353" cy="6858000"/>
          </a:xfrm>
          <a:prstGeom prst="rect">
            <a:avLst/>
          </a:prstGeom>
          <a:gradFill>
            <a:gsLst>
              <a:gs pos="0">
                <a:schemeClr val="dk1"/>
              </a:gs>
              <a:gs pos="11000">
                <a:schemeClr val="dk1"/>
              </a:gs>
              <a:gs pos="38000">
                <a:srgbClr val="A57C00"/>
              </a:gs>
              <a:gs pos="69000">
                <a:srgbClr val="BF9000"/>
              </a:gs>
              <a:gs pos="90000">
                <a:schemeClr val="accent4"/>
              </a:gs>
              <a:gs pos="100000">
                <a:schemeClr val="accent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11"/>
          <p:cNvSpPr txBox="1"/>
          <p:nvPr/>
        </p:nvSpPr>
        <p:spPr>
          <a:xfrm>
            <a:off x="900112" y="741362"/>
            <a:ext cx="8693150" cy="5222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800"/>
              <a:buFont typeface="Arial Black"/>
              <a:buNone/>
            </a:pPr>
            <a:r>
              <a:rPr lang="en-US" sz="2800" b="0" i="0" u="none" strike="noStrike" cap="none">
                <a:solidFill>
                  <a:srgbClr val="595959"/>
                </a:solidFill>
                <a:latin typeface="Arial Black"/>
                <a:ea typeface="Arial Black"/>
                <a:cs typeface="Arial Black"/>
                <a:sym typeface="Arial Black"/>
              </a:rPr>
              <a:t>Portfólio de Serviços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" name="Google Shape;117;p11"/>
          <p:cNvSpPr txBox="1"/>
          <p:nvPr/>
        </p:nvSpPr>
        <p:spPr>
          <a:xfrm rot="-5400000">
            <a:off x="-2432050" y="3302000"/>
            <a:ext cx="5365750" cy="2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lang="en-US" sz="10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PORTFÓLIO DE SERVIÇOS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" name="Google Shape;118;p11"/>
          <p:cNvSpPr txBox="1"/>
          <p:nvPr/>
        </p:nvSpPr>
        <p:spPr>
          <a:xfrm>
            <a:off x="660499" y="1858950"/>
            <a:ext cx="6162600" cy="40933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342900" marR="0" lvl="0" indent="-34290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lang="en-US" sz="2000" b="1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O </a:t>
            </a:r>
            <a:r>
              <a:rPr lang="en-US" sz="2000" b="1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Policiamento</a:t>
            </a:r>
            <a:r>
              <a:rPr lang="en-US" sz="2000" b="1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000" b="1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Comunitário</a:t>
            </a:r>
            <a:r>
              <a:rPr lang="en-US" sz="2000" b="1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ocorre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através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de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visitas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diárias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em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estabelecimentos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comerciais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e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escolas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,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onde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é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feita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a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aproximação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da PM com a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comunidade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,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assim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como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é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feita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a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inclusão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destes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no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processo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de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resolução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dos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problemas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de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violência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e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segurança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.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Também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realizado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através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de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visitas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realizadas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na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zona rural,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nos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finais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de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semana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,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onde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propriedades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rurais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e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residências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são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percorridas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,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fazendo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também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um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trabalho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de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aproximação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,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principalmente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,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pelo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fato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de a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polícia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não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estar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presente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todos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os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dias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nas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referidas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localidades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em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virtude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da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falta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de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efetivo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suficiente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.</a:t>
            </a:r>
            <a:endParaRPr sz="2000" b="0" i="0" u="none" strike="noStrike" cap="none" dirty="0">
              <a:solidFill>
                <a:srgbClr val="000000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pic>
        <p:nvPicPr>
          <p:cNvPr id="119" name="Google Shape;119;p11"/>
          <p:cNvPicPr preferRelativeResize="0"/>
          <p:nvPr/>
        </p:nvPicPr>
        <p:blipFill rotWithShape="1">
          <a:blip r:embed="rId3">
            <a:alphaModFix/>
          </a:blip>
          <a:srcRect t="1912" b="19567"/>
          <a:stretch/>
        </p:blipFill>
        <p:spPr>
          <a:xfrm>
            <a:off x="7743825" y="0"/>
            <a:ext cx="3903662" cy="3708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0" name="Google Shape;120;p11"/>
          <p:cNvPicPr preferRelativeResize="0"/>
          <p:nvPr/>
        </p:nvPicPr>
        <p:blipFill rotWithShape="1">
          <a:blip r:embed="rId4">
            <a:alphaModFix/>
          </a:blip>
          <a:srcRect t="14216" b="15057"/>
          <a:stretch/>
        </p:blipFill>
        <p:spPr>
          <a:xfrm>
            <a:off x="7743825" y="3708400"/>
            <a:ext cx="3903662" cy="3149600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11"/>
          <p:cNvSpPr txBox="1"/>
          <p:nvPr/>
        </p:nvSpPr>
        <p:spPr>
          <a:xfrm>
            <a:off x="7743825" y="2528887"/>
            <a:ext cx="3903662" cy="1179512"/>
          </a:xfrm>
          <a:prstGeom prst="rect">
            <a:avLst/>
          </a:prstGeom>
          <a:gradFill>
            <a:gsLst>
              <a:gs pos="0">
                <a:srgbClr val="F6F8FC"/>
              </a:gs>
              <a:gs pos="74000">
                <a:srgbClr val="D9D9D9"/>
              </a:gs>
              <a:gs pos="100000">
                <a:srgbClr val="BFBFBF"/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11"/>
          <p:cNvSpPr txBox="1"/>
          <p:nvPr/>
        </p:nvSpPr>
        <p:spPr>
          <a:xfrm>
            <a:off x="7743825" y="5699125"/>
            <a:ext cx="3903662" cy="1179512"/>
          </a:xfrm>
          <a:prstGeom prst="rect">
            <a:avLst/>
          </a:prstGeom>
          <a:gradFill>
            <a:gsLst>
              <a:gs pos="0">
                <a:srgbClr val="F6F8FC"/>
              </a:gs>
              <a:gs pos="74000">
                <a:srgbClr val="D9D9D9"/>
              </a:gs>
              <a:gs pos="100000">
                <a:srgbClr val="BFBFBF"/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0"/>
          <p:cNvSpPr/>
          <p:nvPr/>
        </p:nvSpPr>
        <p:spPr>
          <a:xfrm>
            <a:off x="0" y="0"/>
            <a:ext cx="501353" cy="6858000"/>
          </a:xfrm>
          <a:prstGeom prst="rect">
            <a:avLst/>
          </a:prstGeom>
          <a:gradFill>
            <a:gsLst>
              <a:gs pos="0">
                <a:schemeClr val="dk1"/>
              </a:gs>
              <a:gs pos="11000">
                <a:schemeClr val="dk1"/>
              </a:gs>
              <a:gs pos="38000">
                <a:srgbClr val="A57C00"/>
              </a:gs>
              <a:gs pos="69000">
                <a:srgbClr val="BF9000"/>
              </a:gs>
              <a:gs pos="90000">
                <a:schemeClr val="accent4"/>
              </a:gs>
              <a:gs pos="100000">
                <a:schemeClr val="accent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10"/>
          <p:cNvSpPr txBox="1"/>
          <p:nvPr/>
        </p:nvSpPr>
        <p:spPr>
          <a:xfrm>
            <a:off x="900112" y="741362"/>
            <a:ext cx="8693150" cy="5222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800"/>
              <a:buFont typeface="Arial Black"/>
              <a:buNone/>
            </a:pPr>
            <a:r>
              <a:rPr lang="en-US" sz="2800" b="0" i="0" u="none" strike="noStrike" cap="none">
                <a:solidFill>
                  <a:srgbClr val="595959"/>
                </a:solidFill>
                <a:latin typeface="Arial Black"/>
                <a:ea typeface="Arial Black"/>
                <a:cs typeface="Arial Black"/>
                <a:sym typeface="Arial Black"/>
              </a:rPr>
              <a:t>Portfólio de Serviços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" name="Google Shape;107;p10"/>
          <p:cNvSpPr txBox="1"/>
          <p:nvPr/>
        </p:nvSpPr>
        <p:spPr>
          <a:xfrm rot="-5400000">
            <a:off x="-2432050" y="3302000"/>
            <a:ext cx="5365750" cy="2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lang="en-US" sz="10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PORTFÓLIO DE SERVIÇOS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8" name="Google Shape;108;p10"/>
          <p:cNvPicPr preferRelativeResize="0"/>
          <p:nvPr/>
        </p:nvPicPr>
        <p:blipFill rotWithShape="1">
          <a:blip r:embed="rId3">
            <a:alphaModFix/>
          </a:blip>
          <a:srcRect l="55217" t="22735" b="13265"/>
          <a:stretch/>
        </p:blipFill>
        <p:spPr>
          <a:xfrm>
            <a:off x="1016000" y="1506537"/>
            <a:ext cx="3794125" cy="5351462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10"/>
          <p:cNvSpPr txBox="1"/>
          <p:nvPr/>
        </p:nvSpPr>
        <p:spPr>
          <a:xfrm>
            <a:off x="5324775" y="1506525"/>
            <a:ext cx="5832300" cy="25698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342900" marR="0" lvl="0" indent="-34290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Char char="●"/>
            </a:pPr>
            <a:r>
              <a:rPr lang="en-US" sz="2300" b="1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Policiamento</a:t>
            </a:r>
            <a:r>
              <a:rPr lang="en-US" sz="2300" b="1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de </a:t>
            </a:r>
            <a:r>
              <a:rPr lang="en-US" sz="2300" b="1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trânsito</a:t>
            </a:r>
            <a:r>
              <a:rPr lang="en-US" sz="2300" b="1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3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realizado</a:t>
            </a:r>
            <a:r>
              <a:rPr lang="en-US" sz="23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3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em</a:t>
            </a:r>
            <a:r>
              <a:rPr lang="en-US" sz="23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conjunto com </a:t>
            </a:r>
            <a:r>
              <a:rPr lang="en-US" sz="23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prepostos</a:t>
            </a:r>
            <a:r>
              <a:rPr lang="en-US" sz="23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do </a:t>
            </a:r>
            <a:r>
              <a:rPr lang="en-US" sz="23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Departamento</a:t>
            </a:r>
            <a:r>
              <a:rPr lang="en-US" sz="23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3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Estadual</a:t>
            </a:r>
            <a:r>
              <a:rPr lang="en-US" sz="23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de </a:t>
            </a:r>
            <a:r>
              <a:rPr lang="en-US" sz="23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Trânsito</a:t>
            </a:r>
            <a:r>
              <a:rPr lang="en-US" sz="23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- DETRAN (</a:t>
            </a:r>
            <a:r>
              <a:rPr lang="en-US" sz="23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Estadual</a:t>
            </a:r>
            <a:r>
              <a:rPr lang="en-US" sz="23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) e da </a:t>
            </a:r>
            <a:r>
              <a:rPr lang="en-US" sz="23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Superintendência</a:t>
            </a:r>
            <a:r>
              <a:rPr lang="en-US" sz="23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de </a:t>
            </a:r>
            <a:r>
              <a:rPr lang="en-US" sz="23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Trânsito</a:t>
            </a:r>
            <a:r>
              <a:rPr lang="en-US" sz="23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Municipal - SUTRANS (Municipal) e </a:t>
            </a:r>
            <a:r>
              <a:rPr lang="en-US" sz="23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ainda</a:t>
            </a:r>
            <a:r>
              <a:rPr lang="en-US" sz="23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3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em</a:t>
            </a:r>
            <a:r>
              <a:rPr lang="en-US" sz="23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300" b="0" i="0" u="none" strike="noStrike" cap="none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blitz</a:t>
            </a:r>
            <a:r>
              <a:rPr lang="en-US" sz="23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3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preventivas</a:t>
            </a:r>
            <a:r>
              <a:rPr lang="en-US" sz="23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3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realizadas</a:t>
            </a:r>
            <a:r>
              <a:rPr lang="en-US" sz="23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3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ao</a:t>
            </a:r>
            <a:r>
              <a:rPr lang="en-US" sz="23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3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longo</a:t>
            </a:r>
            <a:r>
              <a:rPr lang="en-US" sz="23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do </a:t>
            </a:r>
            <a:r>
              <a:rPr lang="en-US" sz="23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ano</a:t>
            </a:r>
            <a:r>
              <a:rPr lang="en-US" sz="2300" b="0" i="0" u="none" strike="noStrike" cap="none" dirty="0">
                <a:solidFill>
                  <a:srgbClr val="000000"/>
                </a:solidFill>
                <a:latin typeface="+mj-lt"/>
                <a:ea typeface="Open Sans Light"/>
                <a:cs typeface="Open Sans Light"/>
                <a:sym typeface="Open Sans Light"/>
              </a:rPr>
              <a:t>.</a:t>
            </a:r>
            <a:endParaRPr sz="1900" b="0" i="0" u="none" strike="noStrike" cap="none" dirty="0">
              <a:solidFill>
                <a:srgbClr val="000000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110" name="Google Shape;110;p10"/>
          <p:cNvSpPr txBox="1"/>
          <p:nvPr/>
        </p:nvSpPr>
        <p:spPr>
          <a:xfrm>
            <a:off x="946150" y="5691187"/>
            <a:ext cx="3903662" cy="1177925"/>
          </a:xfrm>
          <a:prstGeom prst="rect">
            <a:avLst/>
          </a:prstGeom>
          <a:gradFill>
            <a:gsLst>
              <a:gs pos="0">
                <a:srgbClr val="F6F8FC"/>
              </a:gs>
              <a:gs pos="74000">
                <a:srgbClr val="D9D9D9"/>
              </a:gs>
              <a:gs pos="100000">
                <a:srgbClr val="BFBFBF"/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14"/>
          <p:cNvSpPr/>
          <p:nvPr/>
        </p:nvSpPr>
        <p:spPr>
          <a:xfrm>
            <a:off x="0" y="0"/>
            <a:ext cx="501353" cy="6858000"/>
          </a:xfrm>
          <a:prstGeom prst="rect">
            <a:avLst/>
          </a:prstGeom>
          <a:gradFill>
            <a:gsLst>
              <a:gs pos="0">
                <a:schemeClr val="dk1"/>
              </a:gs>
              <a:gs pos="11000">
                <a:schemeClr val="dk1"/>
              </a:gs>
              <a:gs pos="38000">
                <a:srgbClr val="A57C00"/>
              </a:gs>
              <a:gs pos="69000">
                <a:srgbClr val="BF9000"/>
              </a:gs>
              <a:gs pos="90000">
                <a:schemeClr val="accent4"/>
              </a:gs>
              <a:gs pos="100000">
                <a:schemeClr val="accent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14"/>
          <p:cNvSpPr txBox="1"/>
          <p:nvPr/>
        </p:nvSpPr>
        <p:spPr>
          <a:xfrm>
            <a:off x="900112" y="741362"/>
            <a:ext cx="8693150" cy="5222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800"/>
              <a:buFont typeface="Arial Black"/>
              <a:buNone/>
            </a:pPr>
            <a:r>
              <a:rPr lang="en-US" sz="2800" b="0" i="0" u="none" strike="noStrike" cap="none">
                <a:solidFill>
                  <a:srgbClr val="595959"/>
                </a:solidFill>
                <a:latin typeface="Arial Black"/>
                <a:ea typeface="Arial Black"/>
                <a:cs typeface="Arial Black"/>
                <a:sym typeface="Arial Black"/>
              </a:rPr>
              <a:t>Partes Interessadas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" name="Google Shape;162;p14"/>
          <p:cNvSpPr txBox="1"/>
          <p:nvPr/>
        </p:nvSpPr>
        <p:spPr>
          <a:xfrm rot="-5400000">
            <a:off x="-2432050" y="3302000"/>
            <a:ext cx="5365750" cy="2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lang="en-US" sz="10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PARTES INTERESSADAS E REDES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163" name="Google Shape;163;p14"/>
          <p:cNvGraphicFramePr/>
          <p:nvPr>
            <p:extLst>
              <p:ext uri="{D42A27DB-BD31-4B8C-83A1-F6EECF244321}">
                <p14:modId xmlns:p14="http://schemas.microsoft.com/office/powerpoint/2010/main" val="1796719830"/>
              </p:ext>
            </p:extLst>
          </p:nvPr>
        </p:nvGraphicFramePr>
        <p:xfrm>
          <a:off x="985837" y="1449387"/>
          <a:ext cx="11082338" cy="4922355"/>
        </p:xfrm>
        <a:graphic>
          <a:graphicData uri="http://schemas.openxmlformats.org/drawingml/2006/table">
            <a:tbl>
              <a:tblPr>
                <a:noFill/>
                <a:tableStyleId>{64FE9848-5764-4357-93EA-F29908C79110}</a:tableStyleId>
              </a:tblPr>
              <a:tblGrid>
                <a:gridCol w="308220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194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8065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371">
                <a:tc>
                  <a:txBody>
                    <a:bodyPr/>
                    <a:lstStyle/>
                    <a:p>
                      <a:pPr marL="71437" marR="0" lvl="0" indent="0" algn="just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800" b="1" i="0" u="none" strike="noStrike" cap="none" dirty="0" err="1">
                          <a:solidFill>
                            <a:srgbClr val="000000"/>
                          </a:solidFill>
                          <a:latin typeface="+mj-lt"/>
                          <a:ea typeface="Calibri"/>
                          <a:cs typeface="Calibri"/>
                          <a:sym typeface="Calibri"/>
                        </a:rPr>
                        <a:t>Denominação</a:t>
                      </a:r>
                      <a:r>
                        <a:rPr lang="en-US" sz="1800" b="1" i="0" u="none" strike="noStrike" cap="none" dirty="0">
                          <a:solidFill>
                            <a:srgbClr val="000000"/>
                          </a:solidFill>
                          <a:latin typeface="+mj-lt"/>
                          <a:ea typeface="Calibri"/>
                          <a:cs typeface="Calibri"/>
                          <a:sym typeface="Calibri"/>
                        </a:rPr>
                        <a:t> da </a:t>
                      </a:r>
                      <a:r>
                        <a:rPr lang="en-US" sz="1800" b="1" i="0" u="none" strike="noStrike" cap="none" dirty="0" err="1">
                          <a:solidFill>
                            <a:srgbClr val="000000"/>
                          </a:solidFill>
                          <a:latin typeface="+mj-lt"/>
                          <a:ea typeface="Calibri"/>
                          <a:cs typeface="Calibri"/>
                          <a:sym typeface="Calibri"/>
                        </a:rPr>
                        <a:t>parte</a:t>
                      </a:r>
                      <a:endParaRPr sz="1800" b="1" i="0" u="none" strike="noStrike" cap="none" dirty="0">
                        <a:solidFill>
                          <a:srgbClr val="000000"/>
                        </a:solidFill>
                        <a:latin typeface="+mj-lt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71437" marR="0" lvl="0" indent="0" algn="just" rtl="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800" b="1" i="0" u="none" strike="noStrike" cap="none" dirty="0" err="1">
                          <a:solidFill>
                            <a:srgbClr val="000000"/>
                          </a:solidFill>
                          <a:latin typeface="+mj-lt"/>
                          <a:ea typeface="Calibri"/>
                          <a:cs typeface="Calibri"/>
                          <a:sym typeface="Calibri"/>
                        </a:rPr>
                        <a:t>interessada</a:t>
                      </a:r>
                      <a:endParaRPr sz="1800" b="1" u="none" strike="noStrike" cap="none" dirty="0">
                        <a:latin typeface="+mj-lt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4C7E7"/>
                    </a:solidFill>
                  </a:tcPr>
                </a:tc>
                <a:tc>
                  <a:txBody>
                    <a:bodyPr/>
                    <a:lstStyle/>
                    <a:p>
                      <a:pPr marL="107950" marR="0" lvl="0" indent="0" algn="just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800" b="1" i="0" u="none" strike="noStrike" cap="none">
                          <a:solidFill>
                            <a:srgbClr val="000000"/>
                          </a:solidFill>
                          <a:latin typeface="+mj-lt"/>
                          <a:ea typeface="Calibri"/>
                          <a:cs typeface="Calibri"/>
                          <a:sym typeface="Calibri"/>
                        </a:rPr>
                        <a:t>Principais interlocutores ou</a:t>
                      </a:r>
                      <a:endParaRPr sz="1800" b="1" i="0" u="none" strike="noStrike" cap="none">
                        <a:solidFill>
                          <a:srgbClr val="000000"/>
                        </a:solidFill>
                        <a:latin typeface="+mj-lt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107950" marR="0" lvl="0" indent="0" algn="just" rtl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800" b="1" i="0" u="none" strike="noStrike" cap="none">
                          <a:solidFill>
                            <a:srgbClr val="000000"/>
                          </a:solidFill>
                          <a:latin typeface="+mj-lt"/>
                          <a:ea typeface="Calibri"/>
                          <a:cs typeface="Calibri"/>
                          <a:sym typeface="Calibri"/>
                        </a:rPr>
                        <a:t>representantes</a:t>
                      </a:r>
                      <a:endParaRPr sz="1800" b="1" u="none" strike="noStrike" cap="none">
                        <a:latin typeface="+mj-lt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4C7E7"/>
                    </a:solidFill>
                  </a:tcPr>
                </a:tc>
                <a:tc>
                  <a:txBody>
                    <a:bodyPr/>
                    <a:lstStyle/>
                    <a:p>
                      <a:pPr marL="77787" marR="0" lvl="0" indent="0" algn="just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800" b="1" i="0" u="none" strike="noStrike" cap="none" dirty="0" err="1">
                          <a:solidFill>
                            <a:srgbClr val="000000"/>
                          </a:solidFill>
                          <a:latin typeface="+mj-lt"/>
                          <a:ea typeface="Calibri"/>
                          <a:cs typeface="Calibri"/>
                          <a:sym typeface="Calibri"/>
                        </a:rPr>
                        <a:t>Principais</a:t>
                      </a:r>
                      <a:r>
                        <a:rPr lang="en-US" sz="1800" b="1" i="0" u="none" strike="noStrike" cap="none" dirty="0">
                          <a:solidFill>
                            <a:srgbClr val="000000"/>
                          </a:solidFill>
                          <a:latin typeface="+mj-lt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1800" b="1" i="0" u="none" strike="noStrike" cap="none" dirty="0" err="1">
                          <a:solidFill>
                            <a:srgbClr val="000000"/>
                          </a:solidFill>
                          <a:latin typeface="+mj-lt"/>
                          <a:ea typeface="Calibri"/>
                          <a:cs typeface="Calibri"/>
                          <a:sym typeface="Calibri"/>
                        </a:rPr>
                        <a:t>necessidades</a:t>
                      </a:r>
                      <a:r>
                        <a:rPr lang="en-US" sz="1800" b="1" i="0" u="none" strike="noStrike" cap="none" dirty="0">
                          <a:solidFill>
                            <a:srgbClr val="000000"/>
                          </a:solidFill>
                          <a:latin typeface="+mj-lt"/>
                          <a:ea typeface="Calibri"/>
                          <a:cs typeface="Calibri"/>
                          <a:sym typeface="Calibri"/>
                        </a:rPr>
                        <a:t> e</a:t>
                      </a:r>
                      <a:endParaRPr sz="1800" b="1" i="0" u="none" strike="noStrike" cap="none" dirty="0">
                        <a:solidFill>
                          <a:srgbClr val="000000"/>
                        </a:solidFill>
                        <a:latin typeface="+mj-lt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77787" marR="0" lvl="0" indent="0" algn="just" rtl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800" b="1" i="0" u="none" strike="noStrike" cap="none" dirty="0" err="1">
                          <a:solidFill>
                            <a:srgbClr val="000000"/>
                          </a:solidFill>
                          <a:latin typeface="+mj-lt"/>
                          <a:ea typeface="Calibri"/>
                          <a:cs typeface="Calibri"/>
                          <a:sym typeface="Calibri"/>
                        </a:rPr>
                        <a:t>expectativas</a:t>
                      </a:r>
                      <a:endParaRPr sz="1800" b="1" u="none" strike="noStrike" cap="none" dirty="0">
                        <a:latin typeface="+mj-lt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4C7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30931">
                <a:tc>
                  <a:txBody>
                    <a:bodyPr/>
                    <a:lstStyle/>
                    <a:p>
                      <a:pPr marL="0" marR="0" lvl="0" indent="0" algn="just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latin typeface="+mj-lt"/>
                          <a:ea typeface="Calibri"/>
                          <a:cs typeface="Calibri"/>
                          <a:sym typeface="Calibri"/>
                        </a:rPr>
                        <a:t> </a:t>
                      </a: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+mj-lt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just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latin typeface="+mj-lt"/>
                          <a:ea typeface="Calibri"/>
                          <a:cs typeface="Calibri"/>
                          <a:sym typeface="Calibri"/>
                        </a:rPr>
                        <a:t>CPR-O</a:t>
                      </a:r>
                      <a:endParaRPr sz="1600" u="none" strike="noStrike" cap="none" dirty="0">
                        <a:latin typeface="+mj-lt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marL="53975" marR="0" lvl="0" indent="0" algn="just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latin typeface="+mj-lt"/>
                          <a:ea typeface="Calibri"/>
                          <a:cs typeface="Calibri"/>
                          <a:sym typeface="Calibri"/>
                        </a:rPr>
                        <a:t>Cel PM José Carlos Soares Mariano  </a:t>
                      </a:r>
                      <a:r>
                        <a:rPr lang="en-US" sz="1600" b="1" i="0" u="none" strike="noStrike" cap="none" dirty="0">
                          <a:solidFill>
                            <a:srgbClr val="000000"/>
                          </a:solidFill>
                          <a:latin typeface="+mj-lt"/>
                          <a:ea typeface="Calibri"/>
                          <a:cs typeface="Calibri"/>
                          <a:sym typeface="Calibri"/>
                        </a:rPr>
                        <a:t>(Comandante)</a:t>
                      </a:r>
                      <a:endParaRPr sz="1600" b="1" i="0" u="none" strike="noStrike" cap="none" dirty="0">
                        <a:solidFill>
                          <a:srgbClr val="000000"/>
                        </a:solidFill>
                        <a:latin typeface="+mj-lt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53975" marR="0" lvl="0" indent="0" algn="just" rtl="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latin typeface="+mj-lt"/>
                          <a:ea typeface="Calibri"/>
                          <a:cs typeface="Calibri"/>
                          <a:sym typeface="Calibri"/>
                        </a:rPr>
                        <a:t>Tel.: (77) 3612-7390</a:t>
                      </a:r>
                      <a:endParaRPr sz="1600" u="none" strike="noStrike" cap="none" dirty="0">
                        <a:latin typeface="+mj-lt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just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600" b="0" i="0" u="none" strike="noStrike" cap="none">
                          <a:solidFill>
                            <a:srgbClr val="000000"/>
                          </a:solidFill>
                          <a:latin typeface="+mj-lt"/>
                          <a:ea typeface="Calibri"/>
                          <a:cs typeface="Calibri"/>
                          <a:sym typeface="Calibri"/>
                        </a:rPr>
                        <a:t>Implantação das Diretrizes Operacionais, cumprimento dos Planos Operacionais e Projetos</a:t>
                      </a:r>
                      <a:endParaRPr sz="1600" u="none" strike="noStrike" cap="none">
                        <a:latin typeface="+mj-lt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51171">
                <a:tc>
                  <a:txBody>
                    <a:bodyPr/>
                    <a:lstStyle/>
                    <a:p>
                      <a:pPr marL="0" marR="0" lvl="0" indent="0" algn="just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latin typeface="+mj-lt"/>
                          <a:ea typeface="Calibri"/>
                          <a:cs typeface="Calibri"/>
                          <a:sym typeface="Calibri"/>
                        </a:rPr>
                        <a:t> </a:t>
                      </a: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+mj-lt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just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latin typeface="+mj-lt"/>
                          <a:ea typeface="Calibri"/>
                          <a:cs typeface="Calibri"/>
                          <a:sym typeface="Calibri"/>
                        </a:rPr>
                        <a:t>CONSEG/LEM</a:t>
                      </a:r>
                      <a:endParaRPr sz="1600" u="none" strike="noStrike" cap="none" dirty="0">
                        <a:latin typeface="+mj-lt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4C7E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just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latin typeface="+mj-lt"/>
                          <a:ea typeface="Calibri"/>
                          <a:cs typeface="Calibri"/>
                          <a:sym typeface="Calibri"/>
                        </a:rPr>
                        <a:t>Sr. </a:t>
                      </a:r>
                      <a:r>
                        <a:rPr lang="en-US" sz="1600" b="0" i="0" u="none" strike="noStrike" cap="none" dirty="0" err="1">
                          <a:solidFill>
                            <a:srgbClr val="000000"/>
                          </a:solidFill>
                          <a:latin typeface="+mj-lt"/>
                          <a:ea typeface="Calibri"/>
                          <a:cs typeface="Calibri"/>
                          <a:sym typeface="Calibri"/>
                        </a:rPr>
                        <a:t>Heliton</a:t>
                      </a: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latin typeface="+mj-lt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1600" b="0" i="0" u="none" strike="noStrike" cap="none" dirty="0" err="1">
                          <a:solidFill>
                            <a:srgbClr val="000000"/>
                          </a:solidFill>
                          <a:latin typeface="+mj-lt"/>
                          <a:ea typeface="Calibri"/>
                          <a:cs typeface="Calibri"/>
                          <a:sym typeface="Calibri"/>
                        </a:rPr>
                        <a:t>Bettes</a:t>
                      </a: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latin typeface="+mj-lt"/>
                          <a:ea typeface="Calibri"/>
                          <a:cs typeface="Calibri"/>
                          <a:sym typeface="Calibri"/>
                        </a:rPr>
                        <a:t> - </a:t>
                      </a:r>
                      <a:r>
                        <a:rPr lang="en-US" sz="1600" b="1" i="0" u="none" strike="noStrike" cap="none" dirty="0" err="1">
                          <a:solidFill>
                            <a:srgbClr val="000000"/>
                          </a:solidFill>
                          <a:latin typeface="+mj-lt"/>
                          <a:ea typeface="Calibri"/>
                          <a:cs typeface="Calibri"/>
                          <a:sym typeface="Calibri"/>
                        </a:rPr>
                        <a:t>Presidente</a:t>
                      </a:r>
                      <a:r>
                        <a:rPr lang="en-US" sz="1600" b="1" i="0" u="none" strike="noStrike" cap="none" dirty="0">
                          <a:solidFill>
                            <a:srgbClr val="000000"/>
                          </a:solidFill>
                          <a:latin typeface="+mj-lt"/>
                          <a:ea typeface="Calibri"/>
                          <a:cs typeface="Calibri"/>
                          <a:sym typeface="Calibri"/>
                        </a:rPr>
                        <a:t> do CONSEG</a:t>
                      </a:r>
                      <a:endParaRPr sz="1600" b="1" i="0" u="none" strike="noStrike" cap="none" dirty="0">
                        <a:solidFill>
                          <a:srgbClr val="000000"/>
                        </a:solidFill>
                        <a:latin typeface="+mj-lt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just" rtl="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latin typeface="+mj-lt"/>
                          <a:ea typeface="Calibri"/>
                          <a:cs typeface="Calibri"/>
                          <a:sym typeface="Calibri"/>
                        </a:rPr>
                        <a:t>Tel.: (77) 99922-8555</a:t>
                      </a:r>
                      <a:endParaRPr sz="1600" u="none" strike="noStrike" cap="none" dirty="0">
                        <a:latin typeface="+mj-lt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4C7E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just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600" b="0" i="0" u="none" strike="noStrike" cap="none">
                          <a:solidFill>
                            <a:srgbClr val="000000"/>
                          </a:solidFill>
                          <a:latin typeface="+mj-lt"/>
                          <a:ea typeface="Calibri"/>
                          <a:cs typeface="Calibri"/>
                          <a:sym typeface="Calibri"/>
                        </a:rPr>
                        <a:t>Ligação entre a comunidade e a Polícia Militar em Luís Eduardo Magalhães.</a:t>
                      </a:r>
                      <a:endParaRPr sz="1600" u="none" strike="noStrike" cap="none">
                        <a:latin typeface="+mj-lt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4C7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51171">
                <a:tc>
                  <a:txBody>
                    <a:bodyPr/>
                    <a:lstStyle/>
                    <a:p>
                      <a:pPr marL="0" marR="0" lvl="0" indent="0" algn="just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latin typeface="+mj-lt"/>
                          <a:ea typeface="Calibri"/>
                          <a:cs typeface="Calibri"/>
                          <a:sym typeface="Calibri"/>
                        </a:rPr>
                        <a:t>PREFEITURA MUNICIPAL DE LUÍS EDUARDO MAGALHÃES</a:t>
                      </a:r>
                      <a:endParaRPr sz="1600" u="none" strike="noStrike" cap="none" dirty="0">
                        <a:latin typeface="+mj-lt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just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latin typeface="+mj-lt"/>
                          <a:ea typeface="Calibri"/>
                          <a:cs typeface="Calibri"/>
                          <a:sym typeface="Calibri"/>
                        </a:rPr>
                        <a:t>Sr. </a:t>
                      </a:r>
                      <a:r>
                        <a:rPr lang="en-US" sz="1600" b="0" i="0" u="none" strike="noStrike" cap="none" dirty="0" err="1">
                          <a:solidFill>
                            <a:srgbClr val="000000"/>
                          </a:solidFill>
                          <a:latin typeface="+mj-lt"/>
                          <a:ea typeface="Calibri"/>
                          <a:cs typeface="Calibri"/>
                          <a:sym typeface="Calibri"/>
                        </a:rPr>
                        <a:t>Ondumar</a:t>
                      </a: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latin typeface="+mj-lt"/>
                          <a:ea typeface="Calibri"/>
                          <a:cs typeface="Calibri"/>
                          <a:sym typeface="Calibri"/>
                        </a:rPr>
                        <a:t> Ferreira Borges Junior - </a:t>
                      </a:r>
                      <a:r>
                        <a:rPr lang="en-US" sz="1600" b="1" i="0" u="none" strike="noStrike" cap="none" dirty="0" err="1">
                          <a:solidFill>
                            <a:srgbClr val="000000"/>
                          </a:solidFill>
                          <a:latin typeface="+mj-lt"/>
                          <a:ea typeface="Calibri"/>
                          <a:cs typeface="Calibri"/>
                          <a:sym typeface="Calibri"/>
                        </a:rPr>
                        <a:t>Prefeito</a:t>
                      </a:r>
                      <a:endParaRPr sz="1600" b="1" u="none" strike="noStrike" cap="none" dirty="0">
                        <a:latin typeface="+mj-lt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just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600" b="0" i="0" u="none" strike="noStrike" cap="none">
                          <a:solidFill>
                            <a:srgbClr val="000000"/>
                          </a:solidFill>
                          <a:latin typeface="+mj-lt"/>
                          <a:ea typeface="Calibri"/>
                          <a:cs typeface="Calibri"/>
                          <a:sym typeface="Calibri"/>
                        </a:rPr>
                        <a:t>Fortalecimento da segurança e da ordem pública no município, visando a redução dos índices de violência</a:t>
                      </a:r>
                      <a:endParaRPr sz="1600" u="none" strike="noStrike" cap="none">
                        <a:latin typeface="+mj-lt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51171">
                <a:tc>
                  <a:txBody>
                    <a:bodyPr/>
                    <a:lstStyle/>
                    <a:p>
                      <a:pPr marL="0" marR="0" lvl="0" indent="0" algn="just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latin typeface="+mj-lt"/>
                          <a:ea typeface="Calibri"/>
                          <a:cs typeface="Calibri"/>
                          <a:sym typeface="Calibri"/>
                        </a:rPr>
                        <a:t>PREFEITURA DE SÃO DESIDÉRIO</a:t>
                      </a:r>
                      <a:endParaRPr sz="1600" u="none" strike="noStrike" cap="none" dirty="0">
                        <a:latin typeface="+mj-lt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4C7E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just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latin typeface="+mj-lt"/>
                          <a:ea typeface="Calibri"/>
                          <a:cs typeface="Calibri"/>
                          <a:sym typeface="Calibri"/>
                        </a:rPr>
                        <a:t>Sr. José Carlos de Carvalho - </a:t>
                      </a:r>
                      <a:r>
                        <a:rPr lang="en-US" sz="1600" b="1" i="0" u="none" strike="noStrike" cap="none" dirty="0" err="1">
                          <a:solidFill>
                            <a:srgbClr val="000000"/>
                          </a:solidFill>
                          <a:latin typeface="+mj-lt"/>
                          <a:ea typeface="Calibri"/>
                          <a:cs typeface="Calibri"/>
                          <a:sym typeface="Calibri"/>
                        </a:rPr>
                        <a:t>Prefeito</a:t>
                      </a:r>
                      <a:endParaRPr sz="1600" b="1" u="none" strike="noStrike" cap="none" dirty="0">
                        <a:latin typeface="+mj-lt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4C7E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just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600" b="0" i="0" u="none" strike="noStrike" cap="none" dirty="0" err="1">
                          <a:solidFill>
                            <a:srgbClr val="000000"/>
                          </a:solidFill>
                          <a:latin typeface="+mj-lt"/>
                          <a:ea typeface="Calibri"/>
                          <a:cs typeface="Calibri"/>
                          <a:sym typeface="Calibri"/>
                        </a:rPr>
                        <a:t>Fortalecimento</a:t>
                      </a: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latin typeface="+mj-lt"/>
                          <a:ea typeface="Calibri"/>
                          <a:cs typeface="Calibri"/>
                          <a:sym typeface="Calibri"/>
                        </a:rPr>
                        <a:t> da </a:t>
                      </a:r>
                      <a:r>
                        <a:rPr lang="en-US" sz="1600" b="0" i="0" u="none" strike="noStrike" cap="none" dirty="0" err="1">
                          <a:solidFill>
                            <a:srgbClr val="000000"/>
                          </a:solidFill>
                          <a:latin typeface="+mj-lt"/>
                          <a:ea typeface="Calibri"/>
                          <a:cs typeface="Calibri"/>
                          <a:sym typeface="Calibri"/>
                        </a:rPr>
                        <a:t>segurança</a:t>
                      </a: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latin typeface="+mj-lt"/>
                          <a:ea typeface="Calibri"/>
                          <a:cs typeface="Calibri"/>
                          <a:sym typeface="Calibri"/>
                        </a:rPr>
                        <a:t> e da </a:t>
                      </a:r>
                      <a:r>
                        <a:rPr lang="en-US" sz="1600" b="0" i="0" u="none" strike="noStrike" cap="none" dirty="0" err="1">
                          <a:solidFill>
                            <a:srgbClr val="000000"/>
                          </a:solidFill>
                          <a:latin typeface="+mj-lt"/>
                          <a:ea typeface="Calibri"/>
                          <a:cs typeface="Calibri"/>
                          <a:sym typeface="Calibri"/>
                        </a:rPr>
                        <a:t>ordem</a:t>
                      </a: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latin typeface="+mj-lt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1600" b="0" i="0" u="none" strike="noStrike" cap="none" dirty="0" err="1">
                          <a:solidFill>
                            <a:srgbClr val="000000"/>
                          </a:solidFill>
                          <a:latin typeface="+mj-lt"/>
                          <a:ea typeface="Calibri"/>
                          <a:cs typeface="Calibri"/>
                          <a:sym typeface="Calibri"/>
                        </a:rPr>
                        <a:t>pública</a:t>
                      </a: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latin typeface="+mj-lt"/>
                          <a:ea typeface="Calibri"/>
                          <a:cs typeface="Calibri"/>
                          <a:sym typeface="Calibri"/>
                        </a:rPr>
                        <a:t> no </a:t>
                      </a:r>
                      <a:r>
                        <a:rPr lang="en-US" sz="1600" b="0" i="0" u="none" strike="noStrike" cap="none" dirty="0" err="1">
                          <a:solidFill>
                            <a:srgbClr val="000000"/>
                          </a:solidFill>
                          <a:latin typeface="+mj-lt"/>
                          <a:ea typeface="Calibri"/>
                          <a:cs typeface="Calibri"/>
                          <a:sym typeface="Calibri"/>
                        </a:rPr>
                        <a:t>município</a:t>
                      </a: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latin typeface="+mj-lt"/>
                          <a:ea typeface="Calibri"/>
                          <a:cs typeface="Calibri"/>
                          <a:sym typeface="Calibri"/>
                        </a:rPr>
                        <a:t>, </a:t>
                      </a:r>
                      <a:r>
                        <a:rPr lang="en-US" sz="1600" b="0" i="0" u="none" strike="noStrike" cap="none" dirty="0" err="1">
                          <a:solidFill>
                            <a:srgbClr val="000000"/>
                          </a:solidFill>
                          <a:latin typeface="+mj-lt"/>
                          <a:ea typeface="Calibri"/>
                          <a:cs typeface="Calibri"/>
                          <a:sym typeface="Calibri"/>
                        </a:rPr>
                        <a:t>visando</a:t>
                      </a: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latin typeface="+mj-lt"/>
                          <a:ea typeface="Calibri"/>
                          <a:cs typeface="Calibri"/>
                          <a:sym typeface="Calibri"/>
                        </a:rPr>
                        <a:t> a </a:t>
                      </a:r>
                      <a:r>
                        <a:rPr lang="en-US" sz="1600" b="0" i="0" u="none" strike="noStrike" cap="none" dirty="0" err="1">
                          <a:solidFill>
                            <a:srgbClr val="000000"/>
                          </a:solidFill>
                          <a:latin typeface="+mj-lt"/>
                          <a:ea typeface="Calibri"/>
                          <a:cs typeface="Calibri"/>
                          <a:sym typeface="Calibri"/>
                        </a:rPr>
                        <a:t>redução</a:t>
                      </a: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latin typeface="+mj-lt"/>
                          <a:ea typeface="Calibri"/>
                          <a:cs typeface="Calibri"/>
                          <a:sym typeface="Calibri"/>
                        </a:rPr>
                        <a:t> dos </a:t>
                      </a:r>
                      <a:r>
                        <a:rPr lang="en-US" sz="1600" b="0" i="0" u="none" strike="noStrike" cap="none" dirty="0" err="1">
                          <a:solidFill>
                            <a:srgbClr val="000000"/>
                          </a:solidFill>
                          <a:latin typeface="+mj-lt"/>
                          <a:ea typeface="Calibri"/>
                          <a:cs typeface="Calibri"/>
                          <a:sym typeface="Calibri"/>
                        </a:rPr>
                        <a:t>índices</a:t>
                      </a: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latin typeface="+mj-lt"/>
                          <a:ea typeface="Calibri"/>
                          <a:cs typeface="Calibri"/>
                          <a:sym typeface="Calibri"/>
                        </a:rPr>
                        <a:t> de </a:t>
                      </a:r>
                      <a:r>
                        <a:rPr lang="en-US" sz="1600" b="0" i="0" u="none" strike="noStrike" cap="none" dirty="0" err="1">
                          <a:solidFill>
                            <a:srgbClr val="000000"/>
                          </a:solidFill>
                          <a:latin typeface="+mj-lt"/>
                          <a:ea typeface="Calibri"/>
                          <a:cs typeface="Calibri"/>
                          <a:sym typeface="Calibri"/>
                        </a:rPr>
                        <a:t>violência</a:t>
                      </a:r>
                      <a:endParaRPr sz="1600" u="none" strike="noStrike" cap="none" dirty="0">
                        <a:latin typeface="+mj-lt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4C7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51171">
                <a:tc>
                  <a:txBody>
                    <a:bodyPr/>
                    <a:lstStyle/>
                    <a:p>
                      <a:pPr marL="0" marR="0" lvl="0" indent="0" algn="just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Calibri"/>
                        <a:buNone/>
                      </a:pPr>
                      <a:endParaRPr lang="pt-BR" sz="1600" u="none" strike="noStrike" cap="none" dirty="0">
                        <a:latin typeface="+mj-lt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just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Calibri"/>
                        <a:buNone/>
                      </a:pPr>
                      <a:endParaRPr sz="1600" u="none" strike="noStrike" cap="none" dirty="0">
                        <a:latin typeface="+mj-lt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just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Calibri"/>
                        <a:buNone/>
                      </a:pPr>
                      <a:endParaRPr sz="1600" u="none" strike="noStrike" cap="none" dirty="0">
                        <a:latin typeface="+mj-lt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33"/>
          <p:cNvSpPr/>
          <p:nvPr/>
        </p:nvSpPr>
        <p:spPr>
          <a:xfrm>
            <a:off x="0" y="0"/>
            <a:ext cx="501353" cy="6858000"/>
          </a:xfrm>
          <a:prstGeom prst="rect">
            <a:avLst/>
          </a:prstGeom>
          <a:gradFill>
            <a:gsLst>
              <a:gs pos="0">
                <a:schemeClr val="dk1"/>
              </a:gs>
              <a:gs pos="11000">
                <a:schemeClr val="dk1"/>
              </a:gs>
              <a:gs pos="38000">
                <a:srgbClr val="A57C00"/>
              </a:gs>
              <a:gs pos="69000">
                <a:srgbClr val="BF9000"/>
              </a:gs>
              <a:gs pos="90000">
                <a:schemeClr val="accent4"/>
              </a:gs>
              <a:gs pos="100000">
                <a:schemeClr val="accent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33"/>
          <p:cNvSpPr txBox="1"/>
          <p:nvPr/>
        </p:nvSpPr>
        <p:spPr>
          <a:xfrm>
            <a:off x="900112" y="140408"/>
            <a:ext cx="8693150" cy="5222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800"/>
              <a:buFont typeface="Arial Black"/>
              <a:buNone/>
            </a:pPr>
            <a:r>
              <a:rPr lang="en-US" sz="2800" b="0" i="0" u="none" strike="noStrike" cap="none" dirty="0">
                <a:solidFill>
                  <a:srgbClr val="595959"/>
                </a:solidFill>
                <a:latin typeface="Arial Black"/>
                <a:ea typeface="Arial Black"/>
                <a:cs typeface="Arial Black"/>
                <a:sym typeface="Arial Black"/>
              </a:rPr>
              <a:t>Redes de </a:t>
            </a:r>
            <a:r>
              <a:rPr lang="en-US" sz="2800" b="0" i="0" u="none" strike="noStrike" cap="none" dirty="0" err="1">
                <a:solidFill>
                  <a:srgbClr val="595959"/>
                </a:solidFill>
                <a:latin typeface="Arial Black"/>
                <a:ea typeface="Arial Black"/>
                <a:cs typeface="Arial Black"/>
                <a:sym typeface="Arial Black"/>
              </a:rPr>
              <a:t>Atuação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33"/>
          <p:cNvSpPr txBox="1"/>
          <p:nvPr/>
        </p:nvSpPr>
        <p:spPr>
          <a:xfrm rot="-5400000">
            <a:off x="-2432050" y="3302000"/>
            <a:ext cx="5365750" cy="2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lang="en-US" sz="10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PARTES INTERESSADAS E REDES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3" name="Tabela 2">
            <a:extLst>
              <a:ext uri="{FF2B5EF4-FFF2-40B4-BE49-F238E27FC236}">
                <a16:creationId xmlns:a16="http://schemas.microsoft.com/office/drawing/2014/main" id="{560E96B9-60DF-643B-87EF-7CE0A3BB10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7331863"/>
              </p:ext>
            </p:extLst>
          </p:nvPr>
        </p:nvGraphicFramePr>
        <p:xfrm>
          <a:off x="749004" y="662695"/>
          <a:ext cx="11319171" cy="5656068"/>
        </p:xfrm>
        <a:graphic>
          <a:graphicData uri="http://schemas.openxmlformats.org/drawingml/2006/table">
            <a:tbl>
              <a:tblPr/>
              <a:tblGrid>
                <a:gridCol w="1777049">
                  <a:extLst>
                    <a:ext uri="{9D8B030D-6E8A-4147-A177-3AD203B41FA5}">
                      <a16:colId xmlns:a16="http://schemas.microsoft.com/office/drawing/2014/main" val="3459999161"/>
                    </a:ext>
                  </a:extLst>
                </a:gridCol>
                <a:gridCol w="3631880">
                  <a:extLst>
                    <a:ext uri="{9D8B030D-6E8A-4147-A177-3AD203B41FA5}">
                      <a16:colId xmlns:a16="http://schemas.microsoft.com/office/drawing/2014/main" val="1968331026"/>
                    </a:ext>
                  </a:extLst>
                </a:gridCol>
                <a:gridCol w="2870778">
                  <a:extLst>
                    <a:ext uri="{9D8B030D-6E8A-4147-A177-3AD203B41FA5}">
                      <a16:colId xmlns:a16="http://schemas.microsoft.com/office/drawing/2014/main" val="2762897640"/>
                    </a:ext>
                  </a:extLst>
                </a:gridCol>
                <a:gridCol w="3039464">
                  <a:extLst>
                    <a:ext uri="{9D8B030D-6E8A-4147-A177-3AD203B41FA5}">
                      <a16:colId xmlns:a16="http://schemas.microsoft.com/office/drawing/2014/main" val="2873102360"/>
                    </a:ext>
                  </a:extLst>
                </a:gridCol>
              </a:tblGrid>
              <a:tr h="506021">
                <a:tc>
                  <a:txBody>
                    <a:bodyPr/>
                    <a:lstStyle/>
                    <a:p>
                      <a:pPr marR="215265" algn="just">
                        <a:spcBef>
                          <a:spcPts val="835"/>
                        </a:spcBef>
                        <a:spcAft>
                          <a:spcPts val="0"/>
                        </a:spcAft>
                      </a:pPr>
                      <a:r>
                        <a:rPr lang="pt-BR" sz="1600" b="1" dirty="0">
                          <a:solidFill>
                            <a:srgbClr val="000000"/>
                          </a:solidFill>
                          <a:effectLst/>
                          <a:latin typeface="+mj-lt"/>
                          <a:ea typeface="Noto Sans Symbols" panose="020B0604020202020204" charset="0"/>
                        </a:rPr>
                        <a:t>Denominação da rede</a:t>
                      </a:r>
                      <a:endParaRPr lang="pt-BR" sz="1600" b="1" dirty="0">
                        <a:effectLst/>
                        <a:latin typeface="+mj-lt"/>
                        <a:ea typeface="Noto Sans Symbols" panose="020B0604020202020204" charset="0"/>
                      </a:endParaRPr>
                    </a:p>
                  </a:txBody>
                  <a:tcPr marL="58320" marR="5832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C69F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Bef>
                          <a:spcPts val="115"/>
                        </a:spcBef>
                      </a:pPr>
                      <a:r>
                        <a:rPr lang="pt-BR" sz="1600" b="1" dirty="0">
                          <a:solidFill>
                            <a:srgbClr val="000000"/>
                          </a:solidFill>
                          <a:effectLst/>
                          <a:latin typeface="+mj-lt"/>
                          <a:ea typeface="Noto Sans Symbols" panose="020B0604020202020204" charset="0"/>
                        </a:rPr>
                        <a:t>Principais interlocutores ou representantes</a:t>
                      </a:r>
                      <a:endParaRPr lang="pt-BR" sz="1600" b="1" dirty="0">
                        <a:effectLst/>
                        <a:latin typeface="+mj-lt"/>
                        <a:ea typeface="Noto Sans Symbols" panose="020B0604020202020204" charset="0"/>
                      </a:endParaRPr>
                    </a:p>
                  </a:txBody>
                  <a:tcPr marL="58320" marR="5832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C69F"/>
                    </a:solidFill>
                  </a:tcPr>
                </a:tc>
                <a:tc>
                  <a:txBody>
                    <a:bodyPr/>
                    <a:lstStyle/>
                    <a:p>
                      <a:pPr marR="146050" algn="just">
                        <a:spcBef>
                          <a:spcPts val="835"/>
                        </a:spcBef>
                        <a:spcAft>
                          <a:spcPts val="0"/>
                        </a:spcAft>
                      </a:pPr>
                      <a:r>
                        <a:rPr lang="pt-BR" sz="1600" b="1" dirty="0">
                          <a:solidFill>
                            <a:srgbClr val="000000"/>
                          </a:solidFill>
                          <a:effectLst/>
                          <a:latin typeface="+mj-lt"/>
                          <a:ea typeface="Noto Sans Symbols" panose="020B0604020202020204" charset="0"/>
                        </a:rPr>
                        <a:t>Principais propósitos da rede</a:t>
                      </a:r>
                      <a:endParaRPr lang="pt-BR" sz="1600" b="1" dirty="0">
                        <a:effectLst/>
                        <a:latin typeface="+mj-lt"/>
                        <a:ea typeface="Noto Sans Symbols" panose="020B0604020202020204" charset="0"/>
                      </a:endParaRPr>
                    </a:p>
                  </a:txBody>
                  <a:tcPr marL="58320" marR="5832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C69F"/>
                    </a:solidFill>
                  </a:tcPr>
                </a:tc>
                <a:tc>
                  <a:txBody>
                    <a:bodyPr/>
                    <a:lstStyle/>
                    <a:p>
                      <a:pPr marR="66675" algn="just">
                        <a:spcBef>
                          <a:spcPts val="835"/>
                        </a:spcBef>
                        <a:spcAft>
                          <a:spcPts val="0"/>
                        </a:spcAft>
                      </a:pPr>
                      <a:r>
                        <a:rPr lang="pt-BR" sz="1600" b="1" dirty="0">
                          <a:solidFill>
                            <a:srgbClr val="000000"/>
                          </a:solidFill>
                          <a:effectLst/>
                          <a:latin typeface="+mj-lt"/>
                          <a:ea typeface="Noto Sans Symbols" panose="020B0604020202020204" charset="0"/>
                        </a:rPr>
                        <a:t>Forma de atuação da organização na rede</a:t>
                      </a:r>
                      <a:endParaRPr lang="pt-BR" sz="1600" b="1" dirty="0">
                        <a:effectLst/>
                        <a:latin typeface="+mj-lt"/>
                        <a:ea typeface="Noto Sans Symbols" panose="020B0604020202020204" charset="0"/>
                      </a:endParaRPr>
                    </a:p>
                  </a:txBody>
                  <a:tcPr marL="58320" marR="5832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C69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2089714"/>
                  </a:ext>
                </a:extLst>
              </a:tr>
              <a:tr h="1464715">
                <a:tc>
                  <a:txBody>
                    <a:bodyPr/>
                    <a:lstStyle/>
                    <a:p>
                      <a:pPr algn="just">
                        <a:spcBef>
                          <a:spcPts val="20"/>
                        </a:spcBef>
                      </a:pPr>
                      <a:r>
                        <a:rPr lang="pt-BR" sz="1600" b="1" dirty="0">
                          <a:effectLst/>
                          <a:latin typeface="+mj-lt"/>
                          <a:ea typeface="Noto Sans Symbols" panose="020B0604020202020204" charset="0"/>
                        </a:rPr>
                        <a:t> </a:t>
                      </a:r>
                    </a:p>
                    <a:p>
                      <a:pPr marR="59055" algn="just"/>
                      <a:r>
                        <a:rPr lang="pt-BR" sz="1600" b="1" dirty="0">
                          <a:effectLst/>
                          <a:latin typeface="+mj-lt"/>
                          <a:ea typeface="Noto Sans Symbols" panose="020B0604020202020204" charset="0"/>
                        </a:rPr>
                        <a:t>Orgânico do CPR-O</a:t>
                      </a:r>
                    </a:p>
                  </a:txBody>
                  <a:tcPr marL="58320" marR="5832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spcBef>
                          <a:spcPts val="700"/>
                        </a:spcBef>
                      </a:pPr>
                      <a:r>
                        <a:rPr lang="pt-BR" sz="1300" dirty="0">
                          <a:effectLst/>
                          <a:latin typeface="+mj-lt"/>
                          <a:ea typeface="Noto Sans Symbols" panose="020B0604020202020204" charset="0"/>
                        </a:rPr>
                        <a:t>Cel PM José Carlos Soares Mariano - Comandante do CPR-O.  </a:t>
                      </a:r>
                    </a:p>
                  </a:txBody>
                  <a:tcPr marL="58320" marR="5832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spcBef>
                          <a:spcPts val="700"/>
                        </a:spcBef>
                      </a:pPr>
                      <a:r>
                        <a:rPr lang="pt-BR" sz="1300">
                          <a:effectLst/>
                          <a:latin typeface="+mj-lt"/>
                          <a:ea typeface="Noto Sans Symbols" panose="020B0604020202020204" charset="0"/>
                        </a:rPr>
                        <a:t>Implementação dos serviços de Polícia Militar na região Oeste, através das Unidades do orgânico.</a:t>
                      </a:r>
                    </a:p>
                  </a:txBody>
                  <a:tcPr marL="58320" marR="5832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R="84455" algn="just"/>
                      <a:r>
                        <a:rPr lang="pt-BR" sz="1300">
                          <a:effectLst/>
                          <a:latin typeface="+mj-lt"/>
                          <a:ea typeface="Noto Sans Symbols" panose="020B0604020202020204" charset="0"/>
                        </a:rPr>
                        <a:t>Cumprimento de metas operacionais; estabelecimento de  Planos de Serviço; identificação de locais críticos e remanejamento de policiamento; emprego de PMs em apoio ou reforço; operações extraordinárias.</a:t>
                      </a:r>
                    </a:p>
                  </a:txBody>
                  <a:tcPr marL="58320" marR="5832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76433405"/>
                  </a:ext>
                </a:extLst>
              </a:tr>
              <a:tr h="932092">
                <a:tc>
                  <a:txBody>
                    <a:bodyPr/>
                    <a:lstStyle/>
                    <a:p>
                      <a:pPr marR="59055" algn="just">
                        <a:spcBef>
                          <a:spcPts val="725"/>
                        </a:spcBef>
                        <a:spcAft>
                          <a:spcPts val="0"/>
                        </a:spcAft>
                      </a:pPr>
                      <a:r>
                        <a:rPr lang="pt-BR" sz="1600" b="1">
                          <a:effectLst/>
                          <a:latin typeface="+mj-lt"/>
                          <a:ea typeface="Noto Sans Symbols" panose="020B0604020202020204" charset="0"/>
                        </a:rPr>
                        <a:t>AISP 30</a:t>
                      </a:r>
                    </a:p>
                  </a:txBody>
                  <a:tcPr marL="58320" marR="5832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R="102870" algn="just">
                        <a:spcBef>
                          <a:spcPts val="725"/>
                        </a:spcBef>
                        <a:spcAft>
                          <a:spcPts val="0"/>
                        </a:spcAft>
                      </a:pPr>
                      <a:r>
                        <a:rPr lang="pt-BR" sz="1300" dirty="0">
                          <a:effectLst/>
                          <a:latin typeface="+mj-lt"/>
                          <a:ea typeface="Noto Sans Symbols" panose="020B0604020202020204" charset="0"/>
                        </a:rPr>
                        <a:t>Ten Cel PM Ricardo Prudêncio Guedes Diz Pazos - Comandante do 27º BPM; DPC  Joaquim Rodrigues - Delegado Titular da 11º COORPIN.</a:t>
                      </a:r>
                    </a:p>
                  </a:txBody>
                  <a:tcPr marL="58320" marR="5832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spcBef>
                          <a:spcPts val="725"/>
                        </a:spcBef>
                      </a:pPr>
                      <a:r>
                        <a:rPr lang="pt-BR" sz="1300" dirty="0">
                          <a:effectLst/>
                          <a:latin typeface="+mj-lt"/>
                          <a:ea typeface="Noto Sans Symbols" panose="020B0604020202020204" charset="0"/>
                        </a:rPr>
                        <a:t>Alinhamento entre os serviços de polícia ostensiva e polícia judiciária dentro da atuação da AISP.</a:t>
                      </a:r>
                    </a:p>
                  </a:txBody>
                  <a:tcPr marL="58320" marR="5832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spcBef>
                          <a:spcPts val="5"/>
                        </a:spcBef>
                      </a:pPr>
                      <a:r>
                        <a:rPr lang="pt-BR" sz="1300">
                          <a:effectLst/>
                          <a:latin typeface="+mj-lt"/>
                          <a:ea typeface="Noto Sans Symbols" panose="020B0604020202020204" charset="0"/>
                        </a:rPr>
                        <a:t>Compartilhamento de informações de interesse das instituições envolvidas; policiamento orientado para o problema; realização de operações integradas. </a:t>
                      </a:r>
                    </a:p>
                  </a:txBody>
                  <a:tcPr marL="58320" marR="5832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44552789"/>
                  </a:ext>
                </a:extLst>
              </a:tr>
              <a:tr h="932092">
                <a:tc>
                  <a:txBody>
                    <a:bodyPr/>
                    <a:lstStyle/>
                    <a:p>
                      <a:pPr marR="73025" algn="just"/>
                      <a:r>
                        <a:rPr lang="pt-BR" sz="1600" b="1">
                          <a:effectLst/>
                          <a:latin typeface="+mj-lt"/>
                          <a:ea typeface="Noto Sans Symbols" panose="020B0604020202020204" charset="0"/>
                        </a:rPr>
                        <a:t>Rede de proteção a violência contra mulher</a:t>
                      </a:r>
                    </a:p>
                  </a:txBody>
                  <a:tcPr marL="58320" marR="5832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R="102870" algn="just">
                        <a:spcBef>
                          <a:spcPts val="700"/>
                        </a:spcBef>
                        <a:spcAft>
                          <a:spcPts val="0"/>
                        </a:spcAft>
                      </a:pPr>
                      <a:r>
                        <a:rPr lang="pt-BR" sz="1300">
                          <a:effectLst/>
                          <a:latin typeface="+mj-lt"/>
                          <a:ea typeface="Noto Sans Symbols" panose="020B0604020202020204" charset="0"/>
                        </a:rPr>
                        <a:t>Sraª Nara Cristina Apolinário, Coordenadora do Centro de Apoio à Mulher - CAM, da Pref. Municipal de Luís Eduardo Magalhães.</a:t>
                      </a:r>
                    </a:p>
                  </a:txBody>
                  <a:tcPr marL="58320" marR="5832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R="73025" algn="just"/>
                      <a:r>
                        <a:rPr lang="pt-BR" sz="1300">
                          <a:effectLst/>
                          <a:latin typeface="+mj-lt"/>
                          <a:ea typeface="Noto Sans Symbols" panose="020B0604020202020204" charset="0"/>
                        </a:rPr>
                        <a:t>Acolhimento de mulheres do município de Luís Eduardo Magalhães em situação de vulnerabilidade. </a:t>
                      </a:r>
                    </a:p>
                  </a:txBody>
                  <a:tcPr marL="58320" marR="5832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pt-BR" sz="1300">
                          <a:effectLst/>
                          <a:latin typeface="+mj-lt"/>
                          <a:ea typeface="Noto Sans Symbols" panose="020B0604020202020204" charset="0"/>
                        </a:rPr>
                        <a:t>Encaminhamento de mulheres ao CAM, flagradas em situação de violência doméstica, para que seja prestado apoio jurídico e</a:t>
                      </a:r>
                      <a:r>
                        <a:rPr lang="pt-BR" sz="1300">
                          <a:solidFill>
                            <a:srgbClr val="65676B"/>
                          </a:solidFill>
                          <a:effectLst/>
                          <a:highlight>
                            <a:srgbClr val="FFFFFF"/>
                          </a:highlight>
                          <a:latin typeface="+mj-lt"/>
                          <a:ea typeface="Noto Sans Symbols" panose="020B0604020202020204" charset="0"/>
                        </a:rPr>
                        <a:t> psicológico.</a:t>
                      </a:r>
                      <a:endParaRPr lang="pt-BR" sz="1300">
                        <a:effectLst/>
                        <a:latin typeface="+mj-lt"/>
                        <a:ea typeface="Noto Sans Symbols" panose="020B0604020202020204" charset="0"/>
                      </a:endParaRPr>
                    </a:p>
                  </a:txBody>
                  <a:tcPr marL="58320" marR="5832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21762891"/>
                  </a:ext>
                </a:extLst>
              </a:tr>
              <a:tr h="1231692">
                <a:tc>
                  <a:txBody>
                    <a:bodyPr/>
                    <a:lstStyle/>
                    <a:p>
                      <a:pPr marR="202565" algn="just"/>
                      <a:r>
                        <a:rPr lang="pt-BR" sz="1600" b="1" dirty="0">
                          <a:effectLst/>
                          <a:latin typeface="+mj-lt"/>
                          <a:ea typeface="Noto Sans Symbols" panose="020B0604020202020204" charset="0"/>
                        </a:rPr>
                        <a:t>Operações de Divisa</a:t>
                      </a:r>
                    </a:p>
                  </a:txBody>
                  <a:tcPr marL="58320" marR="5832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R="102870" algn="just"/>
                      <a:r>
                        <a:rPr lang="pt-BR" sz="1300" dirty="0">
                          <a:effectLst/>
                          <a:latin typeface="+mj-lt"/>
                          <a:ea typeface="Noto Sans Symbols" panose="020B0604020202020204" charset="0"/>
                        </a:rPr>
                        <a:t>Ten Cel PM Ricardo Prudêncio Guedes Diz Pazos - Comandante do 27º BPM e Maj PM Daniel Bezerra Corrêa</a:t>
                      </a:r>
                      <a:r>
                        <a:rPr lang="pt-BR" sz="1300" b="1" dirty="0">
                          <a:effectLst/>
                          <a:latin typeface="+mj-lt"/>
                          <a:ea typeface="Noto Sans Symbols" panose="020B0604020202020204" charset="0"/>
                        </a:rPr>
                        <a:t> </a:t>
                      </a:r>
                      <a:r>
                        <a:rPr lang="pt-BR" sz="1300" dirty="0">
                          <a:effectLst/>
                          <a:latin typeface="+mj-lt"/>
                          <a:ea typeface="Noto Sans Symbols" panose="020B0604020202020204" charset="0"/>
                        </a:rPr>
                        <a:t>comandante da </a:t>
                      </a:r>
                      <a:r>
                        <a:rPr lang="pt-BR" sz="1300" dirty="0" err="1">
                          <a:effectLst/>
                          <a:latin typeface="+mj-lt"/>
                          <a:ea typeface="Noto Sans Symbols" panose="020B0604020202020204" charset="0"/>
                        </a:rPr>
                        <a:t>CIPFaz</a:t>
                      </a:r>
                      <a:r>
                        <a:rPr lang="pt-BR" sz="1300" dirty="0">
                          <a:effectLst/>
                          <a:latin typeface="+mj-lt"/>
                          <a:ea typeface="Noto Sans Symbols" panose="020B0604020202020204" charset="0"/>
                        </a:rPr>
                        <a:t> – Companhia Independente de Polícia Fazendária .</a:t>
                      </a:r>
                    </a:p>
                  </a:txBody>
                  <a:tcPr marL="58320" marR="5832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R="67310" algn="just">
                        <a:spcBef>
                          <a:spcPts val="5"/>
                        </a:spcBef>
                        <a:spcAft>
                          <a:spcPts val="0"/>
                        </a:spcAft>
                      </a:pPr>
                      <a:r>
                        <a:rPr lang="pt-BR" sz="1300">
                          <a:effectLst/>
                          <a:latin typeface="+mj-lt"/>
                          <a:ea typeface="Noto Sans Symbols" panose="020B0604020202020204" charset="0"/>
                        </a:rPr>
                        <a:t>Reforço de policiamento nas divisas dos Estados que margeiam o oeste baiano.</a:t>
                      </a:r>
                    </a:p>
                  </a:txBody>
                  <a:tcPr marL="58320" marR="5832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R="142875" algn="just">
                        <a:spcBef>
                          <a:spcPts val="725"/>
                        </a:spcBef>
                        <a:spcAft>
                          <a:spcPts val="0"/>
                        </a:spcAft>
                      </a:pPr>
                      <a:r>
                        <a:rPr lang="pt-BR" sz="1300">
                          <a:effectLst/>
                          <a:latin typeface="+mj-lt"/>
                          <a:ea typeface="Noto Sans Symbols" panose="020B0604020202020204" charset="0"/>
                        </a:rPr>
                        <a:t>Emprego de Policiamento Ostensivo Motorizado, mediante Plano de Operações da OPM, em consonância com alinhamento prévio realizado entre as partes envolvidas.</a:t>
                      </a:r>
                    </a:p>
                  </a:txBody>
                  <a:tcPr marL="58320" marR="5832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74113302"/>
                  </a:ext>
                </a:extLst>
              </a:tr>
              <a:tr h="183158">
                <a:tc>
                  <a:txBody>
                    <a:bodyPr/>
                    <a:lstStyle/>
                    <a:p>
                      <a:pPr marR="59055" algn="just"/>
                      <a:r>
                        <a:rPr lang="pt-BR" sz="1600" b="1" dirty="0">
                          <a:effectLst/>
                          <a:latin typeface="+mj-lt"/>
                          <a:ea typeface="Noto Sans Symbols" panose="020B0604020202020204" charset="0"/>
                        </a:rPr>
                        <a:t>Operação SAFRA</a:t>
                      </a:r>
                    </a:p>
                  </a:txBody>
                  <a:tcPr marL="58320" marR="5832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R="102870" algn="just"/>
                      <a:r>
                        <a:rPr lang="pt-BR" sz="1300" dirty="0" err="1">
                          <a:effectLst/>
                          <a:latin typeface="+mj-lt"/>
                          <a:ea typeface="Noto Sans Symbols" panose="020B0604020202020204" charset="0"/>
                        </a:rPr>
                        <a:t>Srª</a:t>
                      </a:r>
                      <a:r>
                        <a:rPr lang="pt-BR" sz="1300" dirty="0">
                          <a:effectLst/>
                          <a:latin typeface="+mj-lt"/>
                          <a:ea typeface="Noto Sans Symbols" panose="020B0604020202020204" charset="0"/>
                        </a:rPr>
                        <a:t> </a:t>
                      </a:r>
                      <a:r>
                        <a:rPr lang="pt-BR" sz="1200" dirty="0" err="1">
                          <a:latin typeface="+mj-lt"/>
                          <a:ea typeface="Noto Sans Symbols" panose="020B0604020202020204" charset="0"/>
                        </a:rPr>
                        <a:t>Jenni</a:t>
                      </a:r>
                      <a:r>
                        <a:rPr lang="pt-BR" sz="1200" dirty="0">
                          <a:latin typeface="+mj-lt"/>
                          <a:ea typeface="Noto Sans Symbols" panose="020B0604020202020204" charset="0"/>
                        </a:rPr>
                        <a:t> Dias de Castro </a:t>
                      </a:r>
                      <a:r>
                        <a:rPr lang="pt-BR" sz="1200" dirty="0" err="1">
                          <a:latin typeface="+mj-lt"/>
                          <a:ea typeface="Noto Sans Symbols" panose="020B0604020202020204" charset="0"/>
                        </a:rPr>
                        <a:t>Tel</a:t>
                      </a:r>
                      <a:r>
                        <a:rPr lang="pt-BR" sz="1200" dirty="0">
                          <a:latin typeface="+mj-lt"/>
                          <a:ea typeface="Noto Sans Symbols" panose="020B0604020202020204" charset="0"/>
                        </a:rPr>
                        <a:t>: </a:t>
                      </a:r>
                      <a:r>
                        <a:rPr lang="pt-BR" sz="14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Noto Sans Symbols" panose="020B0604020202020204" charset="0"/>
                          <a:cs typeface="+mn-cs"/>
                          <a:sym typeface="Arial"/>
                        </a:rPr>
                        <a:t>(77) 9.8101-6821, Coordenadora</a:t>
                      </a:r>
                      <a:endParaRPr lang="pt-BR" sz="1300" dirty="0">
                        <a:effectLst/>
                        <a:latin typeface="+mj-lt"/>
                        <a:ea typeface="Noto Sans Symbols" panose="020B0604020202020204" charset="0"/>
                      </a:endParaRPr>
                    </a:p>
                  </a:txBody>
                  <a:tcPr marL="58320" marR="5832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pt-BR" sz="1300">
                          <a:effectLst/>
                          <a:latin typeface="+mj-lt"/>
                          <a:ea typeface="Noto Sans Symbols" panose="020B0604020202020204" charset="0"/>
                        </a:rPr>
                        <a:t>Policiamento Ostensivo na zona Rural</a:t>
                      </a:r>
                    </a:p>
                  </a:txBody>
                  <a:tcPr marL="58320" marR="5832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R="142875" algn="just">
                        <a:spcBef>
                          <a:spcPts val="5"/>
                        </a:spcBef>
                        <a:spcAft>
                          <a:spcPts val="0"/>
                        </a:spcAft>
                      </a:pPr>
                      <a:r>
                        <a:rPr lang="pt-BR" sz="1300" dirty="0">
                          <a:effectLst/>
                          <a:latin typeface="+mj-lt"/>
                          <a:ea typeface="Noto Sans Symbols" panose="020B0604020202020204" charset="0"/>
                        </a:rPr>
                        <a:t>Mediante Plano de Operações e integração com produtores rurais</a:t>
                      </a:r>
                    </a:p>
                  </a:txBody>
                  <a:tcPr marL="58320" marR="5832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66308246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18"/>
          <p:cNvSpPr/>
          <p:nvPr/>
        </p:nvSpPr>
        <p:spPr>
          <a:xfrm>
            <a:off x="0" y="0"/>
            <a:ext cx="501353" cy="6858000"/>
          </a:xfrm>
          <a:prstGeom prst="rect">
            <a:avLst/>
          </a:prstGeom>
          <a:gradFill>
            <a:gsLst>
              <a:gs pos="0">
                <a:schemeClr val="dk1"/>
              </a:gs>
              <a:gs pos="11000">
                <a:schemeClr val="dk1"/>
              </a:gs>
              <a:gs pos="38000">
                <a:srgbClr val="A57C00"/>
              </a:gs>
              <a:gs pos="69000">
                <a:srgbClr val="BF9000"/>
              </a:gs>
              <a:gs pos="90000">
                <a:schemeClr val="accent4"/>
              </a:gs>
              <a:gs pos="100000">
                <a:schemeClr val="accent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18"/>
          <p:cNvSpPr txBox="1"/>
          <p:nvPr/>
        </p:nvSpPr>
        <p:spPr>
          <a:xfrm>
            <a:off x="900112" y="741362"/>
            <a:ext cx="8693150" cy="5222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800"/>
              <a:buFont typeface="Arial Black"/>
              <a:buNone/>
            </a:pPr>
            <a:r>
              <a:rPr lang="en-US" sz="2800" b="0" i="0" u="none" strike="noStrike" cap="none">
                <a:solidFill>
                  <a:srgbClr val="595959"/>
                </a:solidFill>
                <a:latin typeface="Arial Black"/>
                <a:ea typeface="Arial Black"/>
                <a:cs typeface="Arial Black"/>
                <a:sym typeface="Arial Black"/>
              </a:rPr>
              <a:t>Busca da Excelência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18"/>
          <p:cNvSpPr txBox="1"/>
          <p:nvPr/>
        </p:nvSpPr>
        <p:spPr>
          <a:xfrm rot="-5400000">
            <a:off x="-2432050" y="3302000"/>
            <a:ext cx="5365750" cy="2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lang="en-US" sz="10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HISTÓRICO DA EXCELÊNCIA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" name="Google Shape;197;p18"/>
          <p:cNvSpPr txBox="1"/>
          <p:nvPr/>
        </p:nvSpPr>
        <p:spPr>
          <a:xfrm>
            <a:off x="900100" y="1542625"/>
            <a:ext cx="10695000" cy="50782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</a:pP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2020</a:t>
            </a:r>
            <a:endParaRPr sz="2400" b="0" i="0" u="none" strike="noStrike" cap="none" dirty="0">
              <a:solidFill>
                <a:srgbClr val="000000"/>
              </a:solidFill>
              <a:latin typeface="+mj-lt"/>
              <a:ea typeface="Arial"/>
              <a:cs typeface="Arial"/>
              <a:sym typeface="Arial"/>
            </a:endParaRP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</a:pPr>
            <a:r>
              <a:rPr lang="en-US" sz="22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 </a:t>
            </a:r>
            <a:endParaRPr sz="2200" b="0" i="0" u="none" strike="noStrike" cap="none" dirty="0">
              <a:solidFill>
                <a:srgbClr val="000000"/>
              </a:solidFill>
              <a:latin typeface="+mj-lt"/>
              <a:ea typeface="Arial"/>
              <a:cs typeface="Arial"/>
              <a:sym typeface="Arial"/>
            </a:endParaRPr>
          </a:p>
          <a:p>
            <a:pPr marL="0" marR="0" lvl="0" indent="-13970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Char char="●"/>
            </a:pPr>
            <a:r>
              <a:rPr lang="en-US" sz="22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Instrução</a:t>
            </a:r>
            <a:r>
              <a:rPr lang="en-US" sz="22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de </a:t>
            </a:r>
            <a:r>
              <a:rPr lang="en-US" sz="22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tiro</a:t>
            </a:r>
            <a:r>
              <a:rPr lang="en-US" sz="22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2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policial</a:t>
            </a:r>
            <a:r>
              <a:rPr lang="en-US" sz="22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e </a:t>
            </a:r>
            <a:r>
              <a:rPr lang="en-US" sz="22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abordagem</a:t>
            </a:r>
            <a:r>
              <a:rPr lang="en-US" sz="22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com o </a:t>
            </a:r>
            <a:r>
              <a:rPr lang="en-US" sz="22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efetivo</a:t>
            </a:r>
            <a:r>
              <a:rPr lang="en-US" sz="22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da</a:t>
            </a:r>
            <a:r>
              <a:rPr lang="en-US" sz="2200" b="0" i="0" u="none" strike="noStrike" cap="none" dirty="0">
                <a:solidFill>
                  <a:srgbClr val="00B05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200" b="0" i="0" u="none" strike="noStrike" cap="none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ROCAM( </a:t>
            </a:r>
            <a:r>
              <a:rPr lang="en-US" sz="2200" b="0" i="0" u="none" strike="noStrike" cap="none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Rondas</a:t>
            </a:r>
            <a:r>
              <a:rPr lang="en-US" sz="2200" b="0" i="0" u="none" strike="noStrike" cap="none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com </a:t>
            </a:r>
            <a:r>
              <a:rPr lang="en-US" sz="2200" b="0" i="0" u="none" strike="noStrike" cap="none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Apoio</a:t>
            </a:r>
            <a:r>
              <a:rPr lang="en-US" sz="2200" b="0" i="0" u="none" strike="noStrike" cap="none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de </a:t>
            </a:r>
            <a:r>
              <a:rPr lang="en-US" sz="2200" b="0" i="0" u="none" strike="noStrike" cap="none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Motocicletas</a:t>
            </a:r>
            <a:r>
              <a:rPr lang="en-US" sz="2200" b="0" i="0" u="none" strike="noStrike" cap="none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),</a:t>
            </a:r>
            <a:r>
              <a:rPr lang="en-US" sz="22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no </a:t>
            </a:r>
            <a:r>
              <a:rPr lang="en-US" sz="22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sentido</a:t>
            </a:r>
            <a:r>
              <a:rPr lang="en-US" sz="22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de </a:t>
            </a:r>
            <a:r>
              <a:rPr lang="en-US" sz="22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desenvolver</a:t>
            </a:r>
            <a:r>
              <a:rPr lang="en-US" sz="22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e </a:t>
            </a:r>
            <a:r>
              <a:rPr lang="en-US" sz="22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aprimorar</a:t>
            </a:r>
            <a:r>
              <a:rPr lang="en-US" sz="22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2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habilidades</a:t>
            </a:r>
            <a:r>
              <a:rPr lang="en-US" sz="22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e </a:t>
            </a:r>
            <a:r>
              <a:rPr lang="en-US" sz="22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técnicas</a:t>
            </a:r>
            <a:r>
              <a:rPr lang="en-US" sz="22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, </a:t>
            </a:r>
            <a:r>
              <a:rPr lang="en-US" sz="22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proporcionando</a:t>
            </a:r>
            <a:r>
              <a:rPr lang="en-US" sz="22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2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segurança</a:t>
            </a:r>
            <a:r>
              <a:rPr lang="en-US" sz="22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, </a:t>
            </a:r>
            <a:r>
              <a:rPr lang="en-US" sz="22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confiança</a:t>
            </a:r>
            <a:r>
              <a:rPr lang="en-US" sz="22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e </a:t>
            </a:r>
            <a:r>
              <a:rPr lang="en-US" sz="22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uniformidade</a:t>
            </a:r>
            <a:r>
              <a:rPr lang="en-US" sz="22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2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nas</a:t>
            </a:r>
            <a:r>
              <a:rPr lang="en-US" sz="22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2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ações</a:t>
            </a:r>
            <a:r>
              <a:rPr lang="en-US" sz="22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2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policiais</a:t>
            </a:r>
            <a:r>
              <a:rPr lang="en-US" sz="22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;</a:t>
            </a:r>
          </a:p>
          <a:p>
            <a:pPr marR="0" lvl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</a:pPr>
            <a:endParaRPr sz="2200" b="0" i="0" u="none" strike="noStrike" cap="none" dirty="0">
              <a:solidFill>
                <a:schemeClr val="dk1"/>
              </a:solidFill>
              <a:latin typeface="+mj-lt"/>
              <a:ea typeface="Noto Sans Symbols"/>
              <a:cs typeface="Noto Sans Symbols"/>
              <a:sym typeface="Noto Sans Symbols"/>
            </a:endParaRPr>
          </a:p>
          <a:p>
            <a:pPr marL="0" marR="0" lvl="0" indent="-13970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Char char="●"/>
            </a:pPr>
            <a:r>
              <a:rPr lang="en-US" sz="22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Adoção</a:t>
            </a:r>
            <a:r>
              <a:rPr lang="en-US" sz="22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de </a:t>
            </a:r>
            <a:r>
              <a:rPr lang="en-US" sz="22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medidas</a:t>
            </a:r>
            <a:r>
              <a:rPr lang="en-US" sz="22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de </a:t>
            </a:r>
            <a:r>
              <a:rPr lang="en-US" sz="22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combate</a:t>
            </a:r>
            <a:r>
              <a:rPr lang="en-US" sz="22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a </a:t>
            </a:r>
            <a:r>
              <a:rPr lang="en-US" sz="22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disseminação</a:t>
            </a:r>
            <a:r>
              <a:rPr lang="en-US" sz="22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da COVID-19, a </a:t>
            </a:r>
            <a:r>
              <a:rPr lang="en-US" sz="22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partir</a:t>
            </a:r>
            <a:r>
              <a:rPr lang="en-US" sz="22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do </a:t>
            </a:r>
            <a:r>
              <a:rPr lang="en-US" sz="22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mês</a:t>
            </a:r>
            <a:r>
              <a:rPr lang="en-US" sz="22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de </a:t>
            </a:r>
            <a:r>
              <a:rPr lang="en-US" sz="22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março</a:t>
            </a:r>
            <a:r>
              <a:rPr lang="en-US" sz="22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2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daquele</a:t>
            </a:r>
            <a:r>
              <a:rPr lang="en-US" sz="22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2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ano</a:t>
            </a:r>
            <a:r>
              <a:rPr lang="en-US" sz="22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, </a:t>
            </a:r>
            <a:r>
              <a:rPr lang="en-US" sz="22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em</a:t>
            </a:r>
            <a:r>
              <a:rPr lang="en-US" sz="22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2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consonância</a:t>
            </a:r>
            <a:r>
              <a:rPr lang="en-US" sz="22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com a </a:t>
            </a:r>
            <a:r>
              <a:rPr lang="en-US" sz="22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legislação</a:t>
            </a:r>
            <a:r>
              <a:rPr lang="en-US" sz="22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2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estadual</a:t>
            </a:r>
            <a:r>
              <a:rPr lang="en-US" sz="22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e federal </a:t>
            </a:r>
            <a:r>
              <a:rPr lang="en-US" sz="22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pertinentes</a:t>
            </a:r>
            <a:r>
              <a:rPr lang="en-US" sz="22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, </a:t>
            </a:r>
            <a:r>
              <a:rPr lang="en-US" sz="22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bem</a:t>
            </a:r>
            <a:r>
              <a:rPr lang="en-US" sz="22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2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como</a:t>
            </a:r>
            <a:r>
              <a:rPr lang="en-US" sz="22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as </a:t>
            </a:r>
            <a:r>
              <a:rPr lang="en-US" sz="22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diretrizes</a:t>
            </a:r>
            <a:r>
              <a:rPr lang="en-US" sz="22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do </a:t>
            </a:r>
            <a:r>
              <a:rPr lang="en-US" sz="22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escalão</a:t>
            </a:r>
            <a:r>
              <a:rPr lang="en-US" sz="22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superior da </a:t>
            </a:r>
            <a:r>
              <a:rPr lang="en-US" sz="22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corporação</a:t>
            </a:r>
            <a:r>
              <a:rPr lang="en-US" sz="22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, </a:t>
            </a:r>
            <a:r>
              <a:rPr lang="en-US" sz="22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como</a:t>
            </a:r>
            <a:r>
              <a:rPr lang="en-US" sz="22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a </a:t>
            </a:r>
            <a:r>
              <a:rPr lang="en-US" sz="22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mudança</a:t>
            </a:r>
            <a:r>
              <a:rPr lang="en-US" sz="22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dos </a:t>
            </a:r>
            <a:r>
              <a:rPr lang="en-US" sz="22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grupos</a:t>
            </a:r>
            <a:r>
              <a:rPr lang="en-US" sz="22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de </a:t>
            </a:r>
            <a:r>
              <a:rPr lang="en-US" sz="22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serviço</a:t>
            </a:r>
            <a:r>
              <a:rPr lang="en-US" sz="22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, </a:t>
            </a:r>
            <a:r>
              <a:rPr lang="en-US" sz="22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horários</a:t>
            </a:r>
            <a:r>
              <a:rPr lang="en-US" sz="22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2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diferenciados</a:t>
            </a:r>
            <a:r>
              <a:rPr lang="en-US" sz="22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para as </a:t>
            </a:r>
            <a:r>
              <a:rPr lang="en-US" sz="22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guarnições</a:t>
            </a:r>
            <a:r>
              <a:rPr lang="en-US" sz="22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, </a:t>
            </a:r>
            <a:r>
              <a:rPr lang="en-US" sz="22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utilização</a:t>
            </a:r>
            <a:r>
              <a:rPr lang="en-US" sz="22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de </a:t>
            </a:r>
            <a:r>
              <a:rPr lang="en-US" sz="22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agentes</a:t>
            </a:r>
            <a:r>
              <a:rPr lang="en-US" sz="22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2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saneantes</a:t>
            </a:r>
            <a:r>
              <a:rPr lang="en-US" sz="22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e </a:t>
            </a:r>
            <a:r>
              <a:rPr lang="en-US" sz="22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realização</a:t>
            </a:r>
            <a:r>
              <a:rPr lang="en-US" sz="22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de </a:t>
            </a:r>
            <a:r>
              <a:rPr lang="en-US" sz="22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exames</a:t>
            </a:r>
            <a:r>
              <a:rPr lang="en-US" sz="22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2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sorológicos</a:t>
            </a:r>
            <a:r>
              <a:rPr lang="en-US" sz="22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junto </a:t>
            </a:r>
            <a:r>
              <a:rPr lang="en-US" sz="22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ao</a:t>
            </a:r>
            <a:r>
              <a:rPr lang="en-US" sz="22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2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Departamento</a:t>
            </a:r>
            <a:r>
              <a:rPr lang="en-US" sz="22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de </a:t>
            </a:r>
            <a:r>
              <a:rPr lang="en-US" sz="22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Saúde</a:t>
            </a:r>
            <a:r>
              <a:rPr lang="en-US" sz="22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da PMBA;</a:t>
            </a:r>
          </a:p>
          <a:p>
            <a:pPr marR="0" lvl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</a:pPr>
            <a:endParaRPr sz="2200" b="0" i="0" u="none" strike="noStrike" cap="none" dirty="0">
              <a:solidFill>
                <a:schemeClr val="dk1"/>
              </a:solidFill>
              <a:latin typeface="+mj-lt"/>
              <a:ea typeface="Noto Sans Symbols"/>
              <a:cs typeface="Noto Sans Symbols"/>
              <a:sym typeface="Noto Sans Symbols"/>
            </a:endParaRPr>
          </a:p>
          <a:p>
            <a:pPr marL="0" marR="0" lvl="0" indent="-13970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Char char="●"/>
            </a:pPr>
            <a:r>
              <a:rPr lang="en-US" sz="22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Realização</a:t>
            </a:r>
            <a:r>
              <a:rPr lang="en-US" sz="22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de </a:t>
            </a:r>
            <a:r>
              <a:rPr lang="en-US" sz="22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vacinação</a:t>
            </a:r>
            <a:r>
              <a:rPr lang="en-US" sz="22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da </a:t>
            </a:r>
            <a:r>
              <a:rPr lang="en-US" sz="22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tropa</a:t>
            </a:r>
            <a:r>
              <a:rPr lang="en-US" sz="22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para combater a </a:t>
            </a:r>
            <a:r>
              <a:rPr lang="en-US" sz="22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disseminação</a:t>
            </a:r>
            <a:r>
              <a:rPr lang="en-US" sz="22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da  COVID-19;</a:t>
            </a:r>
            <a:endParaRPr sz="2200" b="0" i="0" u="none" strike="noStrike" cap="none" dirty="0">
              <a:solidFill>
                <a:schemeClr val="dk1"/>
              </a:solidFill>
              <a:latin typeface="+mj-lt"/>
              <a:ea typeface="Noto Sans Symbols"/>
              <a:cs typeface="Noto Sans Symbols"/>
              <a:sym typeface="Noto Sans Symbols"/>
            </a:endParaRPr>
          </a:p>
          <a:p>
            <a:pPr marL="45720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 dirty="0">
              <a:solidFill>
                <a:srgbClr val="000000"/>
              </a:solidFill>
              <a:latin typeface="+mj-lt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g3120ebcea37_2_7"/>
          <p:cNvSpPr/>
          <p:nvPr/>
        </p:nvSpPr>
        <p:spPr>
          <a:xfrm>
            <a:off x="0" y="0"/>
            <a:ext cx="501300" cy="6858000"/>
          </a:xfrm>
          <a:prstGeom prst="rect">
            <a:avLst/>
          </a:prstGeom>
          <a:gradFill>
            <a:gsLst>
              <a:gs pos="0">
                <a:schemeClr val="dk1"/>
              </a:gs>
              <a:gs pos="11000">
                <a:schemeClr val="dk1"/>
              </a:gs>
              <a:gs pos="38000">
                <a:srgbClr val="A57C00"/>
              </a:gs>
              <a:gs pos="69000">
                <a:srgbClr val="BF9000"/>
              </a:gs>
              <a:gs pos="90000">
                <a:schemeClr val="accent4"/>
              </a:gs>
              <a:gs pos="100000">
                <a:schemeClr val="accent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g3120ebcea37_2_7"/>
          <p:cNvSpPr txBox="1"/>
          <p:nvPr/>
        </p:nvSpPr>
        <p:spPr>
          <a:xfrm>
            <a:off x="900112" y="741362"/>
            <a:ext cx="86931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800"/>
              <a:buFont typeface="Arial Black"/>
              <a:buNone/>
            </a:pPr>
            <a:r>
              <a:rPr lang="en-US" sz="2800" b="0" i="0" u="none" strike="noStrike" cap="none">
                <a:solidFill>
                  <a:srgbClr val="595959"/>
                </a:solidFill>
                <a:latin typeface="Arial Black"/>
                <a:ea typeface="Arial Black"/>
                <a:cs typeface="Arial Black"/>
                <a:sym typeface="Arial Black"/>
              </a:rPr>
              <a:t>Busca da Excelência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" name="Google Shape;204;g3120ebcea37_2_7"/>
          <p:cNvSpPr txBox="1"/>
          <p:nvPr/>
        </p:nvSpPr>
        <p:spPr>
          <a:xfrm rot="-5400000">
            <a:off x="-2435925" y="3305825"/>
            <a:ext cx="5365800" cy="2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lang="en-US" sz="10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HISTÓRICO DA EXCELÊNCIA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5" name="Google Shape;205;g3120ebcea37_2_7"/>
          <p:cNvSpPr txBox="1"/>
          <p:nvPr/>
        </p:nvSpPr>
        <p:spPr>
          <a:xfrm>
            <a:off x="900100" y="1482725"/>
            <a:ext cx="10695000" cy="47720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just"/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2020</a:t>
            </a:r>
            <a:endParaRPr lang="en-US" sz="2400" b="0" i="0" u="none" strike="noStrike" cap="none" dirty="0">
              <a:solidFill>
                <a:srgbClr val="000000"/>
              </a:solidFill>
              <a:latin typeface="+mj-lt"/>
              <a:ea typeface="Arial"/>
              <a:cs typeface="Arial"/>
              <a:sym typeface="Arial"/>
            </a:endParaRP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b="0" i="0" u="none" strike="noStrike" cap="none" dirty="0">
              <a:solidFill>
                <a:schemeClr val="dk1"/>
              </a:solidFill>
              <a:latin typeface="+mj-lt"/>
              <a:ea typeface="Noto Sans Symbols"/>
              <a:cs typeface="Noto Sans Symbols"/>
              <a:sym typeface="Noto Sans Symbols"/>
            </a:endParaRPr>
          </a:p>
          <a:p>
            <a:pPr marL="0" marR="0" lvl="0" indent="-15240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lang="en-US" sz="24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Instrução</a:t>
            </a:r>
            <a:r>
              <a:rPr lang="en-US" sz="24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de </a:t>
            </a:r>
            <a:r>
              <a:rPr lang="en-US" sz="24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Nivelamento</a:t>
            </a:r>
            <a:r>
              <a:rPr lang="en-US" sz="24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de </a:t>
            </a:r>
            <a:r>
              <a:rPr lang="en-US" sz="24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Conhecimentos</a:t>
            </a:r>
            <a:r>
              <a:rPr lang="en-US" sz="24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(INC/I) com </a:t>
            </a:r>
            <a:r>
              <a:rPr lang="en-US" sz="24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efetivo</a:t>
            </a:r>
            <a:r>
              <a:rPr lang="en-US" sz="24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da </a:t>
            </a:r>
            <a:r>
              <a:rPr lang="en-US" sz="24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Unidade</a:t>
            </a:r>
            <a:r>
              <a:rPr lang="en-US" sz="24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, </a:t>
            </a:r>
            <a:r>
              <a:rPr lang="en-US" sz="24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realizada</a:t>
            </a:r>
            <a:r>
              <a:rPr lang="en-US" sz="24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pel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a</a:t>
            </a:r>
            <a:r>
              <a:rPr lang="en-US" sz="24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CIPT-Oeste </a:t>
            </a:r>
            <a:r>
              <a:rPr lang="en-US" sz="24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no </a:t>
            </a:r>
            <a:r>
              <a:rPr lang="en-US" sz="24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intuito</a:t>
            </a:r>
            <a:r>
              <a:rPr lang="en-US" sz="24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de </a:t>
            </a:r>
            <a:r>
              <a:rPr lang="en-US" sz="24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disseminar</a:t>
            </a:r>
            <a:r>
              <a:rPr lang="en-US" sz="24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o </a:t>
            </a:r>
            <a:r>
              <a:rPr lang="en-US" sz="24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emprego</a:t>
            </a:r>
            <a:r>
              <a:rPr lang="en-US" sz="24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das </a:t>
            </a:r>
            <a:r>
              <a:rPr lang="en-US" sz="24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técnicas</a:t>
            </a:r>
            <a:r>
              <a:rPr lang="en-US" sz="24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e </a:t>
            </a:r>
            <a:r>
              <a:rPr lang="en-US" sz="24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táticas</a:t>
            </a:r>
            <a:r>
              <a:rPr lang="en-US" sz="24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utilizadas</a:t>
            </a:r>
            <a:r>
              <a:rPr lang="en-US" sz="24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em</a:t>
            </a:r>
            <a:r>
              <a:rPr lang="en-US" sz="24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atividade</a:t>
            </a:r>
            <a:r>
              <a:rPr lang="en-US" sz="24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de </a:t>
            </a:r>
            <a:r>
              <a:rPr lang="en-US" sz="2400" dirty="0">
                <a:latin typeface="+mj-lt"/>
                <a:ea typeface="Noto Sans Symbols"/>
                <a:cs typeface="Noto Sans Symbols"/>
                <a:sym typeface="Noto Sans Symbols"/>
              </a:rPr>
              <a:t>motopatrulhamento</a:t>
            </a:r>
            <a:r>
              <a:rPr lang="en-US" sz="24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tático</a:t>
            </a:r>
            <a:r>
              <a:rPr lang="en-US" sz="24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, </a:t>
            </a:r>
            <a:r>
              <a:rPr lang="en-US" sz="24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empregadas</a:t>
            </a:r>
            <a:r>
              <a:rPr lang="en-US" sz="24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no </a:t>
            </a:r>
            <a:r>
              <a:rPr lang="en-US" sz="24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segundo</a:t>
            </a:r>
            <a:r>
              <a:rPr lang="en-US" sz="24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esforço</a:t>
            </a:r>
            <a:r>
              <a:rPr lang="en-US" sz="24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de </a:t>
            </a:r>
            <a:r>
              <a:rPr lang="en-US" sz="24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policiamento</a:t>
            </a:r>
            <a:r>
              <a:rPr lang="en-US" sz="24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; </a:t>
            </a:r>
            <a:endParaRPr sz="2400" b="0" i="0" u="none" strike="noStrike" cap="none" dirty="0">
              <a:solidFill>
                <a:srgbClr val="000000"/>
              </a:solidFill>
              <a:latin typeface="+mj-lt"/>
              <a:ea typeface="Noto Sans Symbols"/>
              <a:cs typeface="Noto Sans Symbols"/>
              <a:sym typeface="Noto Sans Symbols"/>
            </a:endParaRPr>
          </a:p>
          <a:p>
            <a:pPr marL="45720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dirty="0">
              <a:latin typeface="+mj-lt"/>
              <a:ea typeface="Noto Sans Symbols"/>
              <a:cs typeface="Noto Sans Symbols"/>
              <a:sym typeface="Noto Sans Symbols"/>
            </a:endParaRPr>
          </a:p>
          <a:p>
            <a:pPr marL="0" marR="0" lvl="0" indent="-15240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Palestra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sobre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combate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a crimes contra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instituições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bancárias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para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Oficiais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,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Aspirantes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-a-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Oficial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,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Subtenentes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e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Sargentos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, e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efetivo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do PETO da 85ª CIPM/LEM, para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nivelar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conhecimentos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e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padronizar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o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emprego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das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técnicas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e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táticas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policiais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militares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a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serem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aplicadas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pela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tropa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,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em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qualquer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intervenção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de 1º e 2º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nível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de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esforço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da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atividade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fim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da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Corporação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;</a:t>
            </a:r>
            <a:endParaRPr sz="2400" dirty="0">
              <a:solidFill>
                <a:schemeClr val="dk1"/>
              </a:solidFill>
              <a:latin typeface="+mj-lt"/>
            </a:endParaRPr>
          </a:p>
          <a:p>
            <a:pPr marL="0" marR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 dirty="0">
              <a:solidFill>
                <a:srgbClr val="000000"/>
              </a:solidFill>
              <a:latin typeface="+mj-lt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3120ebcea37_2_0"/>
          <p:cNvSpPr/>
          <p:nvPr/>
        </p:nvSpPr>
        <p:spPr>
          <a:xfrm>
            <a:off x="0" y="0"/>
            <a:ext cx="501300" cy="6858000"/>
          </a:xfrm>
          <a:prstGeom prst="rect">
            <a:avLst/>
          </a:prstGeom>
          <a:gradFill>
            <a:gsLst>
              <a:gs pos="0">
                <a:schemeClr val="dk1"/>
              </a:gs>
              <a:gs pos="11000">
                <a:schemeClr val="dk1"/>
              </a:gs>
              <a:gs pos="38000">
                <a:srgbClr val="A57C00"/>
              </a:gs>
              <a:gs pos="69000">
                <a:srgbClr val="BF9000"/>
              </a:gs>
              <a:gs pos="90000">
                <a:schemeClr val="accent4"/>
              </a:gs>
              <a:gs pos="100000">
                <a:schemeClr val="accent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g3120ebcea37_2_0"/>
          <p:cNvSpPr txBox="1"/>
          <p:nvPr/>
        </p:nvSpPr>
        <p:spPr>
          <a:xfrm>
            <a:off x="900112" y="741362"/>
            <a:ext cx="86931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800"/>
              <a:buFont typeface="Arial Black"/>
              <a:buNone/>
            </a:pPr>
            <a:r>
              <a:rPr lang="en-US" sz="2800" b="0" i="0" u="none" strike="noStrike" cap="none">
                <a:solidFill>
                  <a:srgbClr val="595959"/>
                </a:solidFill>
                <a:latin typeface="Arial Black"/>
                <a:ea typeface="Arial Black"/>
                <a:cs typeface="Arial Black"/>
                <a:sym typeface="Arial Black"/>
              </a:rPr>
              <a:t>Busca da Excelência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2" name="Google Shape;212;g3120ebcea37_2_0"/>
          <p:cNvSpPr txBox="1"/>
          <p:nvPr/>
        </p:nvSpPr>
        <p:spPr>
          <a:xfrm rot="-5400000">
            <a:off x="-2435925" y="3305825"/>
            <a:ext cx="5365800" cy="2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lang="en-US" sz="10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HISTÓRICO DA EXCELÊNCIA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" name="Google Shape;213;g3120ebcea37_2_0"/>
          <p:cNvSpPr txBox="1"/>
          <p:nvPr/>
        </p:nvSpPr>
        <p:spPr>
          <a:xfrm>
            <a:off x="900100" y="1482725"/>
            <a:ext cx="10695000" cy="45873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76200" algn="just">
              <a:lnSpc>
                <a:spcPct val="115000"/>
              </a:lnSpc>
              <a:buClr>
                <a:schemeClr val="dk1"/>
              </a:buClr>
              <a:buSzPts val="2400"/>
            </a:pP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2020</a:t>
            </a:r>
            <a:endParaRPr lang="en-US" sz="2400" b="0" i="0" u="none" strike="noStrike" cap="none" dirty="0">
              <a:solidFill>
                <a:srgbClr val="000000"/>
              </a:solidFill>
              <a:latin typeface="+mj-lt"/>
              <a:ea typeface="Arial"/>
              <a:cs typeface="Arial"/>
              <a:sym typeface="Arial"/>
            </a:endParaRPr>
          </a:p>
          <a:p>
            <a:pPr marL="457200" lvl="0" indent="-38100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Char char="●"/>
            </a:pPr>
            <a:endParaRPr lang="en-US" sz="2400" dirty="0">
              <a:solidFill>
                <a:schemeClr val="dk1"/>
              </a:solidFill>
              <a:latin typeface="+mj-lt"/>
              <a:ea typeface="Noto Sans Symbols"/>
              <a:cs typeface="Noto Sans Symbols"/>
              <a:sym typeface="Noto Sans Symbols"/>
            </a:endParaRPr>
          </a:p>
          <a:p>
            <a:pPr marL="457200" lvl="0" indent="-38100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Char char="●"/>
            </a:pP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Instrução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sobre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Sobrevivência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Policial para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policiais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militares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da 85ª CIPM/LEM,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através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de palestra com o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efetivo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, com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enfoque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em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situações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de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risco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fora de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serviço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;</a:t>
            </a:r>
          </a:p>
          <a:p>
            <a:pPr marL="457200" lvl="0" indent="-38100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Char char="●"/>
            </a:pPr>
            <a:endParaRPr sz="2400" dirty="0">
              <a:solidFill>
                <a:schemeClr val="dk1"/>
              </a:solidFill>
              <a:latin typeface="+mj-lt"/>
            </a:endParaRPr>
          </a:p>
          <a:p>
            <a:pPr marL="457200" lvl="0" indent="-38100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Char char="●"/>
            </a:pP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Instrução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de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Policiamento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Rural para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policiais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militares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da 85ª CIPM/LEM que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participaram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da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Operação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SAFRA 2021. A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instrução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objetivou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nivelar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conhecimentos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, no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intuito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de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padronizar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o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emprego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das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técnicas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e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táticas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policiais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militares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em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situações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de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patrulhamento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rural;</a:t>
            </a:r>
            <a:endParaRPr sz="2400" dirty="0">
              <a:solidFill>
                <a:schemeClr val="dk1"/>
              </a:solidFill>
              <a:latin typeface="+mj-lt"/>
              <a:ea typeface="Times New Roman"/>
              <a:cs typeface="Times New Roman"/>
              <a:sym typeface="Times New Roman"/>
            </a:endParaRPr>
          </a:p>
          <a:p>
            <a:pPr marL="0" marR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 dirty="0">
              <a:solidFill>
                <a:srgbClr val="000000"/>
              </a:solidFill>
              <a:latin typeface="+mj-lt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19"/>
          <p:cNvSpPr/>
          <p:nvPr/>
        </p:nvSpPr>
        <p:spPr>
          <a:xfrm>
            <a:off x="0" y="0"/>
            <a:ext cx="501353" cy="6858000"/>
          </a:xfrm>
          <a:prstGeom prst="rect">
            <a:avLst/>
          </a:prstGeom>
          <a:gradFill>
            <a:gsLst>
              <a:gs pos="0">
                <a:schemeClr val="dk1"/>
              </a:gs>
              <a:gs pos="11000">
                <a:schemeClr val="dk1"/>
              </a:gs>
              <a:gs pos="38000">
                <a:srgbClr val="A57C00"/>
              </a:gs>
              <a:gs pos="69000">
                <a:srgbClr val="BF9000"/>
              </a:gs>
              <a:gs pos="90000">
                <a:schemeClr val="accent4"/>
              </a:gs>
              <a:gs pos="100000">
                <a:schemeClr val="accent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19"/>
          <p:cNvSpPr txBox="1"/>
          <p:nvPr/>
        </p:nvSpPr>
        <p:spPr>
          <a:xfrm>
            <a:off x="900112" y="741362"/>
            <a:ext cx="8693150" cy="5222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800"/>
              <a:buFont typeface="Arial Black"/>
              <a:buNone/>
            </a:pPr>
            <a:r>
              <a:rPr lang="en-US" sz="2800" b="0" i="0" u="none" strike="noStrike" cap="none">
                <a:solidFill>
                  <a:srgbClr val="595959"/>
                </a:solidFill>
                <a:latin typeface="Arial Black"/>
                <a:ea typeface="Arial Black"/>
                <a:cs typeface="Arial Black"/>
                <a:sym typeface="Arial Black"/>
              </a:rPr>
              <a:t>Busca da Excelência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19"/>
          <p:cNvSpPr txBox="1"/>
          <p:nvPr/>
        </p:nvSpPr>
        <p:spPr>
          <a:xfrm rot="-5400000">
            <a:off x="-2432050" y="3302000"/>
            <a:ext cx="5365750" cy="2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lang="en-US" sz="10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HISTÓRICO DA EXCELÊNCIA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1" name="Google Shape;221;p19"/>
          <p:cNvSpPr txBox="1"/>
          <p:nvPr/>
        </p:nvSpPr>
        <p:spPr>
          <a:xfrm>
            <a:off x="900112" y="1620837"/>
            <a:ext cx="10609200" cy="47340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imes New Roman"/>
              <a:buNone/>
            </a:pPr>
            <a:r>
              <a:rPr lang="en-US" sz="30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2021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</a:t>
            </a:r>
            <a:endParaRPr sz="2400" b="0" i="0" u="none" strike="noStrike" cap="none" dirty="0">
              <a:solidFill>
                <a:schemeClr val="dk1"/>
              </a:solidFill>
              <a:latin typeface="+mj-lt"/>
              <a:ea typeface="Times New Roman"/>
              <a:cs typeface="Times New Roman"/>
              <a:sym typeface="Times New Roman"/>
            </a:endParaRP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imes New Roman"/>
              <a:buNone/>
            </a:pPr>
            <a:endParaRPr sz="2400" dirty="0">
              <a:solidFill>
                <a:schemeClr val="dk1"/>
              </a:solidFill>
              <a:latin typeface="+mj-lt"/>
              <a:ea typeface="Times New Roman"/>
              <a:cs typeface="Times New Roman"/>
              <a:sym typeface="Times New Roman"/>
            </a:endParaRPr>
          </a:p>
          <a:p>
            <a:pPr marL="0" marR="0" lvl="0" indent="-3810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●"/>
            </a:pPr>
            <a:r>
              <a:rPr lang="en-US" sz="2400" b="0" i="0" u="none" strike="noStrike" cap="none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Criação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de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Comitê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de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Qualidade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da OPM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através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de nota de BIO do Comandante com o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fito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de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buscar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dar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os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primeiros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passos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na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Gestão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de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excelência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; </a:t>
            </a:r>
            <a:endParaRPr sz="2400" b="0" i="0" u="none" strike="noStrike" cap="none" dirty="0">
              <a:solidFill>
                <a:srgbClr val="000000"/>
              </a:solidFill>
              <a:latin typeface="+mj-lt"/>
              <a:ea typeface="Arial"/>
              <a:cs typeface="Arial"/>
              <a:sym typeface="Arial"/>
            </a:endParaRPr>
          </a:p>
          <a:p>
            <a:pPr marL="0" marR="0" lvl="0" indent="-38100" algn="just" rtl="0">
              <a:lnSpc>
                <a:spcPct val="115000"/>
              </a:lnSpc>
              <a:spcBef>
                <a:spcPts val="22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●"/>
            </a:pPr>
            <a:r>
              <a:rPr lang="en-US" sz="2400" b="0" i="0" u="none" strike="noStrike" cap="none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Instrução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de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Tiro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Policial e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Abordagem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para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Oficiais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,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Aspirantes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,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Subtenentes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,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Graduados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e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efetivo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Administrativo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da UOPM; </a:t>
            </a:r>
            <a:endParaRPr sz="2400" b="0" i="0" u="none" strike="noStrike" cap="none" dirty="0">
              <a:solidFill>
                <a:srgbClr val="000000"/>
              </a:solidFill>
              <a:latin typeface="+mj-lt"/>
              <a:ea typeface="Arial"/>
              <a:cs typeface="Arial"/>
              <a:sym typeface="Arial"/>
            </a:endParaRPr>
          </a:p>
          <a:p>
            <a:pPr marL="0" marR="0" lvl="0" indent="0" algn="just" rtl="0">
              <a:lnSpc>
                <a:spcPct val="115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●"/>
            </a:pPr>
            <a:r>
              <a:rPr lang="en-US" sz="2400" b="0" i="0" u="none" strike="noStrike" cap="none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Reforma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das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instalações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da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Unidade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,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concluindo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com a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entrega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do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auditório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e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alojamentos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;</a:t>
            </a:r>
            <a:r>
              <a:rPr lang="en-US" sz="1800" b="0" i="0" u="none" strike="noStrike" cap="none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endParaRPr sz="1400" b="0" i="0" u="none" strike="noStrike" cap="none" dirty="0">
              <a:solidFill>
                <a:srgbClr val="000000"/>
              </a:solidFill>
              <a:latin typeface="+mj-lt"/>
              <a:ea typeface="Arial"/>
              <a:cs typeface="Arial"/>
              <a:sym typeface="Arial"/>
            </a:endParaRPr>
          </a:p>
          <a:p>
            <a:pPr marL="0" marR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 dirty="0">
              <a:solidFill>
                <a:srgbClr val="000000"/>
              </a:solidFill>
              <a:latin typeface="+mj-lt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g3120ebcea37_2_14"/>
          <p:cNvSpPr/>
          <p:nvPr/>
        </p:nvSpPr>
        <p:spPr>
          <a:xfrm>
            <a:off x="0" y="0"/>
            <a:ext cx="501300" cy="6858000"/>
          </a:xfrm>
          <a:prstGeom prst="rect">
            <a:avLst/>
          </a:prstGeom>
          <a:gradFill>
            <a:gsLst>
              <a:gs pos="0">
                <a:schemeClr val="dk1"/>
              </a:gs>
              <a:gs pos="11000">
                <a:schemeClr val="dk1"/>
              </a:gs>
              <a:gs pos="38000">
                <a:srgbClr val="A57C00"/>
              </a:gs>
              <a:gs pos="69000">
                <a:srgbClr val="BF9000"/>
              </a:gs>
              <a:gs pos="90000">
                <a:schemeClr val="accent4"/>
              </a:gs>
              <a:gs pos="100000">
                <a:schemeClr val="accent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g3120ebcea37_2_14"/>
          <p:cNvSpPr txBox="1"/>
          <p:nvPr/>
        </p:nvSpPr>
        <p:spPr>
          <a:xfrm>
            <a:off x="900112" y="741362"/>
            <a:ext cx="86931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800"/>
              <a:buFont typeface="Arial Black"/>
              <a:buNone/>
            </a:pPr>
            <a:r>
              <a:rPr lang="en-US" sz="2800" b="0" i="0" u="none" strike="noStrike" cap="none">
                <a:solidFill>
                  <a:srgbClr val="595959"/>
                </a:solidFill>
                <a:latin typeface="Arial Black"/>
                <a:ea typeface="Arial Black"/>
                <a:cs typeface="Arial Black"/>
                <a:sym typeface="Arial Black"/>
              </a:rPr>
              <a:t>Busca da Excelência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8" name="Google Shape;228;g3120ebcea37_2_14"/>
          <p:cNvSpPr txBox="1"/>
          <p:nvPr/>
        </p:nvSpPr>
        <p:spPr>
          <a:xfrm rot="-5400000">
            <a:off x="-2435925" y="3305825"/>
            <a:ext cx="5365800" cy="2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lang="en-US" sz="10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HISTÓRICO DA EXCELÊNCIA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9" name="Google Shape;229;g3120ebcea37_2_14"/>
          <p:cNvSpPr txBox="1"/>
          <p:nvPr/>
        </p:nvSpPr>
        <p:spPr>
          <a:xfrm>
            <a:off x="900112" y="1620837"/>
            <a:ext cx="10609200" cy="49936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imes New Roman"/>
              <a:buNone/>
            </a:pPr>
            <a:r>
              <a:rPr lang="en-US" sz="30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2021 </a:t>
            </a:r>
            <a:endParaRPr sz="3000" b="0" i="0" u="none" strike="noStrike" cap="none" dirty="0">
              <a:solidFill>
                <a:schemeClr val="dk1"/>
              </a:solidFill>
              <a:latin typeface="+mj-lt"/>
              <a:ea typeface="Times New Roman"/>
              <a:cs typeface="Times New Roman"/>
              <a:sym typeface="Times New Roman"/>
            </a:endParaRP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imes New Roman"/>
              <a:buNone/>
            </a:pPr>
            <a:endParaRPr sz="2400" dirty="0">
              <a:solidFill>
                <a:schemeClr val="dk1"/>
              </a:solidFill>
              <a:latin typeface="+mj-lt"/>
              <a:ea typeface="Times New Roman"/>
              <a:cs typeface="Times New Roman"/>
              <a:sym typeface="Times New Roman"/>
            </a:endParaRPr>
          </a:p>
          <a:p>
            <a:pPr marL="457200" lvl="0" indent="-38100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Char char="●"/>
            </a:pP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Reforma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da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sede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do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pelotão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de São Desidério, com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suas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instalações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implantadas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em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conjunto com a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Delegacia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de Polícia Civil de São Desidério; </a:t>
            </a:r>
            <a:endParaRPr sz="2400" dirty="0">
              <a:solidFill>
                <a:schemeClr val="dk1"/>
              </a:solidFill>
              <a:latin typeface="+mj-lt"/>
            </a:endParaRPr>
          </a:p>
          <a:p>
            <a:pPr marL="457200" lvl="0" indent="-38100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Char char="●"/>
            </a:pP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Introdução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dos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formulários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online de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solicitações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(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dispensas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,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permutas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,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diversos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), do RCAT (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Registro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de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Atestados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Médicos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), e do RDOP (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Registro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de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Ocorrência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Policiais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). O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formulário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online de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solicitações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permitiu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a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tropa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pleitear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junto a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administração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da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UOp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questões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diversas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sem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ter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a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necessidade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de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deslocamento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para o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Quartel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,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reduzindo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ainda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os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custos de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impressão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com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formulários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. </a:t>
            </a:r>
            <a:endParaRPr sz="2400" dirty="0">
              <a:solidFill>
                <a:schemeClr val="dk1"/>
              </a:solidFill>
              <a:latin typeface="+mj-lt"/>
              <a:ea typeface="Noto Sans Symbols"/>
              <a:cs typeface="Noto Sans Symbols"/>
              <a:sym typeface="Noto Sans Symbols"/>
            </a:endParaRPr>
          </a:p>
          <a:p>
            <a:pPr marL="0" marR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 dirty="0">
              <a:solidFill>
                <a:srgbClr val="000000"/>
              </a:solidFill>
              <a:latin typeface="+mj-lt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20"/>
          <p:cNvSpPr/>
          <p:nvPr/>
        </p:nvSpPr>
        <p:spPr>
          <a:xfrm>
            <a:off x="0" y="0"/>
            <a:ext cx="501353" cy="6858000"/>
          </a:xfrm>
          <a:prstGeom prst="rect">
            <a:avLst/>
          </a:prstGeom>
          <a:gradFill>
            <a:gsLst>
              <a:gs pos="0">
                <a:schemeClr val="dk1"/>
              </a:gs>
              <a:gs pos="11000">
                <a:schemeClr val="dk1"/>
              </a:gs>
              <a:gs pos="38000">
                <a:srgbClr val="A57C00"/>
              </a:gs>
              <a:gs pos="69000">
                <a:srgbClr val="BF9000"/>
              </a:gs>
              <a:gs pos="90000">
                <a:schemeClr val="accent4"/>
              </a:gs>
              <a:gs pos="100000">
                <a:schemeClr val="accent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20"/>
          <p:cNvSpPr txBox="1"/>
          <p:nvPr/>
        </p:nvSpPr>
        <p:spPr>
          <a:xfrm>
            <a:off x="900112" y="741362"/>
            <a:ext cx="8693150" cy="5222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800"/>
              <a:buFont typeface="Arial Black"/>
              <a:buNone/>
            </a:pPr>
            <a:r>
              <a:rPr lang="en-US" sz="2800" b="0" i="0" u="none" strike="noStrike" cap="none">
                <a:solidFill>
                  <a:srgbClr val="595959"/>
                </a:solidFill>
                <a:latin typeface="Arial Black"/>
                <a:ea typeface="Arial Black"/>
                <a:cs typeface="Arial Black"/>
                <a:sym typeface="Arial Black"/>
              </a:rPr>
              <a:t>Busca da Excelência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6" name="Google Shape;236;p20"/>
          <p:cNvSpPr txBox="1"/>
          <p:nvPr/>
        </p:nvSpPr>
        <p:spPr>
          <a:xfrm rot="-5400000">
            <a:off x="-2432050" y="3302000"/>
            <a:ext cx="5365750" cy="2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lang="en-US" sz="10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HISTÓRICO DA EXCELÊNCIA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7" name="Google Shape;237;p20"/>
          <p:cNvSpPr txBox="1"/>
          <p:nvPr/>
        </p:nvSpPr>
        <p:spPr>
          <a:xfrm>
            <a:off x="900112" y="1374860"/>
            <a:ext cx="10609200" cy="58784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 New Roman"/>
              <a:buNone/>
            </a:pPr>
            <a:r>
              <a:rPr lang="en-US" sz="300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2022</a:t>
            </a: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 New Roman"/>
              <a:buNone/>
            </a:pPr>
            <a:endParaRPr sz="2400" dirty="0">
              <a:solidFill>
                <a:schemeClr val="dk1"/>
              </a:solidFill>
              <a:latin typeface="+mj-lt"/>
              <a:ea typeface="Times New Roman"/>
              <a:cs typeface="Times New Roman"/>
              <a:sym typeface="Times New Roman"/>
            </a:endParaRPr>
          </a:p>
          <a:p>
            <a:pPr marL="0" marR="0" lvl="0" indent="-3810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Char char="●"/>
            </a:pPr>
            <a:r>
              <a:rPr lang="en-US" sz="20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Curso</a:t>
            </a:r>
            <a:r>
              <a:rPr lang="en-US" sz="20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de </a:t>
            </a:r>
            <a:r>
              <a:rPr lang="en-US" sz="20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Pilotagem</a:t>
            </a:r>
            <a:r>
              <a:rPr lang="en-US" sz="20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0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veicular</a:t>
            </a:r>
            <a:r>
              <a:rPr lang="en-US" sz="20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o </a:t>
            </a:r>
            <a:r>
              <a:rPr lang="en-US" sz="20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efetivo</a:t>
            </a:r>
            <a:r>
              <a:rPr lang="en-US" sz="20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da 85ª CIPM/LEM para 42 </a:t>
            </a:r>
            <a:r>
              <a:rPr lang="en-US" sz="20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policiais</a:t>
            </a:r>
            <a:r>
              <a:rPr lang="en-US" sz="20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0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militares</a:t>
            </a:r>
            <a:r>
              <a:rPr lang="en-US" sz="20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;</a:t>
            </a:r>
          </a:p>
          <a:p>
            <a:pPr marL="0" marR="0" lvl="0" indent="-3810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Char char="●"/>
            </a:pPr>
            <a:endParaRPr lang="en-US" sz="2000" dirty="0">
              <a:latin typeface="+mj-lt"/>
              <a:ea typeface="Times New Roman"/>
            </a:endParaRPr>
          </a:p>
          <a:p>
            <a:pPr marL="0" marR="0" lvl="0" indent="-3810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Char char="●"/>
            </a:pPr>
            <a:r>
              <a:rPr lang="en-US" sz="20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Projeto</a:t>
            </a:r>
            <a:r>
              <a:rPr lang="en-US" sz="20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SVP </a:t>
            </a:r>
            <a:r>
              <a:rPr lang="en-US" sz="20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Mais</a:t>
            </a:r>
            <a:r>
              <a:rPr lang="en-US" sz="20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0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Perto</a:t>
            </a:r>
            <a:r>
              <a:rPr lang="en-US" sz="20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de </a:t>
            </a:r>
            <a:r>
              <a:rPr lang="en-US" sz="20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Você</a:t>
            </a:r>
            <a:r>
              <a:rPr lang="en-US" sz="20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, </a:t>
            </a:r>
            <a:r>
              <a:rPr lang="en-US" sz="20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envolvendo</a:t>
            </a:r>
            <a:r>
              <a:rPr lang="en-US" sz="20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0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efetivo</a:t>
            </a:r>
            <a:r>
              <a:rPr lang="en-US" sz="20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da 85ª CIPM/LEM. O </a:t>
            </a:r>
            <a:r>
              <a:rPr lang="en-US" sz="20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projeto</a:t>
            </a:r>
            <a:r>
              <a:rPr lang="en-US" sz="20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0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pautou</a:t>
            </a:r>
            <a:r>
              <a:rPr lang="en-US" sz="20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-se </a:t>
            </a:r>
            <a:r>
              <a:rPr lang="en-US" sz="20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na</a:t>
            </a:r>
            <a:r>
              <a:rPr lang="en-US" sz="20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0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realização</a:t>
            </a:r>
            <a:r>
              <a:rPr lang="en-US" sz="20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de </a:t>
            </a:r>
            <a:r>
              <a:rPr lang="en-US" sz="20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atividades</a:t>
            </a:r>
            <a:r>
              <a:rPr lang="en-US" sz="20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0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voltadas</a:t>
            </a:r>
            <a:r>
              <a:rPr lang="en-US" sz="20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à </a:t>
            </a:r>
            <a:r>
              <a:rPr lang="en-US" sz="20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saúde</a:t>
            </a:r>
            <a:r>
              <a:rPr lang="en-US" sz="20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mental e </a:t>
            </a:r>
            <a:r>
              <a:rPr lang="en-US" sz="20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bem-estar</a:t>
            </a:r>
            <a:r>
              <a:rPr lang="en-US" sz="20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0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biopsicossocial</a:t>
            </a:r>
            <a:r>
              <a:rPr lang="en-US" sz="20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e </a:t>
            </a:r>
            <a:r>
              <a:rPr lang="en-US" sz="20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espiritual</a:t>
            </a:r>
            <a:r>
              <a:rPr lang="en-US" sz="20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dos </a:t>
            </a:r>
            <a:r>
              <a:rPr lang="en-US" sz="20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policiais</a:t>
            </a:r>
            <a:r>
              <a:rPr lang="en-US" sz="20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0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militares</a:t>
            </a:r>
            <a:r>
              <a:rPr lang="en-US" sz="20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, </a:t>
            </a:r>
            <a:r>
              <a:rPr lang="en-US" sz="20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em</a:t>
            </a:r>
            <a:r>
              <a:rPr lang="en-US" sz="20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0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prol</a:t>
            </a:r>
            <a:r>
              <a:rPr lang="en-US" sz="20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da </a:t>
            </a:r>
            <a:r>
              <a:rPr lang="en-US" sz="20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construção</a:t>
            </a:r>
            <a:r>
              <a:rPr lang="en-US" sz="20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de </a:t>
            </a:r>
            <a:r>
              <a:rPr lang="en-US" sz="20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uma</a:t>
            </a:r>
            <a:r>
              <a:rPr lang="en-US" sz="20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0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cultura</a:t>
            </a:r>
            <a:r>
              <a:rPr lang="en-US" sz="20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da </a:t>
            </a:r>
            <a:r>
              <a:rPr lang="en-US" sz="20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Saúde</a:t>
            </a:r>
            <a:r>
              <a:rPr lang="en-US" sz="20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Mental; </a:t>
            </a: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 New Roman"/>
              <a:buNone/>
            </a:pPr>
            <a:endParaRPr sz="2000" b="0" i="0" u="none" strike="noStrike" cap="none" dirty="0">
              <a:solidFill>
                <a:srgbClr val="000000"/>
              </a:solidFill>
              <a:latin typeface="+mj-lt"/>
              <a:ea typeface="Arial"/>
              <a:cs typeface="Arial"/>
              <a:sym typeface="Arial"/>
            </a:endParaRPr>
          </a:p>
          <a:p>
            <a:pPr marL="0" marR="0" lvl="0" indent="-3810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Char char="●"/>
            </a:pPr>
            <a:r>
              <a:rPr lang="en-US" sz="20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Instrução</a:t>
            </a:r>
            <a:r>
              <a:rPr lang="en-US" sz="20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de </a:t>
            </a:r>
            <a:r>
              <a:rPr lang="en-US" sz="20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Retenção</a:t>
            </a:r>
            <a:r>
              <a:rPr lang="en-US" sz="20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e </a:t>
            </a:r>
            <a:r>
              <a:rPr lang="en-US" sz="20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Contrarretenção</a:t>
            </a:r>
            <a:r>
              <a:rPr lang="en-US" sz="20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com </a:t>
            </a:r>
            <a:r>
              <a:rPr lang="en-US" sz="20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efetivo</a:t>
            </a:r>
            <a:r>
              <a:rPr lang="en-US" sz="20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da 85ª CIPM/LEM e </a:t>
            </a:r>
            <a:r>
              <a:rPr lang="en-US" sz="20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efetivo</a:t>
            </a:r>
            <a:r>
              <a:rPr lang="en-US" sz="20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de </a:t>
            </a:r>
            <a:r>
              <a:rPr lang="en-US" sz="20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outras</a:t>
            </a:r>
            <a:r>
              <a:rPr lang="en-US" sz="20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0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Unidades</a:t>
            </a:r>
            <a:r>
              <a:rPr lang="en-US" sz="20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. Uma </a:t>
            </a:r>
            <a:r>
              <a:rPr lang="en-US" sz="20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instrução</a:t>
            </a:r>
            <a:r>
              <a:rPr lang="en-US" sz="20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a </a:t>
            </a:r>
            <a:r>
              <a:rPr lang="en-US" sz="20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fim</a:t>
            </a:r>
            <a:r>
              <a:rPr lang="en-US" sz="20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de </a:t>
            </a:r>
            <a:r>
              <a:rPr lang="en-US" sz="20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nivelar</a:t>
            </a:r>
            <a:r>
              <a:rPr lang="en-US" sz="20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0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conhecimentos</a:t>
            </a:r>
            <a:r>
              <a:rPr lang="en-US" sz="20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e </a:t>
            </a:r>
            <a:r>
              <a:rPr lang="en-US" sz="20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desenvolvimento</a:t>
            </a:r>
            <a:r>
              <a:rPr lang="en-US" sz="20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de </a:t>
            </a:r>
            <a:r>
              <a:rPr lang="en-US" sz="20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atividades</a:t>
            </a:r>
            <a:r>
              <a:rPr lang="en-US" sz="20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0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voltadas</a:t>
            </a:r>
            <a:r>
              <a:rPr lang="en-US" sz="20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para </a:t>
            </a:r>
            <a:r>
              <a:rPr lang="en-US" sz="20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defesa</a:t>
            </a:r>
            <a:r>
              <a:rPr lang="en-US" sz="20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0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pessoal</a:t>
            </a:r>
            <a:r>
              <a:rPr lang="en-US" sz="20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dos </a:t>
            </a:r>
            <a:r>
              <a:rPr lang="en-US" sz="20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policiais</a:t>
            </a:r>
            <a:r>
              <a:rPr lang="en-US" sz="20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0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militares</a:t>
            </a:r>
            <a:r>
              <a:rPr lang="en-US" sz="20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;</a:t>
            </a:r>
          </a:p>
          <a:p>
            <a:pPr marL="0" marR="0" lvl="0" indent="-3810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Char char="●"/>
            </a:pPr>
            <a:endParaRPr lang="en-US" sz="2000" b="0" i="0" u="none" strike="noStrike" cap="none" dirty="0">
              <a:solidFill>
                <a:schemeClr val="dk1"/>
              </a:solidFill>
              <a:latin typeface="+mj-lt"/>
              <a:ea typeface="Times New Roman"/>
              <a:cs typeface="Times New Roman"/>
              <a:sym typeface="Times New Roman"/>
            </a:endParaRPr>
          </a:p>
          <a:p>
            <a:pPr indent="-38100" algn="just">
              <a:buClr>
                <a:schemeClr val="dk1"/>
              </a:buClr>
              <a:buSzPts val="2200"/>
              <a:buFont typeface="Arial"/>
              <a:buChar char="●"/>
            </a:pPr>
            <a:r>
              <a:rPr lang="pt-BR" sz="20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Acréscimo no valor destinado a Operação </a:t>
            </a:r>
            <a:r>
              <a:rPr lang="pt-BR" sz="20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Enischysi</a:t>
            </a:r>
            <a:r>
              <a:rPr lang="pt-BR" sz="20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(“Aprimoramento”), voltada a intensificação de policiamento para diminuir os índices de CVLI e CVP na cidade de Luís Eduardo Magalhães e São Desidério,</a:t>
            </a:r>
            <a:r>
              <a:rPr lang="pt-BR" sz="2000" b="0" i="0" u="none" strike="noStrike" cap="none" dirty="0">
                <a:solidFill>
                  <a:srgbClr val="FF0000"/>
                </a:solidFill>
                <a:latin typeface="+mj-lt"/>
                <a:ea typeface="Times New Roman"/>
                <a:cs typeface="Times New Roman"/>
                <a:sym typeface="Times New Roman"/>
              </a:rPr>
              <a:t> </a:t>
            </a:r>
            <a:r>
              <a:rPr lang="pt-BR" sz="20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permitindo um maior emprego de policiamento, anteriormente reservado somente aos finais de semana, e que passou a abranger um maior quantitativo de policiais militares da </a:t>
            </a:r>
            <a:r>
              <a:rPr lang="pt-BR" sz="20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UOp</a:t>
            </a:r>
            <a:r>
              <a:rPr lang="pt-BR" sz="20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; </a:t>
            </a:r>
            <a:endParaRPr lang="pt-BR" sz="2000" b="0" i="0" u="none" strike="noStrike" cap="none" dirty="0">
              <a:solidFill>
                <a:srgbClr val="000000"/>
              </a:solidFill>
              <a:latin typeface="+mj-lt"/>
              <a:ea typeface="Arial"/>
              <a:cs typeface="Arial"/>
              <a:sym typeface="Arial"/>
            </a:endParaRPr>
          </a:p>
          <a:p>
            <a:pPr marL="0" marR="0" lvl="0" indent="-3810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Char char="●"/>
            </a:pPr>
            <a:endParaRPr sz="2200" b="0" i="0" u="none" strike="noStrike" cap="none" dirty="0">
              <a:solidFill>
                <a:srgbClr val="000000"/>
              </a:solidFill>
              <a:latin typeface="+mj-lt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g3120ebcea37_2_21"/>
          <p:cNvSpPr/>
          <p:nvPr/>
        </p:nvSpPr>
        <p:spPr>
          <a:xfrm>
            <a:off x="0" y="0"/>
            <a:ext cx="501300" cy="6858000"/>
          </a:xfrm>
          <a:prstGeom prst="rect">
            <a:avLst/>
          </a:prstGeom>
          <a:gradFill>
            <a:gsLst>
              <a:gs pos="0">
                <a:schemeClr val="dk1"/>
              </a:gs>
              <a:gs pos="11000">
                <a:schemeClr val="dk1"/>
              </a:gs>
              <a:gs pos="38000">
                <a:srgbClr val="A57C00"/>
              </a:gs>
              <a:gs pos="69000">
                <a:srgbClr val="BF9000"/>
              </a:gs>
              <a:gs pos="90000">
                <a:schemeClr val="accent4"/>
              </a:gs>
              <a:gs pos="100000">
                <a:schemeClr val="accent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g3120ebcea37_2_21"/>
          <p:cNvSpPr txBox="1"/>
          <p:nvPr/>
        </p:nvSpPr>
        <p:spPr>
          <a:xfrm>
            <a:off x="900112" y="741362"/>
            <a:ext cx="86931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800"/>
              <a:buFont typeface="Arial Black"/>
              <a:buNone/>
            </a:pPr>
            <a:r>
              <a:rPr lang="en-US" sz="2800" b="0" i="0" u="none" strike="noStrike" cap="none">
                <a:solidFill>
                  <a:srgbClr val="595959"/>
                </a:solidFill>
                <a:latin typeface="Arial Black"/>
                <a:ea typeface="Arial Black"/>
                <a:cs typeface="Arial Black"/>
                <a:sym typeface="Arial Black"/>
              </a:rPr>
              <a:t>Busca da Excelência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4" name="Google Shape;244;g3120ebcea37_2_21"/>
          <p:cNvSpPr txBox="1"/>
          <p:nvPr/>
        </p:nvSpPr>
        <p:spPr>
          <a:xfrm rot="-5400000">
            <a:off x="-2435925" y="3305825"/>
            <a:ext cx="5365800" cy="2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lang="en-US" sz="10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HISTÓRICO DA EXCELÊNCIA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5" name="Google Shape;245;g3120ebcea37_2_21"/>
          <p:cNvSpPr txBox="1"/>
          <p:nvPr/>
        </p:nvSpPr>
        <p:spPr>
          <a:xfrm>
            <a:off x="900112" y="1644650"/>
            <a:ext cx="10609200" cy="50474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 New Roman"/>
              <a:buNone/>
            </a:pPr>
            <a:r>
              <a:rPr lang="en-US" sz="3000" b="1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2022</a:t>
            </a:r>
            <a:endParaRPr sz="3000" b="1" i="0" u="none" strike="noStrike" cap="none" dirty="0">
              <a:solidFill>
                <a:schemeClr val="dk1"/>
              </a:solidFill>
              <a:latin typeface="+mj-lt"/>
              <a:ea typeface="Times New Roman"/>
              <a:cs typeface="Times New Roman"/>
              <a:sym typeface="Times New Roman"/>
            </a:endParaRP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 New Roman"/>
              <a:buNone/>
            </a:pPr>
            <a:endParaRPr sz="1600" dirty="0">
              <a:solidFill>
                <a:schemeClr val="dk1"/>
              </a:solidFill>
              <a:latin typeface="+mj-lt"/>
              <a:ea typeface="Times New Roman"/>
              <a:cs typeface="Times New Roman"/>
              <a:sym typeface="Times New Roman"/>
            </a:endParaRPr>
          </a:p>
          <a:p>
            <a:pPr marL="457200" lvl="0" indent="-37465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Char char="●"/>
            </a:pPr>
            <a:endParaRPr lang="en-US" sz="2300" dirty="0">
              <a:solidFill>
                <a:schemeClr val="dk1"/>
              </a:solidFill>
              <a:latin typeface="+mj-lt"/>
              <a:ea typeface="Times New Roman"/>
              <a:cs typeface="Times New Roman"/>
              <a:sym typeface="Times New Roman"/>
            </a:endParaRPr>
          </a:p>
          <a:p>
            <a:pPr marL="457200" lvl="0" indent="-37465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Char char="●"/>
            </a:pPr>
            <a:r>
              <a:rPr lang="pt-BR" sz="2300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Renovação da frota de veículos da Unidade; </a:t>
            </a:r>
            <a:endParaRPr lang="pt-BR" sz="2300" dirty="0">
              <a:solidFill>
                <a:schemeClr val="dk1"/>
              </a:solidFill>
              <a:latin typeface="+mj-lt"/>
            </a:endParaRPr>
          </a:p>
          <a:p>
            <a:pPr marL="457200" lvl="0" indent="-37465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Char char="●"/>
            </a:pPr>
            <a:r>
              <a:rPr lang="en-US" sz="2300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Aquisição</a:t>
            </a:r>
            <a:r>
              <a:rPr lang="en-US" sz="2300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de </a:t>
            </a:r>
            <a:r>
              <a:rPr lang="en-US" sz="2300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cadeiras</a:t>
            </a:r>
            <a:r>
              <a:rPr lang="en-US" sz="2300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para o Rancho, </a:t>
            </a:r>
            <a:r>
              <a:rPr lang="en-US" sz="2300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através</a:t>
            </a:r>
            <a:r>
              <a:rPr lang="en-US" sz="2300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de </a:t>
            </a:r>
            <a:r>
              <a:rPr lang="en-US" sz="2300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compra</a:t>
            </a:r>
            <a:r>
              <a:rPr lang="en-US" sz="2300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300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realizada</a:t>
            </a:r>
            <a:r>
              <a:rPr lang="en-US" sz="2300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pela </a:t>
            </a:r>
            <a:r>
              <a:rPr lang="en-US" sz="2300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Unidade</a:t>
            </a:r>
            <a:r>
              <a:rPr lang="en-US" sz="2300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300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Gestora</a:t>
            </a:r>
            <a:r>
              <a:rPr lang="en-US" sz="2300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, </a:t>
            </a:r>
            <a:r>
              <a:rPr lang="en-US" sz="2300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possibilitando</a:t>
            </a:r>
            <a:r>
              <a:rPr lang="en-US" sz="2300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a </a:t>
            </a:r>
            <a:r>
              <a:rPr lang="en-US" sz="2300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substituição</a:t>
            </a:r>
            <a:r>
              <a:rPr lang="en-US" sz="2300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de </a:t>
            </a:r>
            <a:r>
              <a:rPr lang="en-US" sz="2300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parte</a:t>
            </a:r>
            <a:r>
              <a:rPr lang="en-US" sz="2300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do </a:t>
            </a:r>
            <a:r>
              <a:rPr lang="en-US" sz="2300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mobiliário</a:t>
            </a:r>
            <a:r>
              <a:rPr lang="en-US" sz="2300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, que </a:t>
            </a:r>
            <a:r>
              <a:rPr lang="en-US" sz="2300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já</a:t>
            </a:r>
            <a:r>
              <a:rPr lang="en-US" sz="2300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se </a:t>
            </a:r>
            <a:r>
              <a:rPr lang="en-US" sz="2300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encontrava</a:t>
            </a:r>
            <a:r>
              <a:rPr lang="en-US" sz="2300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300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altamente</a:t>
            </a:r>
            <a:r>
              <a:rPr lang="en-US" sz="2300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300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depreciado</a:t>
            </a:r>
            <a:r>
              <a:rPr lang="en-US" sz="2300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; </a:t>
            </a:r>
            <a:endParaRPr sz="2300" dirty="0">
              <a:solidFill>
                <a:schemeClr val="dk1"/>
              </a:solidFill>
              <a:latin typeface="+mj-lt"/>
            </a:endParaRPr>
          </a:p>
          <a:p>
            <a:pPr marL="457200" lvl="0" indent="-37465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Char char="●"/>
            </a:pPr>
            <a:r>
              <a:rPr lang="en-US" sz="2300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Aquisição</a:t>
            </a:r>
            <a:r>
              <a:rPr lang="en-US" sz="2300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de </a:t>
            </a:r>
            <a:r>
              <a:rPr lang="en-US" sz="2300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cafeteira</a:t>
            </a:r>
            <a:r>
              <a:rPr lang="en-US" sz="2300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industrial para o rancho, </a:t>
            </a:r>
            <a:r>
              <a:rPr lang="en-US" sz="2300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através</a:t>
            </a:r>
            <a:r>
              <a:rPr lang="en-US" sz="2300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de </a:t>
            </a:r>
            <a:r>
              <a:rPr lang="en-US" sz="2300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compra</a:t>
            </a:r>
            <a:r>
              <a:rPr lang="en-US" sz="2300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300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realizada</a:t>
            </a:r>
            <a:r>
              <a:rPr lang="en-US" sz="2300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pela </a:t>
            </a:r>
            <a:r>
              <a:rPr lang="en-US" sz="2300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Unidade</a:t>
            </a:r>
            <a:r>
              <a:rPr lang="en-US" sz="2300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300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Gestora</a:t>
            </a:r>
            <a:r>
              <a:rPr lang="en-US" sz="2300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, </a:t>
            </a:r>
            <a:r>
              <a:rPr lang="en-US" sz="2300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possibilitando</a:t>
            </a:r>
            <a:r>
              <a:rPr lang="en-US" sz="2300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a </a:t>
            </a:r>
            <a:r>
              <a:rPr lang="en-US" sz="2300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substituição</a:t>
            </a:r>
            <a:r>
              <a:rPr lang="en-US" sz="2300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de </a:t>
            </a:r>
            <a:r>
              <a:rPr lang="en-US" sz="2300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parte</a:t>
            </a:r>
            <a:r>
              <a:rPr lang="en-US" sz="2300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do </a:t>
            </a:r>
            <a:r>
              <a:rPr lang="en-US" sz="2300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mobiliário</a:t>
            </a:r>
            <a:r>
              <a:rPr lang="en-US" sz="2300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, que </a:t>
            </a:r>
            <a:r>
              <a:rPr lang="en-US" sz="2300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já</a:t>
            </a:r>
            <a:r>
              <a:rPr lang="en-US" sz="2300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se </a:t>
            </a:r>
            <a:r>
              <a:rPr lang="en-US" sz="2300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encontrava</a:t>
            </a:r>
            <a:r>
              <a:rPr lang="en-US" sz="2300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300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altamente</a:t>
            </a:r>
            <a:r>
              <a:rPr lang="en-US" sz="2300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300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depreciado</a:t>
            </a:r>
            <a:r>
              <a:rPr lang="en-US" sz="2300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.</a:t>
            </a:r>
            <a:endParaRPr sz="2300" dirty="0">
              <a:solidFill>
                <a:schemeClr val="dk1"/>
              </a:solidFill>
              <a:latin typeface="+mj-lt"/>
            </a:endParaRPr>
          </a:p>
          <a:p>
            <a:pPr marL="457200" lvl="0" indent="-37465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Char char="●"/>
            </a:pPr>
            <a:r>
              <a:rPr lang="en-US" sz="2300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Aquisição</a:t>
            </a:r>
            <a:r>
              <a:rPr lang="en-US" sz="2300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de 25 HTs para </a:t>
            </a:r>
            <a:r>
              <a:rPr lang="en-US" sz="2300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atividade</a:t>
            </a:r>
            <a:r>
              <a:rPr lang="en-US" sz="2300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300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operacional</a:t>
            </a:r>
            <a:r>
              <a:rPr lang="en-US" sz="2300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, </a:t>
            </a:r>
            <a:r>
              <a:rPr lang="en-US" sz="2300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através</a:t>
            </a:r>
            <a:r>
              <a:rPr lang="en-US" sz="2300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de </a:t>
            </a:r>
            <a:r>
              <a:rPr lang="en-US" sz="2300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compra</a:t>
            </a:r>
            <a:r>
              <a:rPr lang="en-US" sz="2300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300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realizada</a:t>
            </a:r>
            <a:r>
              <a:rPr lang="en-US" sz="2300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pela </a:t>
            </a:r>
            <a:r>
              <a:rPr lang="en-US" sz="2300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Unidade</a:t>
            </a:r>
            <a:r>
              <a:rPr lang="en-US" sz="2300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300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Gestora</a:t>
            </a:r>
            <a:r>
              <a:rPr lang="en-US" sz="2300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, </a:t>
            </a:r>
            <a:r>
              <a:rPr lang="en-US" sz="2300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possibilitando</a:t>
            </a:r>
            <a:r>
              <a:rPr lang="en-US" sz="2300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o </a:t>
            </a:r>
            <a:r>
              <a:rPr lang="en-US" sz="2300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aprimoramento</a:t>
            </a:r>
            <a:r>
              <a:rPr lang="en-US" sz="2300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da </a:t>
            </a:r>
            <a:r>
              <a:rPr lang="en-US" sz="2300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comunicação</a:t>
            </a:r>
            <a:r>
              <a:rPr lang="en-US" sz="2300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300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nos</a:t>
            </a:r>
            <a:r>
              <a:rPr lang="en-US" sz="2300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300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serviços</a:t>
            </a:r>
            <a:r>
              <a:rPr lang="en-US" sz="2300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300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diários</a:t>
            </a:r>
            <a:r>
              <a:rPr lang="en-US" sz="2300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. </a:t>
            </a:r>
            <a:endParaRPr sz="2300" dirty="0">
              <a:solidFill>
                <a:schemeClr val="dk1"/>
              </a:solidFill>
              <a:latin typeface="+mj-lt"/>
            </a:endParaRP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300" dirty="0">
              <a:solidFill>
                <a:schemeClr val="dk1"/>
              </a:solidFill>
              <a:latin typeface="+mj-lt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21"/>
          <p:cNvSpPr/>
          <p:nvPr/>
        </p:nvSpPr>
        <p:spPr>
          <a:xfrm>
            <a:off x="0" y="0"/>
            <a:ext cx="501353" cy="6858000"/>
          </a:xfrm>
          <a:prstGeom prst="rect">
            <a:avLst/>
          </a:prstGeom>
          <a:gradFill>
            <a:gsLst>
              <a:gs pos="0">
                <a:schemeClr val="dk1"/>
              </a:gs>
              <a:gs pos="11000">
                <a:schemeClr val="dk1"/>
              </a:gs>
              <a:gs pos="38000">
                <a:srgbClr val="A57C00"/>
              </a:gs>
              <a:gs pos="69000">
                <a:srgbClr val="BF9000"/>
              </a:gs>
              <a:gs pos="90000">
                <a:schemeClr val="accent4"/>
              </a:gs>
              <a:gs pos="100000">
                <a:schemeClr val="accent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21"/>
          <p:cNvSpPr txBox="1"/>
          <p:nvPr/>
        </p:nvSpPr>
        <p:spPr>
          <a:xfrm>
            <a:off x="900112" y="741362"/>
            <a:ext cx="8693150" cy="5222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800"/>
              <a:buFont typeface="Arial Black"/>
              <a:buNone/>
            </a:pPr>
            <a:r>
              <a:rPr lang="en-US" sz="2800" b="0" i="0" u="none" strike="noStrike" cap="none">
                <a:solidFill>
                  <a:srgbClr val="595959"/>
                </a:solidFill>
                <a:latin typeface="Arial Black"/>
                <a:ea typeface="Arial Black"/>
                <a:cs typeface="Arial Black"/>
                <a:sym typeface="Arial Black"/>
              </a:rPr>
              <a:t>Busca da Excelência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2" name="Google Shape;252;p21"/>
          <p:cNvSpPr txBox="1"/>
          <p:nvPr/>
        </p:nvSpPr>
        <p:spPr>
          <a:xfrm rot="-5400000">
            <a:off x="-2432050" y="3302000"/>
            <a:ext cx="5365750" cy="2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lang="en-US" sz="10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HISTÓRICO DA EXCELÊNCIA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3" name="Google Shape;253;p21"/>
          <p:cNvSpPr txBox="1"/>
          <p:nvPr/>
        </p:nvSpPr>
        <p:spPr>
          <a:xfrm>
            <a:off x="900112" y="1366837"/>
            <a:ext cx="10767900" cy="48628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imes New Roman"/>
              <a:buNone/>
            </a:pPr>
            <a:r>
              <a:rPr lang="en-US" sz="30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2023</a:t>
            </a:r>
            <a:endParaRPr sz="3000" b="0" i="0" u="none" strike="noStrike" cap="none" dirty="0">
              <a:solidFill>
                <a:srgbClr val="000000"/>
              </a:solidFill>
              <a:latin typeface="+mj-lt"/>
              <a:ea typeface="Arial"/>
              <a:cs typeface="Arial"/>
              <a:sym typeface="Arial"/>
            </a:endParaRPr>
          </a:p>
          <a:p>
            <a:pPr marL="0" marR="0" lvl="0" indent="-38100" algn="just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●"/>
            </a:pPr>
            <a:r>
              <a:rPr lang="en-US" sz="24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Início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das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tratativas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para a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implantação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da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escola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de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gestão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compartilhada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na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Escola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Onero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Costa da Rosa. Escola que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está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situada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num bairro popular de LEM,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tal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iniciativa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busca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estreitar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o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relacionamento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com a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comunidade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e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solidificar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a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imagem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da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corporação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como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uma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instituição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que prima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por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valores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tais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como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disciplina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e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civismo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. </a:t>
            </a:r>
            <a:endParaRPr sz="2400" b="0" i="0" u="none" strike="noStrike" cap="none" dirty="0">
              <a:solidFill>
                <a:srgbClr val="000000"/>
              </a:solidFill>
              <a:latin typeface="+mj-lt"/>
              <a:ea typeface="Arial"/>
              <a:cs typeface="Arial"/>
              <a:sym typeface="Arial"/>
            </a:endParaRPr>
          </a:p>
          <a:p>
            <a:pPr marL="0" marR="0" lvl="0" indent="-3810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●"/>
            </a:pPr>
            <a:r>
              <a:rPr lang="en-US" sz="24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Reforma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no PPM de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Roda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Velha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com a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construção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de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uma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local </a:t>
            </a:r>
            <a:endParaRPr sz="2400" b="0" i="0" u="none" strike="noStrike" cap="none" dirty="0">
              <a:solidFill>
                <a:srgbClr val="000000"/>
              </a:solidFill>
              <a:latin typeface="+mj-lt"/>
              <a:ea typeface="Arial"/>
              <a:cs typeface="Arial"/>
              <a:sym typeface="Arial"/>
            </a:endParaRP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imes New Roman"/>
              <a:buNone/>
            </a:pP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 </a:t>
            </a:r>
            <a:endParaRPr sz="2400" b="0" i="0" u="none" strike="noStrike" cap="none" dirty="0">
              <a:solidFill>
                <a:srgbClr val="000000"/>
              </a:solidFill>
              <a:latin typeface="+mj-lt"/>
              <a:ea typeface="Arial"/>
              <a:cs typeface="Arial"/>
              <a:sym typeface="Arial"/>
            </a:endParaRP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imes New Roman"/>
              <a:buNone/>
            </a:pPr>
            <a:r>
              <a:rPr lang="en-US" sz="30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2024</a:t>
            </a:r>
            <a:endParaRPr sz="3000" b="0" i="0" u="none" strike="noStrike" cap="none" dirty="0">
              <a:solidFill>
                <a:srgbClr val="000000"/>
              </a:solidFill>
              <a:latin typeface="+mj-lt"/>
              <a:ea typeface="Arial"/>
              <a:cs typeface="Arial"/>
              <a:sym typeface="Arial"/>
            </a:endParaRP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imes New Roman"/>
              <a:buNone/>
            </a:pP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 </a:t>
            </a:r>
            <a:endParaRPr sz="2400" b="0" i="0" u="none" strike="noStrike" cap="none" dirty="0">
              <a:solidFill>
                <a:srgbClr val="000000"/>
              </a:solidFill>
              <a:latin typeface="+mj-lt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imes New Roman"/>
              <a:buNone/>
            </a:pP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Em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fevereiro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,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iniciaram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-se as aulas da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primeira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Escola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Modelo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CPM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em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Luís Eduardo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Magalhães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. </a:t>
            </a:r>
            <a:endParaRPr sz="2400" b="0" i="0" u="none" strike="noStrike" cap="none" dirty="0">
              <a:solidFill>
                <a:srgbClr val="000000"/>
              </a:solidFill>
              <a:latin typeface="+mj-lt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21"/>
          <p:cNvSpPr/>
          <p:nvPr/>
        </p:nvSpPr>
        <p:spPr>
          <a:xfrm>
            <a:off x="0" y="0"/>
            <a:ext cx="501353" cy="6858000"/>
          </a:xfrm>
          <a:prstGeom prst="rect">
            <a:avLst/>
          </a:prstGeom>
          <a:gradFill>
            <a:gsLst>
              <a:gs pos="0">
                <a:schemeClr val="dk1"/>
              </a:gs>
              <a:gs pos="11000">
                <a:schemeClr val="dk1"/>
              </a:gs>
              <a:gs pos="38000">
                <a:srgbClr val="A57C00"/>
              </a:gs>
              <a:gs pos="69000">
                <a:srgbClr val="BF9000"/>
              </a:gs>
              <a:gs pos="90000">
                <a:schemeClr val="accent4"/>
              </a:gs>
              <a:gs pos="100000">
                <a:schemeClr val="accent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21"/>
          <p:cNvSpPr txBox="1"/>
          <p:nvPr/>
        </p:nvSpPr>
        <p:spPr>
          <a:xfrm>
            <a:off x="900112" y="741362"/>
            <a:ext cx="8693150" cy="5222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800"/>
              <a:buFont typeface="Arial Black"/>
              <a:buNone/>
            </a:pPr>
            <a:r>
              <a:rPr lang="en-US" sz="2800" b="0" i="0" u="none" strike="noStrike" cap="none">
                <a:solidFill>
                  <a:srgbClr val="595959"/>
                </a:solidFill>
                <a:latin typeface="Arial Black"/>
                <a:ea typeface="Arial Black"/>
                <a:cs typeface="Arial Black"/>
                <a:sym typeface="Arial Black"/>
              </a:rPr>
              <a:t>Busca da Excelência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2" name="Google Shape;252;p21"/>
          <p:cNvSpPr txBox="1"/>
          <p:nvPr/>
        </p:nvSpPr>
        <p:spPr>
          <a:xfrm rot="-5400000">
            <a:off x="-2432050" y="3302000"/>
            <a:ext cx="5365750" cy="2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lang="en-US" sz="10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HISTÓRICO DA EXCELÊNCIA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3" name="Google Shape;253;p21"/>
          <p:cNvSpPr txBox="1"/>
          <p:nvPr/>
        </p:nvSpPr>
        <p:spPr>
          <a:xfrm>
            <a:off x="900112" y="1366837"/>
            <a:ext cx="10767900" cy="48628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imes New Roman"/>
              <a:buNone/>
            </a:pPr>
            <a:r>
              <a:rPr lang="en-US" sz="1600" b="1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2025</a:t>
            </a:r>
            <a:endParaRPr sz="3000" b="0" i="0" u="none" strike="noStrike" cap="none" dirty="0">
              <a:solidFill>
                <a:srgbClr val="000000"/>
              </a:solidFill>
              <a:latin typeface="+mj-lt"/>
              <a:ea typeface="Arial"/>
              <a:cs typeface="Arial"/>
              <a:sym typeface="Arial"/>
            </a:endParaRP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imes New Roman"/>
              <a:buNone/>
            </a:pPr>
            <a:r>
              <a:rPr lang="en-US" sz="16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Criação do 27º Batalhão de Polícia Militar pela Lei Estadual nº 14.962, de 05/09/2025, e implantação em Luís Eduardo Magalhães em 08/09/2025 (Decreto nº 23.976), elevando a antiga 85ª CIPM a Batalhão;</a:t>
            </a:r>
            <a:endParaRPr sz="3000" b="0" i="0" u="none" strike="noStrike" cap="none" dirty="0">
              <a:solidFill>
                <a:srgbClr val="000000"/>
              </a:solidFill>
              <a:latin typeface="+mj-lt"/>
              <a:ea typeface="Arial"/>
              <a:cs typeface="Arial"/>
              <a:sym typeface="Arial"/>
            </a:endParaRP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imes New Roman"/>
              <a:buNone/>
            </a:pPr>
            <a:r>
              <a:rPr lang="en-US" sz="16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Reestruturação das companhias: 1ª, 2ª e 3ª CIAs em LEM e 4ª CIA Destacada em São Desidério (Roda Velha e Sítio Grande);</a:t>
            </a:r>
            <a:endParaRPr sz="3000" b="0" i="0" u="none" strike="noStrike" cap="none" dirty="0">
              <a:solidFill>
                <a:srgbClr val="000000"/>
              </a:solidFill>
              <a:latin typeface="+mj-lt"/>
              <a:ea typeface="Arial"/>
              <a:cs typeface="Arial"/>
              <a:sym typeface="Arial"/>
            </a:endParaRP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imes New Roman"/>
              <a:buNone/>
            </a:pPr>
            <a:r>
              <a:rPr lang="en-US" sz="1600" b="1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2026</a:t>
            </a:r>
            <a:endParaRPr sz="3000" b="0" i="0" u="none" strike="noStrike" cap="none" dirty="0">
              <a:solidFill>
                <a:srgbClr val="000000"/>
              </a:solidFill>
              <a:latin typeface="+mj-lt"/>
              <a:ea typeface="Arial"/>
              <a:cs typeface="Arial"/>
              <a:sym typeface="Arial"/>
            </a:endParaRP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imes New Roman"/>
              <a:buNone/>
            </a:pPr>
            <a:r>
              <a:rPr lang="en-US" sz="16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Portaria nº 026-CG/2026: criação da Coordenação de Planejamento Operacional e Instrução (CPOI) e da Coordenação de Apoio Administrativo (CAA);</a:t>
            </a:r>
            <a:endParaRPr sz="3000" b="0" i="0" u="none" strike="noStrike" cap="none" dirty="0">
              <a:solidFill>
                <a:srgbClr val="000000"/>
              </a:solidFill>
              <a:latin typeface="+mj-lt"/>
              <a:ea typeface="Arial"/>
              <a:cs typeface="Arial"/>
              <a:sym typeface="Arial"/>
            </a:endParaRP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imes New Roman"/>
              <a:buNone/>
            </a:pPr>
            <a:r>
              <a:rPr lang="en-US" sz="16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Capacitação: instrução com Fuzil ARAD 7, Curso Básico de Motociclista Policial e Curso Básico de Emprego Tático Operacional;</a:t>
            </a:r>
            <a:endParaRPr sz="3000" b="0" i="0" u="none" strike="noStrike" cap="none" dirty="0">
              <a:solidFill>
                <a:srgbClr val="000000"/>
              </a:solidFill>
              <a:latin typeface="+mj-lt"/>
              <a:ea typeface="Arial"/>
              <a:cs typeface="Arial"/>
              <a:sym typeface="Arial"/>
            </a:endParaRP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imes New Roman"/>
              <a:buNone/>
            </a:pPr>
            <a:r>
              <a:rPr lang="en-US" sz="16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Lançamento do Projeto Saúde no Quartel (biênio 2026/2027) e consolidação da CETO, Ronda Escolar e Ronda Maria da Penha (Sala Lilás).</a:t>
            </a:r>
            <a:endParaRPr sz="3000" b="0" i="0" u="none" strike="noStrike" cap="none" dirty="0">
              <a:solidFill>
                <a:srgbClr val="000000"/>
              </a:solidFill>
              <a:latin typeface="+mj-lt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3"/>
          <p:cNvSpPr/>
          <p:nvPr/>
        </p:nvSpPr>
        <p:spPr>
          <a:xfrm>
            <a:off x="0" y="0"/>
            <a:ext cx="501353" cy="6858000"/>
          </a:xfrm>
          <a:prstGeom prst="rect">
            <a:avLst/>
          </a:prstGeom>
          <a:gradFill>
            <a:gsLst>
              <a:gs pos="0">
                <a:schemeClr val="dk1"/>
              </a:gs>
              <a:gs pos="11000">
                <a:schemeClr val="dk1"/>
              </a:gs>
              <a:gs pos="38000">
                <a:srgbClr val="A57C00"/>
              </a:gs>
              <a:gs pos="69000">
                <a:srgbClr val="BF9000"/>
              </a:gs>
              <a:gs pos="90000">
                <a:schemeClr val="accent4"/>
              </a:gs>
              <a:gs pos="100000">
                <a:schemeClr val="accent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23"/>
          <p:cNvSpPr txBox="1"/>
          <p:nvPr/>
        </p:nvSpPr>
        <p:spPr>
          <a:xfrm>
            <a:off x="900112" y="741362"/>
            <a:ext cx="8693150" cy="5222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800"/>
              <a:buFont typeface="Arial Black"/>
              <a:buNone/>
            </a:pPr>
            <a:r>
              <a:rPr lang="en-US" sz="2800" b="0" i="0" u="none" strike="noStrike" cap="none">
                <a:solidFill>
                  <a:srgbClr val="595959"/>
                </a:solidFill>
                <a:latin typeface="Arial Black"/>
                <a:ea typeface="Arial Black"/>
                <a:cs typeface="Arial Black"/>
                <a:sym typeface="Arial Black"/>
              </a:rPr>
              <a:t>Desafios Estratégicos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9" name="Google Shape;269;p23"/>
          <p:cNvSpPr txBox="1"/>
          <p:nvPr/>
        </p:nvSpPr>
        <p:spPr>
          <a:xfrm rot="-5400000">
            <a:off x="-2432050" y="3302000"/>
            <a:ext cx="5365750" cy="2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lang="en-US" sz="10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DESAFIOS ESTRATÉGICOS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0" name="Google Shape;270;p23"/>
          <p:cNvSpPr txBox="1"/>
          <p:nvPr/>
        </p:nvSpPr>
        <p:spPr>
          <a:xfrm>
            <a:off x="1146175" y="2136775"/>
            <a:ext cx="10175700" cy="36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457200" marR="0" lvl="0" indent="-39370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Times New Roman"/>
              <a:buAutoNum type="arabicPeriod"/>
            </a:pPr>
            <a:r>
              <a:rPr lang="en-US" sz="20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Recompletar o efetivo: o Batalhão conta com 149 dos 300 policiais previstos (49,7%), com maior déficit de oficiais subalternos e sargentos;</a:t>
            </a:r>
            <a:endParaRPr sz="2600" dirty="0">
              <a:latin typeface="+mj-lt"/>
            </a:endParaRPr>
          </a:p>
          <a:p>
            <a:pPr marL="457200" marR="0" lvl="0" indent="-39370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Times New Roman"/>
              <a:buAutoNum type="arabicPeriod"/>
            </a:pPr>
            <a:r>
              <a:rPr lang="en-US" sz="20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Ampliar a frota (14 viaturas 4 rodas e 10 motocicletas) e as guarnições da 4ª CIA, especialmente no Distrito de Roda Velha;</a:t>
            </a:r>
            <a:endParaRPr sz="2600" dirty="0">
              <a:latin typeface="+mj-lt"/>
            </a:endParaRPr>
          </a:p>
          <a:p>
            <a:pPr marL="457200" marR="0" lvl="0" indent="-39370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Times New Roman"/>
              <a:buAutoNum type="arabicPeriod"/>
            </a:pPr>
            <a:r>
              <a:rPr lang="en-US" sz="20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Manter a tendência de redução de CVLI (−20% de jan a ago/2026) frente à atuação do BDM no tráfico de drogas;</a:t>
            </a:r>
            <a:endParaRPr sz="2600" dirty="0">
              <a:latin typeface="+mj-lt"/>
            </a:endParaRPr>
          </a:p>
          <a:p>
            <a:pPr marL="457200" marR="0" lvl="0" indent="-39370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Times New Roman"/>
              <a:buAutoNum type="arabicPeriod"/>
            </a:pPr>
            <a:r>
              <a:rPr lang="en-US" sz="20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Melhorar a estrutura física da sede da 4ª CIA (ampliação de alojamentos / construção do DISEP em São Desidério);</a:t>
            </a:r>
            <a:endParaRPr sz="2600" dirty="0">
              <a:latin typeface="+mj-lt"/>
            </a:endParaRPr>
          </a:p>
          <a:p>
            <a:pPr marL="457200" marR="0" lvl="0" indent="-39370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Times New Roman"/>
              <a:buAutoNum type="arabicPeriod"/>
            </a:pPr>
            <a:r>
              <a:rPr lang="en-US" sz="20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Obter a gestão dos policiais no RH Bahia pelo Comando da Unidade, para controle de licenças e afastamentos;</a:t>
            </a:r>
            <a:endParaRPr sz="2600" dirty="0">
              <a:latin typeface="+mj-lt"/>
            </a:endParaRPr>
          </a:p>
          <a:p>
            <a:pPr marL="457200" marR="0" lvl="0" indent="-39370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Times New Roman"/>
              <a:buAutoNum type="arabicPeriod"/>
            </a:pPr>
            <a:r>
              <a:rPr lang="en-US" sz="20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Executar os projetos futuros de capacitação: Curso de Identificação Veicular e Programa de Técnicas e Táticas.</a:t>
            </a:r>
            <a:endParaRPr sz="2600" dirty="0">
              <a:latin typeface="+mj-lt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25"/>
          <p:cNvSpPr/>
          <p:nvPr/>
        </p:nvSpPr>
        <p:spPr>
          <a:xfrm>
            <a:off x="0" y="0"/>
            <a:ext cx="501353" cy="6858000"/>
          </a:xfrm>
          <a:prstGeom prst="rect">
            <a:avLst/>
          </a:prstGeom>
          <a:gradFill>
            <a:gsLst>
              <a:gs pos="0">
                <a:schemeClr val="dk1"/>
              </a:gs>
              <a:gs pos="11000">
                <a:schemeClr val="dk1"/>
              </a:gs>
              <a:gs pos="38000">
                <a:srgbClr val="A57C00"/>
              </a:gs>
              <a:gs pos="69000">
                <a:srgbClr val="BF9000"/>
              </a:gs>
              <a:gs pos="90000">
                <a:schemeClr val="accent4"/>
              </a:gs>
              <a:gs pos="100000">
                <a:schemeClr val="accent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25"/>
          <p:cNvSpPr txBox="1"/>
          <p:nvPr/>
        </p:nvSpPr>
        <p:spPr>
          <a:xfrm>
            <a:off x="900111" y="741362"/>
            <a:ext cx="11168063" cy="523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800"/>
              <a:buFont typeface="Arial Black"/>
              <a:buNone/>
            </a:pPr>
            <a:r>
              <a:rPr lang="pt-BR" sz="2800" b="0" i="0" u="none" strike="noStrike" cap="none" dirty="0">
                <a:solidFill>
                  <a:srgbClr val="595959"/>
                </a:solidFill>
                <a:latin typeface="Arial Black"/>
                <a:ea typeface="Arial Black"/>
                <a:cs typeface="Arial Black"/>
                <a:sym typeface="Arial Black"/>
              </a:rPr>
              <a:t>Parada Matinal com efetivo de Serviço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6" name="Google Shape;286;p25"/>
          <p:cNvSpPr txBox="1"/>
          <p:nvPr/>
        </p:nvSpPr>
        <p:spPr>
          <a:xfrm rot="-5400000">
            <a:off x="-2432050" y="3302000"/>
            <a:ext cx="5365750" cy="2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lang="en-US" sz="10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PROCESSOS ORGANIZACIONAIS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7" name="Google Shape;287;p25"/>
          <p:cNvSpPr txBox="1"/>
          <p:nvPr/>
        </p:nvSpPr>
        <p:spPr>
          <a:xfrm>
            <a:off x="801257" y="1947113"/>
            <a:ext cx="11025823" cy="44011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just"/>
            <a:r>
              <a:rPr lang="pt-BR" sz="2800" dirty="0">
                <a:latin typeface="+mj-lt"/>
              </a:rPr>
              <a:t>Em todas as assunções de serviço </a:t>
            </a:r>
            <a:r>
              <a:rPr lang="pt-BR" sz="2800" b="1" dirty="0">
                <a:latin typeface="+mj-lt"/>
              </a:rPr>
              <a:t>o efetivo do pelotão </a:t>
            </a:r>
            <a:r>
              <a:rPr lang="pt-BR" sz="2800" dirty="0">
                <a:latin typeface="+mj-lt"/>
              </a:rPr>
              <a:t>que entra de serviço é colocado em forma para a preleção, </a:t>
            </a:r>
            <a:r>
              <a:rPr lang="pt-BR" sz="2800" b="1" dirty="0">
                <a:latin typeface="+mj-lt"/>
              </a:rPr>
              <a:t>no pátio da sede </a:t>
            </a:r>
            <a:r>
              <a:rPr lang="pt-BR" sz="2800" dirty="0">
                <a:latin typeface="+mj-lt"/>
              </a:rPr>
              <a:t>da Unidade para o efetivo que assume na sede, e no pátio dos Destacamentos Policiais Militares (DPM) para os policiais que assumem o serviço nesses locais. Nesse momento, são </a:t>
            </a:r>
            <a:r>
              <a:rPr lang="pt-BR" sz="2800" b="1" dirty="0">
                <a:latin typeface="+mj-lt"/>
              </a:rPr>
              <a:t>transmitidas as recomendações do Comando e do escalão superior para o serviço, divulgadas informações importantes, reiterados os Procedimentos Operacionais Padrão, </a:t>
            </a:r>
            <a:r>
              <a:rPr lang="pt-BR" sz="2800" dirty="0">
                <a:latin typeface="+mj-lt"/>
              </a:rPr>
              <a:t>bem como são reforçados os valores institucionais, como por exemplo a </a:t>
            </a:r>
            <a:r>
              <a:rPr lang="pt-BR" sz="2800" b="1" dirty="0">
                <a:latin typeface="+mj-lt"/>
              </a:rPr>
              <a:t>cerimônia de hasteamento do pavilhão nacional</a:t>
            </a:r>
            <a:r>
              <a:rPr lang="pt-BR" sz="2800" dirty="0">
                <a:latin typeface="+mj-lt"/>
              </a:rPr>
              <a:t>, na sede. 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25"/>
          <p:cNvSpPr/>
          <p:nvPr/>
        </p:nvSpPr>
        <p:spPr>
          <a:xfrm>
            <a:off x="0" y="0"/>
            <a:ext cx="501353" cy="6858000"/>
          </a:xfrm>
          <a:prstGeom prst="rect">
            <a:avLst/>
          </a:prstGeom>
          <a:gradFill>
            <a:gsLst>
              <a:gs pos="0">
                <a:schemeClr val="dk1"/>
              </a:gs>
              <a:gs pos="11000">
                <a:schemeClr val="dk1"/>
              </a:gs>
              <a:gs pos="38000">
                <a:srgbClr val="A57C00"/>
              </a:gs>
              <a:gs pos="69000">
                <a:srgbClr val="BF9000"/>
              </a:gs>
              <a:gs pos="90000">
                <a:schemeClr val="accent4"/>
              </a:gs>
              <a:gs pos="100000">
                <a:schemeClr val="accent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25"/>
          <p:cNvSpPr txBox="1"/>
          <p:nvPr/>
        </p:nvSpPr>
        <p:spPr>
          <a:xfrm>
            <a:off x="900111" y="741362"/>
            <a:ext cx="11168063" cy="523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800"/>
              <a:buFont typeface="Arial Black"/>
              <a:buNone/>
            </a:pPr>
            <a:r>
              <a:rPr lang="pt-BR" sz="2800" b="0" i="0" u="none" strike="noStrike" cap="none" dirty="0">
                <a:solidFill>
                  <a:srgbClr val="595959"/>
                </a:solidFill>
                <a:latin typeface="Arial Black"/>
                <a:ea typeface="Arial Black"/>
                <a:cs typeface="Arial Black"/>
                <a:sym typeface="Arial Black"/>
              </a:rPr>
              <a:t>Parada Matinal com efetivo de Serviço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6" name="Google Shape;286;p25"/>
          <p:cNvSpPr txBox="1"/>
          <p:nvPr/>
        </p:nvSpPr>
        <p:spPr>
          <a:xfrm rot="-5400000">
            <a:off x="-2432050" y="3302000"/>
            <a:ext cx="5365750" cy="2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lang="en-US" sz="10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PROCESSOS ORGANIZACIONAIS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7" name="Google Shape;287;p25"/>
          <p:cNvSpPr txBox="1"/>
          <p:nvPr/>
        </p:nvSpPr>
        <p:spPr>
          <a:xfrm>
            <a:off x="801257" y="1947113"/>
            <a:ext cx="11025823" cy="39702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just"/>
            <a:r>
              <a:rPr lang="pt-BR" sz="2800" dirty="0"/>
              <a:t>Além disso, são transmitidas orientações sobre a conduta durante o serviço. </a:t>
            </a:r>
            <a:r>
              <a:rPr lang="pt-BR" sz="2800" b="1" dirty="0"/>
              <a:t>São registradas imagens da preleção com a tropa, bem como, das assunções de serviço nos </a:t>
            </a:r>
            <a:r>
              <a:rPr lang="pt-BR" sz="2800" b="1" dirty="0" err="1"/>
              <a:t>DPMs</a:t>
            </a:r>
            <a:r>
              <a:rPr lang="pt-BR" sz="2800" b="1" dirty="0"/>
              <a:t>, as quais são divulgadas no grupo de mensagens do BPM “Minuto-a-Minuto</a:t>
            </a:r>
            <a:r>
              <a:rPr lang="pt-BR" sz="2800" dirty="0"/>
              <a:t>”. A comunicação social divulga, após seleção, parte dessas imagens nas redes sociais da UOE, com o objetivo fortalecer a imagem institucional frente ao público externo, que consegue visualizar uma parcela da rotina da UOE quando se prepara para iniciar a jornada de serviço</a:t>
            </a:r>
          </a:p>
        </p:txBody>
      </p:sp>
    </p:spTree>
    <p:extLst>
      <p:ext uri="{BB962C8B-B14F-4D97-AF65-F5344CB8AC3E}">
        <p14:creationId xmlns:p14="http://schemas.microsoft.com/office/powerpoint/2010/main" val="221678338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25"/>
          <p:cNvSpPr/>
          <p:nvPr/>
        </p:nvSpPr>
        <p:spPr>
          <a:xfrm>
            <a:off x="0" y="0"/>
            <a:ext cx="501353" cy="6858000"/>
          </a:xfrm>
          <a:prstGeom prst="rect">
            <a:avLst/>
          </a:prstGeom>
          <a:gradFill>
            <a:gsLst>
              <a:gs pos="0">
                <a:schemeClr val="dk1"/>
              </a:gs>
              <a:gs pos="11000">
                <a:schemeClr val="dk1"/>
              </a:gs>
              <a:gs pos="38000">
                <a:srgbClr val="A57C00"/>
              </a:gs>
              <a:gs pos="69000">
                <a:srgbClr val="BF9000"/>
              </a:gs>
              <a:gs pos="90000">
                <a:schemeClr val="accent4"/>
              </a:gs>
              <a:gs pos="100000">
                <a:schemeClr val="accent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25"/>
          <p:cNvSpPr txBox="1"/>
          <p:nvPr/>
        </p:nvSpPr>
        <p:spPr>
          <a:xfrm>
            <a:off x="900112" y="741362"/>
            <a:ext cx="11025822" cy="9540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800"/>
              <a:buFont typeface="Arial Black"/>
              <a:buNone/>
            </a:pPr>
            <a:r>
              <a:rPr lang="pt-BR" sz="2800" b="0" i="0" u="none" strike="noStrike" cap="none" dirty="0">
                <a:solidFill>
                  <a:srgbClr val="595959"/>
                </a:solidFill>
                <a:latin typeface="Arial Black"/>
                <a:ea typeface="Arial Black"/>
                <a:cs typeface="Arial Black"/>
                <a:sym typeface="Arial Black"/>
              </a:rPr>
              <a:t>Visita às instalações da unidade e acompanhamento operacional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6" name="Google Shape;286;p25"/>
          <p:cNvSpPr txBox="1"/>
          <p:nvPr/>
        </p:nvSpPr>
        <p:spPr>
          <a:xfrm rot="-5400000">
            <a:off x="-2432050" y="3302000"/>
            <a:ext cx="5365750" cy="2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lang="en-US" sz="10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PROCESSOS ORGANIZACIONAIS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7" name="Google Shape;287;p25"/>
          <p:cNvSpPr txBox="1"/>
          <p:nvPr/>
        </p:nvSpPr>
        <p:spPr>
          <a:xfrm>
            <a:off x="1050324" y="2182525"/>
            <a:ext cx="10280822" cy="249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just">
              <a:buClr>
                <a:srgbClr val="000000"/>
              </a:buClr>
              <a:tabLst>
                <a:tab pos="125730" algn="l"/>
              </a:tabLst>
            </a:pPr>
            <a:r>
              <a:rPr lang="pt-BR" sz="2600" dirty="0">
                <a:effectLst/>
                <a:latin typeface="Noto Sans Symbols" panose="020B0604020202020204" charset="0"/>
                <a:ea typeface="Noto Sans Symbols" panose="020B0604020202020204" charset="0"/>
                <a:cs typeface="Noto Sans Symbols" panose="020B0604020202020204" charset="0"/>
              </a:rPr>
              <a:t>O Subcomandante da Unidade, no início do expediente, visita as instalações da sede da Unidade, cumprimentando os policiais e verificando com o Oficial Coordenador de área se todos os policias estão aptos para o serviço, se todas as viaturas estão em pleno funcionamento ou se existe algum tipo de intercorrência que seja relevante ao serviço operacional. </a:t>
            </a:r>
            <a:endParaRPr lang="pt-BR" sz="2600" b="1" dirty="0">
              <a:effectLst/>
              <a:latin typeface="Noto Sans Symbols" panose="020B0604020202020204" charset="0"/>
              <a:ea typeface="Noto Sans Symbols" panose="020B0604020202020204" charset="0"/>
              <a:cs typeface="Noto Sans Symbols" panose="020B060402020202020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5177666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25"/>
          <p:cNvSpPr/>
          <p:nvPr/>
        </p:nvSpPr>
        <p:spPr>
          <a:xfrm>
            <a:off x="0" y="0"/>
            <a:ext cx="501353" cy="6858000"/>
          </a:xfrm>
          <a:prstGeom prst="rect">
            <a:avLst/>
          </a:prstGeom>
          <a:gradFill>
            <a:gsLst>
              <a:gs pos="0">
                <a:schemeClr val="dk1"/>
              </a:gs>
              <a:gs pos="11000">
                <a:schemeClr val="dk1"/>
              </a:gs>
              <a:gs pos="38000">
                <a:srgbClr val="A57C00"/>
              </a:gs>
              <a:gs pos="69000">
                <a:srgbClr val="BF9000"/>
              </a:gs>
              <a:gs pos="90000">
                <a:schemeClr val="accent4"/>
              </a:gs>
              <a:gs pos="100000">
                <a:schemeClr val="accent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25"/>
          <p:cNvSpPr txBox="1"/>
          <p:nvPr/>
        </p:nvSpPr>
        <p:spPr>
          <a:xfrm>
            <a:off x="900112" y="741362"/>
            <a:ext cx="11025822" cy="9540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800"/>
              <a:buFont typeface="Arial Black"/>
              <a:buNone/>
            </a:pPr>
            <a:r>
              <a:rPr lang="pt-BR" sz="2800" b="0" i="0" u="none" strike="noStrike" cap="none" dirty="0">
                <a:solidFill>
                  <a:srgbClr val="595959"/>
                </a:solidFill>
                <a:latin typeface="Arial Black"/>
                <a:ea typeface="Arial Black"/>
                <a:cs typeface="Arial Black"/>
                <a:sym typeface="Arial Black"/>
              </a:rPr>
              <a:t>Visita às instalações da unidade e acompanhamento operacional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6" name="Google Shape;286;p25"/>
          <p:cNvSpPr txBox="1"/>
          <p:nvPr/>
        </p:nvSpPr>
        <p:spPr>
          <a:xfrm rot="-5400000">
            <a:off x="-2432050" y="3302000"/>
            <a:ext cx="5365750" cy="2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lang="en-US" sz="10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PROCESSOS ORGANIZACIONAIS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7" name="Google Shape;287;p25"/>
          <p:cNvSpPr txBox="1"/>
          <p:nvPr/>
        </p:nvSpPr>
        <p:spPr>
          <a:xfrm>
            <a:off x="1050324" y="2182525"/>
            <a:ext cx="10280822" cy="2893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just">
              <a:buClr>
                <a:srgbClr val="000000"/>
              </a:buClr>
              <a:tabLst>
                <a:tab pos="125730" algn="l"/>
              </a:tabLst>
            </a:pPr>
            <a:r>
              <a:rPr lang="pt-BR" sz="2600" dirty="0">
                <a:effectLst/>
                <a:latin typeface="Noto Sans Symbols" panose="020B0604020202020204" charset="0"/>
                <a:ea typeface="Noto Sans Symbols" panose="020B0604020202020204" charset="0"/>
                <a:cs typeface="Noto Sans Symbols" panose="020B0604020202020204" charset="0"/>
              </a:rPr>
              <a:t>Em seguida, dirige-se as seções a fim de passar orientações e diligenciar com cada chefe de seção as principais demandas administrativas do dia. Ressalta-se que as bases destacadas, são visitadas bimestralmente, em virtude da grande distância da sede da Unidade, e os PMs ali lotados tem o dever de fotografar a assunção de serviço, diariamente, bem como, informar, via celular, qualquer incongruência, atrelado à fotos.</a:t>
            </a:r>
            <a:endParaRPr lang="pt-BR" sz="2600" b="1" dirty="0">
              <a:effectLst/>
              <a:latin typeface="Noto Sans Symbols" panose="020B0604020202020204" charset="0"/>
              <a:ea typeface="Noto Sans Symbols" panose="020B0604020202020204" charset="0"/>
              <a:cs typeface="Noto Sans Symbols" panose="020B060402020202020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3231897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25"/>
          <p:cNvSpPr/>
          <p:nvPr/>
        </p:nvSpPr>
        <p:spPr>
          <a:xfrm>
            <a:off x="0" y="0"/>
            <a:ext cx="501353" cy="6858000"/>
          </a:xfrm>
          <a:prstGeom prst="rect">
            <a:avLst/>
          </a:prstGeom>
          <a:gradFill>
            <a:gsLst>
              <a:gs pos="0">
                <a:schemeClr val="dk1"/>
              </a:gs>
              <a:gs pos="11000">
                <a:schemeClr val="dk1"/>
              </a:gs>
              <a:gs pos="38000">
                <a:srgbClr val="A57C00"/>
              </a:gs>
              <a:gs pos="69000">
                <a:srgbClr val="BF9000"/>
              </a:gs>
              <a:gs pos="90000">
                <a:schemeClr val="accent4"/>
              </a:gs>
              <a:gs pos="100000">
                <a:schemeClr val="accent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25"/>
          <p:cNvSpPr txBox="1"/>
          <p:nvPr/>
        </p:nvSpPr>
        <p:spPr>
          <a:xfrm>
            <a:off x="900112" y="741362"/>
            <a:ext cx="11025822" cy="523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800"/>
              <a:buFont typeface="Arial Black"/>
              <a:buNone/>
            </a:pPr>
            <a:r>
              <a:rPr lang="en-US" sz="2800" b="0" i="0" u="none" strike="noStrike" cap="none" dirty="0" err="1">
                <a:solidFill>
                  <a:srgbClr val="595959"/>
                </a:solidFill>
                <a:latin typeface="Arial Black"/>
                <a:ea typeface="Arial Black"/>
                <a:cs typeface="Arial Black"/>
                <a:sym typeface="Arial Black"/>
              </a:rPr>
              <a:t>Reunião</a:t>
            </a:r>
            <a:r>
              <a:rPr lang="en-US" sz="2800" b="0" i="0" u="none" strike="noStrike" cap="none" dirty="0">
                <a:solidFill>
                  <a:srgbClr val="595959"/>
                </a:solidFill>
                <a:latin typeface="Arial Black"/>
                <a:ea typeface="Arial Black"/>
                <a:cs typeface="Arial Black"/>
                <a:sym typeface="Arial Black"/>
              </a:rPr>
              <a:t> de </a:t>
            </a:r>
            <a:r>
              <a:rPr lang="en-US" sz="2800" b="0" i="0" u="none" strike="noStrike" cap="none" dirty="0" err="1">
                <a:solidFill>
                  <a:srgbClr val="595959"/>
                </a:solidFill>
                <a:latin typeface="Arial Black"/>
                <a:ea typeface="Arial Black"/>
                <a:cs typeface="Arial Black"/>
                <a:sym typeface="Arial Black"/>
              </a:rPr>
              <a:t>avaliação</a:t>
            </a:r>
            <a:r>
              <a:rPr lang="en-US" sz="2800" b="0" i="0" u="none" strike="noStrike" cap="none" dirty="0">
                <a:solidFill>
                  <a:srgbClr val="595959"/>
                </a:solidFill>
                <a:latin typeface="Arial Black"/>
                <a:ea typeface="Arial Black"/>
                <a:cs typeface="Arial Black"/>
                <a:sym typeface="Arial Black"/>
              </a:rPr>
              <a:t> </a:t>
            </a:r>
            <a:r>
              <a:rPr lang="en-US" sz="2800" b="0" i="0" u="none" strike="noStrike" cap="none" dirty="0" err="1">
                <a:solidFill>
                  <a:srgbClr val="595959"/>
                </a:solidFill>
                <a:latin typeface="Arial Black"/>
                <a:ea typeface="Arial Black"/>
                <a:cs typeface="Arial Black"/>
                <a:sym typeface="Arial Black"/>
              </a:rPr>
              <a:t>anual</a:t>
            </a:r>
            <a:endParaRPr lang="en-US"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6" name="Google Shape;286;p25"/>
          <p:cNvSpPr txBox="1"/>
          <p:nvPr/>
        </p:nvSpPr>
        <p:spPr>
          <a:xfrm rot="-5400000">
            <a:off x="-2432050" y="3302000"/>
            <a:ext cx="5365750" cy="2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lang="en-US" sz="10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PROCESSOS ORGANIZACIONAIS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7" name="Google Shape;287;p25"/>
          <p:cNvSpPr txBox="1"/>
          <p:nvPr/>
        </p:nvSpPr>
        <p:spPr>
          <a:xfrm>
            <a:off x="900112" y="1970659"/>
            <a:ext cx="9992497" cy="24777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just"/>
            <a:r>
              <a:rPr lang="pt-BR" sz="2600" dirty="0"/>
              <a:t>Na primeira quinzena do ano é realizada a Reunião de Avaliação Anual, com vistas a analisar os pontos positivos e oportunidades de melhoria referentes às ações do ano anterior.</a:t>
            </a:r>
            <a:br>
              <a:rPr lang="pt-BR" sz="2600" dirty="0"/>
            </a:br>
            <a:r>
              <a:rPr lang="pt-BR" sz="2600" dirty="0"/>
              <a:t>Dessa reunião resulta o relatório anual de produtividade e gestão da unidade, o qual irá subsidiar a produção do Plano de Gestão do ano seguinte.</a:t>
            </a:r>
          </a:p>
        </p:txBody>
      </p:sp>
    </p:spTree>
    <p:extLst>
      <p:ext uri="{BB962C8B-B14F-4D97-AF65-F5344CB8AC3E}">
        <p14:creationId xmlns:p14="http://schemas.microsoft.com/office/powerpoint/2010/main" val="178369125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25"/>
          <p:cNvSpPr/>
          <p:nvPr/>
        </p:nvSpPr>
        <p:spPr>
          <a:xfrm>
            <a:off x="0" y="0"/>
            <a:ext cx="501353" cy="6858000"/>
          </a:xfrm>
          <a:prstGeom prst="rect">
            <a:avLst/>
          </a:prstGeom>
          <a:gradFill>
            <a:gsLst>
              <a:gs pos="0">
                <a:schemeClr val="dk1"/>
              </a:gs>
              <a:gs pos="11000">
                <a:schemeClr val="dk1"/>
              </a:gs>
              <a:gs pos="38000">
                <a:srgbClr val="A57C00"/>
              </a:gs>
              <a:gs pos="69000">
                <a:srgbClr val="BF9000"/>
              </a:gs>
              <a:gs pos="90000">
                <a:schemeClr val="accent4"/>
              </a:gs>
              <a:gs pos="100000">
                <a:schemeClr val="accent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25"/>
          <p:cNvSpPr txBox="1"/>
          <p:nvPr/>
        </p:nvSpPr>
        <p:spPr>
          <a:xfrm>
            <a:off x="900112" y="746125"/>
            <a:ext cx="11025822" cy="523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800"/>
              <a:buFont typeface="Arial Black"/>
              <a:buNone/>
            </a:pPr>
            <a:r>
              <a:rPr lang="pt-BR" sz="2800" dirty="0">
                <a:solidFill>
                  <a:srgbClr val="595959"/>
                </a:solidFill>
                <a:latin typeface="Arial Black"/>
                <a:ea typeface="Arial Black"/>
                <a:cs typeface="Arial Black"/>
                <a:sym typeface="Arial Black"/>
              </a:rPr>
              <a:t>E</a:t>
            </a:r>
            <a:r>
              <a:rPr lang="pt-BR" sz="2800" b="0" i="0" u="none" strike="noStrike" cap="none" dirty="0">
                <a:solidFill>
                  <a:srgbClr val="595959"/>
                </a:solidFill>
                <a:latin typeface="Arial Black"/>
                <a:ea typeface="Arial Black"/>
                <a:cs typeface="Arial Black"/>
                <a:sym typeface="Arial Black"/>
              </a:rPr>
              <a:t>laboração do plano de gestão anual</a:t>
            </a:r>
            <a:endParaRPr lang="en-US"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6" name="Google Shape;286;p25"/>
          <p:cNvSpPr txBox="1"/>
          <p:nvPr/>
        </p:nvSpPr>
        <p:spPr>
          <a:xfrm rot="-5400000">
            <a:off x="-2432050" y="3302000"/>
            <a:ext cx="5365750" cy="2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lang="en-US" sz="10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PROCESSOS ORGANIZACIONAIS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7" name="Google Shape;287;p25"/>
          <p:cNvSpPr txBox="1"/>
          <p:nvPr/>
        </p:nvSpPr>
        <p:spPr>
          <a:xfrm>
            <a:off x="900112" y="1970659"/>
            <a:ext cx="9992497" cy="2092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just"/>
            <a:r>
              <a:rPr lang="pt-BR" sz="2600" dirty="0"/>
              <a:t>No mês de dezembro as reuniões semanais têm atenção especial para a elaboração do Plano de Comando do ano seguinte. São estabelecidas ações e metas a serem executados e alcançados pela gestão no respectivo ano, em alinhamento com o Plano de Comando da Unidade.</a:t>
            </a:r>
          </a:p>
        </p:txBody>
      </p:sp>
    </p:spTree>
    <p:extLst>
      <p:ext uri="{BB962C8B-B14F-4D97-AF65-F5344CB8AC3E}">
        <p14:creationId xmlns:p14="http://schemas.microsoft.com/office/powerpoint/2010/main" val="321327140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25"/>
          <p:cNvSpPr/>
          <p:nvPr/>
        </p:nvSpPr>
        <p:spPr>
          <a:xfrm>
            <a:off x="0" y="0"/>
            <a:ext cx="501353" cy="6858000"/>
          </a:xfrm>
          <a:prstGeom prst="rect">
            <a:avLst/>
          </a:prstGeom>
          <a:gradFill>
            <a:gsLst>
              <a:gs pos="0">
                <a:schemeClr val="dk1"/>
              </a:gs>
              <a:gs pos="11000">
                <a:schemeClr val="dk1"/>
              </a:gs>
              <a:gs pos="38000">
                <a:srgbClr val="A57C00"/>
              </a:gs>
              <a:gs pos="69000">
                <a:srgbClr val="BF9000"/>
              </a:gs>
              <a:gs pos="90000">
                <a:schemeClr val="accent4"/>
              </a:gs>
              <a:gs pos="100000">
                <a:schemeClr val="accent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25"/>
          <p:cNvSpPr txBox="1"/>
          <p:nvPr/>
        </p:nvSpPr>
        <p:spPr>
          <a:xfrm>
            <a:off x="900112" y="746125"/>
            <a:ext cx="11025822" cy="523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800"/>
              <a:buFont typeface="Arial Black"/>
              <a:buNone/>
            </a:pPr>
            <a:r>
              <a:rPr lang="pt-BR" sz="2800" dirty="0">
                <a:solidFill>
                  <a:srgbClr val="595959"/>
                </a:solidFill>
                <a:latin typeface="Arial Black"/>
                <a:ea typeface="Arial Black"/>
                <a:cs typeface="Arial Black"/>
                <a:sym typeface="Arial Black"/>
              </a:rPr>
              <a:t>Ouvidoria setorial</a:t>
            </a:r>
            <a:endParaRPr lang="en-US"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6" name="Google Shape;286;p25"/>
          <p:cNvSpPr txBox="1"/>
          <p:nvPr/>
        </p:nvSpPr>
        <p:spPr>
          <a:xfrm rot="-5400000">
            <a:off x="-2432050" y="3302000"/>
            <a:ext cx="5365750" cy="2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lang="en-US" sz="10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PROCESSOS ORGANIZACIONAIS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7" name="Google Shape;287;p25"/>
          <p:cNvSpPr txBox="1"/>
          <p:nvPr/>
        </p:nvSpPr>
        <p:spPr>
          <a:xfrm>
            <a:off x="900112" y="1674097"/>
            <a:ext cx="9992497" cy="48936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just"/>
            <a:r>
              <a:rPr lang="pt-BR" sz="2600" dirty="0"/>
              <a:t>Ao surgir uma demanda </a:t>
            </a:r>
            <a:r>
              <a:rPr lang="pt-BR" sz="2600" b="1" dirty="0"/>
              <a:t>(positiva ou negativa) </a:t>
            </a:r>
            <a:r>
              <a:rPr lang="pt-BR" sz="2600" dirty="0"/>
              <a:t>dos nossos clientes, via </a:t>
            </a:r>
            <a:r>
              <a:rPr lang="pt-BR" sz="2600" dirty="0" err="1"/>
              <a:t>Conseg</a:t>
            </a:r>
            <a:r>
              <a:rPr lang="pt-BR" sz="2600" dirty="0"/>
              <a:t>, contato telefônico ou via mensagem com o operador da </a:t>
            </a:r>
            <a:r>
              <a:rPr lang="pt-BR" sz="2600" dirty="0" err="1"/>
              <a:t>Cenop</a:t>
            </a:r>
            <a:r>
              <a:rPr lang="pt-BR" sz="2600" dirty="0"/>
              <a:t>, redes sociais ou pessoalmente na sede da UOPM, as informações são encaminhadas para o Subcomandante da Unidade e para a Corregedoria Setorial e Ouvidoria, onde são tratados o teor da informação, que pode desencadear instrução, apuração ou elogio. </a:t>
            </a:r>
          </a:p>
          <a:p>
            <a:pPr algn="just"/>
            <a:endParaRPr lang="pt-BR" sz="2600" dirty="0"/>
          </a:p>
          <a:p>
            <a:pPr algn="just"/>
            <a:r>
              <a:rPr lang="pt-BR" sz="2600" dirty="0"/>
              <a:t>Tais medidas são divulgadas, conforme sua natureza, sendo os </a:t>
            </a:r>
            <a:r>
              <a:rPr lang="pt-BR" sz="2600" b="1" dirty="0"/>
              <a:t>elogios e instruções publicizados </a:t>
            </a:r>
            <a:r>
              <a:rPr lang="pt-BR" sz="2600" dirty="0"/>
              <a:t>nas paradas mensais e nas redes sociais da UOPM, e as apurações são registradas em </a:t>
            </a:r>
            <a:r>
              <a:rPr lang="pt-BR" sz="2600" b="1" dirty="0"/>
              <a:t>Boletim Interno Ostensivo (BIO).</a:t>
            </a:r>
          </a:p>
        </p:txBody>
      </p:sp>
    </p:spTree>
    <p:extLst>
      <p:ext uri="{BB962C8B-B14F-4D97-AF65-F5344CB8AC3E}">
        <p14:creationId xmlns:p14="http://schemas.microsoft.com/office/powerpoint/2010/main" val="296182955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25"/>
          <p:cNvSpPr/>
          <p:nvPr/>
        </p:nvSpPr>
        <p:spPr>
          <a:xfrm>
            <a:off x="0" y="0"/>
            <a:ext cx="501353" cy="6858000"/>
          </a:xfrm>
          <a:prstGeom prst="rect">
            <a:avLst/>
          </a:prstGeom>
          <a:gradFill>
            <a:gsLst>
              <a:gs pos="0">
                <a:schemeClr val="dk1"/>
              </a:gs>
              <a:gs pos="11000">
                <a:schemeClr val="dk1"/>
              </a:gs>
              <a:gs pos="38000">
                <a:srgbClr val="A57C00"/>
              </a:gs>
              <a:gs pos="69000">
                <a:srgbClr val="BF9000"/>
              </a:gs>
              <a:gs pos="90000">
                <a:schemeClr val="accent4"/>
              </a:gs>
              <a:gs pos="100000">
                <a:schemeClr val="accent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25"/>
          <p:cNvSpPr txBox="1"/>
          <p:nvPr/>
        </p:nvSpPr>
        <p:spPr>
          <a:xfrm>
            <a:off x="900112" y="746125"/>
            <a:ext cx="11025822" cy="9540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800"/>
              <a:buFont typeface="Arial Black"/>
              <a:buNone/>
            </a:pPr>
            <a:r>
              <a:rPr lang="pt-BR" sz="2800" b="0" i="0" u="none" strike="noStrike" cap="none" dirty="0">
                <a:solidFill>
                  <a:srgbClr val="595959"/>
                </a:solidFill>
                <a:latin typeface="Arial Black"/>
                <a:ea typeface="Arial Black"/>
                <a:cs typeface="Arial Black"/>
                <a:sym typeface="Arial Black"/>
              </a:rPr>
              <a:t>Reunião do conselho comunitário de segurança </a:t>
            </a:r>
            <a:r>
              <a:rPr lang="pt-BR" sz="2800" b="0" i="0" u="none" strike="noStrike" cap="none" dirty="0" smtClean="0">
                <a:solidFill>
                  <a:srgbClr val="595959"/>
                </a:solidFill>
                <a:latin typeface="Arial Black"/>
                <a:ea typeface="Arial Black"/>
                <a:cs typeface="Arial Black"/>
                <a:sym typeface="Arial Black"/>
              </a:rPr>
              <a:t>(</a:t>
            </a:r>
            <a:r>
              <a:rPr lang="pt-BR" sz="2800" dirty="0" smtClean="0">
                <a:solidFill>
                  <a:srgbClr val="595959"/>
                </a:solidFill>
                <a:latin typeface="Arial Black"/>
                <a:ea typeface="Arial Black"/>
                <a:cs typeface="Arial Black"/>
                <a:sym typeface="Arial Black"/>
              </a:rPr>
              <a:t>CONSEG</a:t>
            </a:r>
            <a:r>
              <a:rPr lang="pt-BR" sz="2800" b="0" i="0" u="none" strike="noStrike" cap="none" dirty="0" smtClean="0">
                <a:solidFill>
                  <a:srgbClr val="595959"/>
                </a:solidFill>
                <a:latin typeface="Arial Black"/>
                <a:ea typeface="Arial Black"/>
                <a:cs typeface="Arial Black"/>
                <a:sym typeface="Arial Black"/>
              </a:rPr>
              <a:t>)</a:t>
            </a:r>
            <a:endParaRPr lang="pt-BR"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6" name="Google Shape;286;p25"/>
          <p:cNvSpPr txBox="1"/>
          <p:nvPr/>
        </p:nvSpPr>
        <p:spPr>
          <a:xfrm rot="-5400000">
            <a:off x="-2432050" y="3302000"/>
            <a:ext cx="5365750" cy="2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lang="en-US" sz="10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PROCESSOS ORGANIZACIONAIS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7" name="Google Shape;287;p25"/>
          <p:cNvSpPr txBox="1"/>
          <p:nvPr/>
        </p:nvSpPr>
        <p:spPr>
          <a:xfrm>
            <a:off x="900112" y="1719865"/>
            <a:ext cx="9992497" cy="52937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just"/>
            <a:r>
              <a:rPr lang="pt-BR" sz="2600" dirty="0"/>
              <a:t>Realização de reunião semestral presidida pelo Comandante da UOPM, com vistas à </a:t>
            </a:r>
            <a:r>
              <a:rPr lang="pt-BR" sz="2600" b="1" dirty="0"/>
              <a:t>análise de sugestões de medidas voltadas à elaboração da Política de Segurança Pública</a:t>
            </a:r>
            <a:r>
              <a:rPr lang="pt-BR" sz="2600" dirty="0"/>
              <a:t> aplicáveis aos municípios que integram a área de responsabilidade territorial da OPM, possibilitando o conhecimento das expectativas da comunidade e a antecipação no seu atendimento, além de zelar pela efetividade das ações voltadas à prevenção da violência e combate à criminalidade. </a:t>
            </a:r>
          </a:p>
          <a:p>
            <a:pPr algn="just"/>
            <a:endParaRPr lang="pt-BR" sz="2600" dirty="0"/>
          </a:p>
          <a:p>
            <a:pPr algn="just"/>
            <a:r>
              <a:rPr lang="pt-BR" sz="2600" dirty="0"/>
              <a:t>Com as informações geradas nas reuniões o comandante </a:t>
            </a:r>
            <a:r>
              <a:rPr lang="pt-BR" sz="2600" b="1" dirty="0"/>
              <a:t>convoca o STAFF e executa o planejamento das operações ou ações com o objetivo de resolver ou minimizar os problemas.</a:t>
            </a:r>
          </a:p>
        </p:txBody>
      </p:sp>
    </p:spTree>
    <p:extLst>
      <p:ext uri="{BB962C8B-B14F-4D97-AF65-F5344CB8AC3E}">
        <p14:creationId xmlns:p14="http://schemas.microsoft.com/office/powerpoint/2010/main" val="313491565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27"/>
          <p:cNvSpPr/>
          <p:nvPr/>
        </p:nvSpPr>
        <p:spPr>
          <a:xfrm>
            <a:off x="0" y="0"/>
            <a:ext cx="501353" cy="6858000"/>
          </a:xfrm>
          <a:prstGeom prst="rect">
            <a:avLst/>
          </a:prstGeom>
          <a:gradFill>
            <a:gsLst>
              <a:gs pos="0">
                <a:schemeClr val="dk1"/>
              </a:gs>
              <a:gs pos="11000">
                <a:schemeClr val="dk1"/>
              </a:gs>
              <a:gs pos="38000">
                <a:srgbClr val="A57C00"/>
              </a:gs>
              <a:gs pos="69000">
                <a:srgbClr val="BF9000"/>
              </a:gs>
              <a:gs pos="90000">
                <a:schemeClr val="accent4"/>
              </a:gs>
              <a:gs pos="100000">
                <a:schemeClr val="accent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27"/>
          <p:cNvSpPr txBox="1"/>
          <p:nvPr/>
        </p:nvSpPr>
        <p:spPr>
          <a:xfrm>
            <a:off x="900112" y="605438"/>
            <a:ext cx="8693150" cy="5222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800"/>
              <a:buFont typeface="Arial Black"/>
              <a:buNone/>
            </a:pPr>
            <a:r>
              <a:rPr lang="en-US" sz="2800" dirty="0">
                <a:solidFill>
                  <a:srgbClr val="595959"/>
                </a:solidFill>
                <a:latin typeface="Arial Black"/>
                <a:ea typeface="Arial Black"/>
                <a:cs typeface="Arial Black"/>
                <a:sym typeface="Arial Black"/>
              </a:rPr>
              <a:t>S</a:t>
            </a:r>
            <a:r>
              <a:rPr lang="en-US" sz="2800" b="0" i="0" u="none" strike="noStrike" cap="none" dirty="0">
                <a:solidFill>
                  <a:srgbClr val="595959"/>
                </a:solidFill>
                <a:latin typeface="Arial Black"/>
                <a:ea typeface="Arial Black"/>
                <a:cs typeface="Arial Black"/>
                <a:sym typeface="Arial Black"/>
              </a:rPr>
              <a:t>ocial e </a:t>
            </a:r>
            <a:r>
              <a:rPr lang="en-US" sz="2800" b="0" i="0" u="none" strike="noStrike" cap="none" dirty="0" err="1">
                <a:solidFill>
                  <a:srgbClr val="595959"/>
                </a:solidFill>
                <a:latin typeface="Arial Black"/>
                <a:ea typeface="Arial Black"/>
                <a:cs typeface="Arial Black"/>
                <a:sym typeface="Arial Black"/>
              </a:rPr>
              <a:t>ambiental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5" name="Google Shape;305;p27"/>
          <p:cNvSpPr txBox="1"/>
          <p:nvPr/>
        </p:nvSpPr>
        <p:spPr>
          <a:xfrm rot="-5400000">
            <a:off x="-2432050" y="3302000"/>
            <a:ext cx="5365750" cy="2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lang="en-US" sz="10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RESULTADOS ORGANIZACIONAIS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6" name="Google Shape;306;p27"/>
          <p:cNvSpPr txBox="1"/>
          <p:nvPr/>
        </p:nvSpPr>
        <p:spPr>
          <a:xfrm>
            <a:off x="625178" y="1574988"/>
            <a:ext cx="6418173" cy="52629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600"/>
              <a:buFont typeface="Arial"/>
              <a:buNone/>
            </a:pPr>
            <a:r>
              <a:rPr lang="pt-BR" sz="2400" b="1" dirty="0"/>
              <a:t>Quantidade de crianças atendidas pelo Projeto por ano</a:t>
            </a: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600"/>
              <a:buFont typeface="Arial"/>
              <a:buNone/>
            </a:pPr>
            <a:endParaRPr lang="pt-BR" sz="2400" b="1" dirty="0"/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600"/>
              <a:buFont typeface="Arial"/>
              <a:buNone/>
            </a:pPr>
            <a:r>
              <a:rPr lang="pt-BR" sz="2400" b="1" dirty="0"/>
              <a:t>O Projeto Lutando Bem,</a:t>
            </a:r>
            <a:r>
              <a:rPr lang="pt-BR" sz="2400" dirty="0"/>
              <a:t> é realizado pela 27º BPM, oferece aulas de judô para crianças com o objetivo de promover disciplina, respeito, autoconfiança e cidadania. A iniciativa busca desviar jovens de situações de vulnerabilidade, oferecendo uma atividade estruturada que contribui para o desenvolvimento físico e mental. Além disso, o projeto fortalece o vínculo entre a comunidade e a Polícia Militar, promovendo uma relação de confiança e cooperação.</a:t>
            </a:r>
            <a:endParaRPr sz="2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3B744D50-EB37-A07F-3DAA-D3843A0B9F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5209" y="1759300"/>
            <a:ext cx="4176106" cy="4154943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27"/>
          <p:cNvSpPr/>
          <p:nvPr/>
        </p:nvSpPr>
        <p:spPr>
          <a:xfrm>
            <a:off x="0" y="0"/>
            <a:ext cx="501353" cy="6858000"/>
          </a:xfrm>
          <a:prstGeom prst="rect">
            <a:avLst/>
          </a:prstGeom>
          <a:gradFill>
            <a:gsLst>
              <a:gs pos="0">
                <a:schemeClr val="dk1"/>
              </a:gs>
              <a:gs pos="11000">
                <a:schemeClr val="dk1"/>
              </a:gs>
              <a:gs pos="38000">
                <a:srgbClr val="A57C00"/>
              </a:gs>
              <a:gs pos="69000">
                <a:srgbClr val="BF9000"/>
              </a:gs>
              <a:gs pos="90000">
                <a:schemeClr val="accent4"/>
              </a:gs>
              <a:gs pos="100000">
                <a:schemeClr val="accent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27"/>
          <p:cNvSpPr txBox="1"/>
          <p:nvPr/>
        </p:nvSpPr>
        <p:spPr>
          <a:xfrm>
            <a:off x="900112" y="605438"/>
            <a:ext cx="8693150" cy="5222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800"/>
              <a:buFont typeface="Arial Black"/>
              <a:buNone/>
            </a:pPr>
            <a:r>
              <a:rPr lang="pt-BR" sz="2800" dirty="0">
                <a:solidFill>
                  <a:srgbClr val="595959"/>
                </a:solidFill>
                <a:latin typeface="Arial Black"/>
                <a:ea typeface="Arial Black"/>
                <a:cs typeface="Arial Black"/>
                <a:sym typeface="Arial Black"/>
              </a:rPr>
              <a:t>Resultado relativo a clientes e mercados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5" name="Google Shape;305;p27"/>
          <p:cNvSpPr txBox="1"/>
          <p:nvPr/>
        </p:nvSpPr>
        <p:spPr>
          <a:xfrm rot="-5400000">
            <a:off x="-2432050" y="3302000"/>
            <a:ext cx="5365750" cy="2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lang="en-US" sz="10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RESULTADOS ORGANIZACIONAIS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6" name="Google Shape;306;p27"/>
          <p:cNvSpPr txBox="1"/>
          <p:nvPr/>
        </p:nvSpPr>
        <p:spPr>
          <a:xfrm>
            <a:off x="900112" y="1759300"/>
            <a:ext cx="6418173" cy="46473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pt-BR" sz="2400" b="1" dirty="0"/>
              <a:t>Ronda escolar - Quantidade de escolas atendidas por ano</a:t>
            </a:r>
          </a:p>
          <a:p>
            <a:endParaRPr lang="pt-BR" sz="2400" b="1" dirty="0"/>
          </a:p>
          <a:p>
            <a:pPr algn="just"/>
            <a:r>
              <a:rPr lang="pt-BR" sz="2000" dirty="0"/>
              <a:t>A Ronda Escolar da 27º BPM de Luís Eduardo Magalhães é uma iniciativa da Polícia Militar focada na segurança e na promoção de um ambiente pacífico nas escolas locais. Por meio de patrulhamentos regulares, visitas e ações educativas, a equipe atua para prevenir a violência, orientar sobre o combate ao bullying e ao uso de drogas e fortalecer o vínculo entre a polícia, estudantes, professores e familiares. </a:t>
            </a:r>
            <a:endParaRPr lang="pt-BR" sz="2400" dirty="0"/>
          </a:p>
          <a:p>
            <a:endParaRPr lang="pt-BR" sz="2400" dirty="0"/>
          </a:p>
          <a:p>
            <a:endParaRPr lang="pt-BR" sz="4000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5593294B-8717-8B54-CCB8-ADE33F1578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4133" y="1112005"/>
            <a:ext cx="2978258" cy="52946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832017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27"/>
          <p:cNvSpPr/>
          <p:nvPr/>
        </p:nvSpPr>
        <p:spPr>
          <a:xfrm>
            <a:off x="0" y="0"/>
            <a:ext cx="501353" cy="6858000"/>
          </a:xfrm>
          <a:prstGeom prst="rect">
            <a:avLst/>
          </a:prstGeom>
          <a:gradFill>
            <a:gsLst>
              <a:gs pos="0">
                <a:schemeClr val="dk1"/>
              </a:gs>
              <a:gs pos="11000">
                <a:schemeClr val="dk1"/>
              </a:gs>
              <a:gs pos="38000">
                <a:srgbClr val="A57C00"/>
              </a:gs>
              <a:gs pos="69000">
                <a:srgbClr val="BF9000"/>
              </a:gs>
              <a:gs pos="90000">
                <a:schemeClr val="accent4"/>
              </a:gs>
              <a:gs pos="100000">
                <a:schemeClr val="accent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27"/>
          <p:cNvSpPr txBox="1"/>
          <p:nvPr/>
        </p:nvSpPr>
        <p:spPr>
          <a:xfrm>
            <a:off x="900112" y="605438"/>
            <a:ext cx="8693150" cy="5222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800"/>
              <a:buFont typeface="Arial Black"/>
              <a:buNone/>
            </a:pPr>
            <a:r>
              <a:rPr lang="pt-BR" sz="2800" dirty="0">
                <a:solidFill>
                  <a:srgbClr val="595959"/>
                </a:solidFill>
                <a:latin typeface="Arial Black"/>
                <a:ea typeface="Arial Black"/>
                <a:cs typeface="Arial Black"/>
                <a:sym typeface="Arial Black"/>
              </a:rPr>
              <a:t>Resultado relativo a clientes e mercados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5" name="Google Shape;305;p27"/>
          <p:cNvSpPr txBox="1"/>
          <p:nvPr/>
        </p:nvSpPr>
        <p:spPr>
          <a:xfrm rot="-5400000">
            <a:off x="-2432050" y="3302000"/>
            <a:ext cx="5365750" cy="2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lang="en-US" sz="10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RESULTADOS ORGANIZACIONAIS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6" name="Google Shape;306;p27"/>
          <p:cNvSpPr txBox="1"/>
          <p:nvPr/>
        </p:nvSpPr>
        <p:spPr>
          <a:xfrm>
            <a:off x="900112" y="1722230"/>
            <a:ext cx="6418173" cy="46473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pt-BR" sz="2400" b="1" dirty="0"/>
              <a:t>Ronda escolar - Quantidade de escolas atendidas por ano</a:t>
            </a:r>
          </a:p>
          <a:p>
            <a:endParaRPr lang="pt-BR" sz="2400" b="1" dirty="0"/>
          </a:p>
          <a:p>
            <a:pPr algn="just"/>
            <a:r>
              <a:rPr lang="pt-BR" sz="2000" dirty="0"/>
              <a:t>A Ronda Escolar da 27º BPM de Luís Eduardo Magalhães é uma iniciativa da Polícia Militar focada na segurança e na promoção de um ambiente pacífico nas escolas locais. Por meio de patrulhamentos regulares, visitas e ações educativas, a equipe atua para prevenir a violência, orientar sobre o combate ao bullying e ao uso de drogas e fortalecer o vínculo entre a polícia, estudantes, professores e familiares. </a:t>
            </a:r>
            <a:endParaRPr lang="pt-BR" sz="2400" dirty="0"/>
          </a:p>
          <a:p>
            <a:endParaRPr lang="pt-BR" sz="2400" dirty="0"/>
          </a:p>
          <a:p>
            <a:r>
              <a:rPr b="1"/>
              <a:t> Em 2026 já são mais de 500 escolas atendidas (947 registros de visitas no formulário de controle).</a:t>
            </a:r>
            <a:endParaRPr lang="pt-BR" sz="4000" dirty="0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F9E4A5EA-907F-FC9E-0605-46DC078FBF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8815" y="1127725"/>
            <a:ext cx="2440482" cy="5432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954563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27"/>
          <p:cNvSpPr/>
          <p:nvPr/>
        </p:nvSpPr>
        <p:spPr>
          <a:xfrm>
            <a:off x="0" y="0"/>
            <a:ext cx="501353" cy="6858000"/>
          </a:xfrm>
          <a:prstGeom prst="rect">
            <a:avLst/>
          </a:prstGeom>
          <a:gradFill>
            <a:gsLst>
              <a:gs pos="0">
                <a:schemeClr val="dk1"/>
              </a:gs>
              <a:gs pos="11000">
                <a:schemeClr val="dk1"/>
              </a:gs>
              <a:gs pos="38000">
                <a:srgbClr val="A57C00"/>
              </a:gs>
              <a:gs pos="69000">
                <a:srgbClr val="BF9000"/>
              </a:gs>
              <a:gs pos="90000">
                <a:schemeClr val="accent4"/>
              </a:gs>
              <a:gs pos="100000">
                <a:schemeClr val="accent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27"/>
          <p:cNvSpPr txBox="1"/>
          <p:nvPr/>
        </p:nvSpPr>
        <p:spPr>
          <a:xfrm>
            <a:off x="900112" y="605438"/>
            <a:ext cx="8693150" cy="5222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800"/>
              <a:buFont typeface="Arial Black"/>
              <a:buNone/>
            </a:pPr>
            <a:r>
              <a:rPr lang="pt-BR" sz="2800" dirty="0">
                <a:solidFill>
                  <a:srgbClr val="595959"/>
                </a:solidFill>
                <a:latin typeface="Arial Black"/>
                <a:ea typeface="Arial Black"/>
                <a:cs typeface="Arial Black"/>
                <a:sym typeface="Arial Black"/>
              </a:rPr>
              <a:t>Resultado relativo a clientes e mercados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5" name="Google Shape;305;p27"/>
          <p:cNvSpPr txBox="1"/>
          <p:nvPr/>
        </p:nvSpPr>
        <p:spPr>
          <a:xfrm rot="-5400000">
            <a:off x="-2432050" y="3302000"/>
            <a:ext cx="5365750" cy="2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lang="en-US" sz="10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RESULTADOS ORGANIZACIONAIS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6" name="Google Shape;306;p27"/>
          <p:cNvSpPr txBox="1"/>
          <p:nvPr/>
        </p:nvSpPr>
        <p:spPr>
          <a:xfrm>
            <a:off x="900112" y="1564931"/>
            <a:ext cx="4821066" cy="34778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pt-BR" sz="2200" b="1" dirty="0"/>
              <a:t>Quantidade de Punições no BPM/efetivo total:</a:t>
            </a:r>
          </a:p>
          <a:p>
            <a:endParaRPr lang="pt-BR" sz="2200" dirty="0"/>
          </a:p>
          <a:p>
            <a:pPr algn="just"/>
            <a:r>
              <a:rPr lang="pt-BR" sz="2200" dirty="0"/>
              <a:t> A 27º Batalhão de Polícia Militar (27º BPM) destaca-se pelo compromisso com a valorização e integridade de seus policiais, registrando elogios na ficha funcional dos que se destacam e incentivando a excelência no serviço prestado. 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44659E62-C2AD-2904-F462-467C907D34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564931"/>
            <a:ext cx="6083129" cy="39877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098972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27"/>
          <p:cNvSpPr/>
          <p:nvPr/>
        </p:nvSpPr>
        <p:spPr>
          <a:xfrm>
            <a:off x="0" y="0"/>
            <a:ext cx="501353" cy="6858000"/>
          </a:xfrm>
          <a:prstGeom prst="rect">
            <a:avLst/>
          </a:prstGeom>
          <a:gradFill>
            <a:gsLst>
              <a:gs pos="0">
                <a:schemeClr val="dk1"/>
              </a:gs>
              <a:gs pos="11000">
                <a:schemeClr val="dk1"/>
              </a:gs>
              <a:gs pos="38000">
                <a:srgbClr val="A57C00"/>
              </a:gs>
              <a:gs pos="69000">
                <a:srgbClr val="BF9000"/>
              </a:gs>
              <a:gs pos="90000">
                <a:schemeClr val="accent4"/>
              </a:gs>
              <a:gs pos="100000">
                <a:schemeClr val="accent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27"/>
          <p:cNvSpPr txBox="1"/>
          <p:nvPr/>
        </p:nvSpPr>
        <p:spPr>
          <a:xfrm>
            <a:off x="900112" y="605438"/>
            <a:ext cx="8693150" cy="5222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800"/>
              <a:buFont typeface="Arial Black"/>
              <a:buNone/>
            </a:pPr>
            <a:r>
              <a:rPr lang="pt-BR" sz="2800" dirty="0">
                <a:solidFill>
                  <a:srgbClr val="595959"/>
                </a:solidFill>
                <a:latin typeface="Arial Black"/>
                <a:ea typeface="Arial Black"/>
                <a:cs typeface="Arial Black"/>
                <a:sym typeface="Arial Black"/>
              </a:rPr>
              <a:t>Resultado relativo a clientes e mercados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5" name="Google Shape;305;p27"/>
          <p:cNvSpPr txBox="1"/>
          <p:nvPr/>
        </p:nvSpPr>
        <p:spPr>
          <a:xfrm rot="-5400000">
            <a:off x="-2432050" y="3302000"/>
            <a:ext cx="5365750" cy="2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lang="en-US" sz="10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RESULTADOS ORGANIZACIONAIS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6" name="Google Shape;306;p27"/>
          <p:cNvSpPr txBox="1"/>
          <p:nvPr/>
        </p:nvSpPr>
        <p:spPr>
          <a:xfrm>
            <a:off x="900112" y="1564931"/>
            <a:ext cx="10715239" cy="2462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pt-BR" sz="2200" b="1" dirty="0"/>
              <a:t>Quantidade de Punições no BPM/efetivo total:</a:t>
            </a:r>
          </a:p>
          <a:p>
            <a:endParaRPr lang="pt-BR" sz="2200" dirty="0"/>
          </a:p>
          <a:p>
            <a:pPr algn="just"/>
            <a:r>
              <a:rPr lang="pt-BR" sz="2200" dirty="0"/>
              <a:t> Paralelamente, a unidade adota uma postura rigorosa ao lidar com infrações, encaminhando-as à Corregedoria para assegurar a disciplina e o respeito às normas éticas e legais. Esse equilíbrio entre reconhecimento e correção reflete o compromisso da 27º BPM em manter uma corporação justa e responsável diante da comunidade.</a:t>
            </a:r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FC01B82F-C40E-0CFF-4810-94CD76F78D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7475" y="4235450"/>
            <a:ext cx="9983169" cy="2017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139728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27"/>
          <p:cNvSpPr/>
          <p:nvPr/>
        </p:nvSpPr>
        <p:spPr>
          <a:xfrm>
            <a:off x="0" y="0"/>
            <a:ext cx="501353" cy="6858000"/>
          </a:xfrm>
          <a:prstGeom prst="rect">
            <a:avLst/>
          </a:prstGeom>
          <a:gradFill>
            <a:gsLst>
              <a:gs pos="0">
                <a:schemeClr val="dk1"/>
              </a:gs>
              <a:gs pos="11000">
                <a:schemeClr val="dk1"/>
              </a:gs>
              <a:gs pos="38000">
                <a:srgbClr val="A57C00"/>
              </a:gs>
              <a:gs pos="69000">
                <a:srgbClr val="BF9000"/>
              </a:gs>
              <a:gs pos="90000">
                <a:schemeClr val="accent4"/>
              </a:gs>
              <a:gs pos="100000">
                <a:schemeClr val="accent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27"/>
          <p:cNvSpPr txBox="1"/>
          <p:nvPr/>
        </p:nvSpPr>
        <p:spPr>
          <a:xfrm>
            <a:off x="900112" y="605438"/>
            <a:ext cx="8693150" cy="5222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800"/>
              <a:buFont typeface="Arial Black"/>
              <a:buNone/>
            </a:pPr>
            <a:r>
              <a:rPr lang="pt-BR" sz="2800" dirty="0">
                <a:solidFill>
                  <a:srgbClr val="595959"/>
                </a:solidFill>
                <a:latin typeface="Arial Black"/>
                <a:ea typeface="Arial Black"/>
                <a:cs typeface="Arial Black"/>
                <a:sym typeface="Arial Black"/>
              </a:rPr>
              <a:t>Resultado relativo à sociedade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5" name="Google Shape;305;p27"/>
          <p:cNvSpPr txBox="1"/>
          <p:nvPr/>
        </p:nvSpPr>
        <p:spPr>
          <a:xfrm rot="-5400000">
            <a:off x="-2432050" y="3302000"/>
            <a:ext cx="5365750" cy="2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lang="en-US" sz="10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RESULTADOS ORGANIZACIONAIS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6" name="Google Shape;306;p27"/>
          <p:cNvSpPr txBox="1"/>
          <p:nvPr/>
        </p:nvSpPr>
        <p:spPr>
          <a:xfrm>
            <a:off x="896112" y="1554480"/>
            <a:ext cx="566928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just"/>
            <a:r>
              <a:rPr lang="pt-BR" sz="2200" dirty="0" b="1"/>
              <a:t>Redução de CVLI – jan a ago 2025 × 2026</a:t>
            </a:r>
          </a:p>
          <a:p>
            <a:pPr algn="just"/>
            <a:r>
              <a:rPr lang="pt-BR" sz="2200" dirty="0"/>
              <a:t>Comparando os oito primeiros meses, os CVLI caíram de 35 (2025) para 28 (2026), redução de 20%. Os homicídios estão majoritariamente ligados ao tráfico de drogas; a atuação integrada de CETO, SOINT e companhias resultou em prisões e apreensões relevantes (ex.: 9,7 kg de maconha em 25/08/2026).</a:t>
            </a:r>
          </a:p>
        </p:txBody>
      </p:sp>
      <p:graphicFrame>
        <p:nvGraphicFramePr>
          <p:cNvPr id="307" name="Table 306"/>
          <p:cNvGraphicFramePr>
            <a:graphicFrameLocks noGrp="1"/>
          </p:cNvGraphicFramePr>
          <p:nvPr/>
        </p:nvGraphicFramePr>
        <p:xfrm>
          <a:off x="6949440" y="1737360"/>
          <a:ext cx="43891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188720"/>
                <a:gridCol w="118872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CVLI</a:t>
                      </a:r>
                    </a:p>
                  </a:txBody>
                  <a:tcPr marT="27432" marB="27432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2025</a:t>
                      </a:r>
                    </a:p>
                  </a:txBody>
                  <a:tcPr marT="27432" marB="27432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2026</a:t>
                      </a:r>
                    </a:p>
                  </a:txBody>
                  <a:tcPr marT="27432" marB="27432">
                    <a:solidFill>
                      <a:srgbClr val="1F386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  <a:latin typeface="Arial"/>
                        </a:rPr>
                        <a:t>LEM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  <a:latin typeface="Arial"/>
                        </a:rPr>
                        <a:t>São Desidério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  <a:latin typeface="Arial"/>
                        </a:rPr>
                        <a:t>Roda Velha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  <a:latin typeface="Arial"/>
                        </a:rPr>
                        <a:t>Sítio Grande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T="27432" marB="27432"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00000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T="27432" marB="27432"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00000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T="27432" marB="27432">
                    <a:solidFill>
                      <a:srgbClr val="D9E2F3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9139728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27"/>
          <p:cNvSpPr/>
          <p:nvPr/>
        </p:nvSpPr>
        <p:spPr>
          <a:xfrm>
            <a:off x="0" y="0"/>
            <a:ext cx="501353" cy="6858000"/>
          </a:xfrm>
          <a:prstGeom prst="rect">
            <a:avLst/>
          </a:prstGeom>
          <a:gradFill>
            <a:gsLst>
              <a:gs pos="0">
                <a:schemeClr val="dk1"/>
              </a:gs>
              <a:gs pos="11000">
                <a:schemeClr val="dk1"/>
              </a:gs>
              <a:gs pos="38000">
                <a:srgbClr val="A57C00"/>
              </a:gs>
              <a:gs pos="69000">
                <a:srgbClr val="BF9000"/>
              </a:gs>
              <a:gs pos="90000">
                <a:schemeClr val="accent4"/>
              </a:gs>
              <a:gs pos="100000">
                <a:schemeClr val="accent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27"/>
          <p:cNvSpPr txBox="1"/>
          <p:nvPr/>
        </p:nvSpPr>
        <p:spPr>
          <a:xfrm>
            <a:off x="900112" y="605438"/>
            <a:ext cx="8693150" cy="5222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800"/>
              <a:buFont typeface="Arial Black"/>
              <a:buNone/>
            </a:pPr>
            <a:r>
              <a:rPr lang="pt-BR" sz="2800" dirty="0">
                <a:solidFill>
                  <a:srgbClr val="595959"/>
                </a:solidFill>
                <a:latin typeface="Arial Black"/>
                <a:ea typeface="Arial Black"/>
                <a:cs typeface="Arial Black"/>
                <a:sym typeface="Arial Black"/>
              </a:rPr>
              <a:t>Resultado relativo às pessoas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5" name="Google Shape;305;p27"/>
          <p:cNvSpPr txBox="1"/>
          <p:nvPr/>
        </p:nvSpPr>
        <p:spPr>
          <a:xfrm rot="-5400000">
            <a:off x="-2432050" y="3302000"/>
            <a:ext cx="5365750" cy="2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lang="en-US" sz="10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RESULTADOS ORGANIZACIONAIS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6" name="Google Shape;306;p27"/>
          <p:cNvSpPr txBox="1"/>
          <p:nvPr/>
        </p:nvSpPr>
        <p:spPr>
          <a:xfrm>
            <a:off x="896112" y="1554480"/>
            <a:ext cx="566928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just"/>
            <a:r>
              <a:rPr lang="pt-BR" sz="2200" dirty="0" b="1"/>
              <a:t>Corregedoria Setorial – feitos e elogios</a:t>
            </a:r>
          </a:p>
          <a:p>
            <a:pPr algn="just"/>
            <a:r>
              <a:rPr lang="pt-BR" sz="2200" dirty="0"/>
              <a:t>O 27º BPM equilibra o reconhecimento — com elogios registrados na ficha funcional — e a apuração rigorosa de desvios. Em 2026 houve queda nos feitos investigatórios instaurados em relação a 2025.</a:t>
            </a:r>
          </a:p>
        </p:txBody>
      </p:sp>
      <p:graphicFrame>
        <p:nvGraphicFramePr>
          <p:cNvPr id="307" name="Table 306"/>
          <p:cNvGraphicFramePr>
            <a:graphicFrameLocks noGrp="1"/>
          </p:cNvGraphicFramePr>
          <p:nvPr/>
        </p:nvGraphicFramePr>
        <p:xfrm>
          <a:off x="6949440" y="1737360"/>
          <a:ext cx="438912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005840"/>
                <a:gridCol w="100584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Indicador</a:t>
                      </a:r>
                    </a:p>
                  </a:txBody>
                  <a:tcPr marT="27432" marB="27432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2025</a:t>
                      </a:r>
                    </a:p>
                  </a:txBody>
                  <a:tcPr marT="27432" marB="27432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2026</a:t>
                      </a:r>
                    </a:p>
                  </a:txBody>
                  <a:tcPr marT="27432" marB="27432">
                    <a:solidFill>
                      <a:srgbClr val="1F386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  <a:latin typeface="Arial"/>
                        </a:rPr>
                        <a:t>Feitos investigatórios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  <a:latin typeface="Arial"/>
                        </a:rPr>
                        <a:t>  Sindicâncias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  <a:latin typeface="Arial"/>
                        </a:rPr>
                        <a:t>  PDS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  <a:latin typeface="Arial"/>
                        </a:rPr>
                        <a:t>  IPM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  <a:latin typeface="Arial"/>
                        </a:rPr>
                        <a:t>Soluções (total)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  <a:latin typeface="Arial"/>
                        </a:rPr>
                        <a:t>Elogios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9139728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28"/>
          <p:cNvSpPr txBox="1"/>
          <p:nvPr/>
        </p:nvSpPr>
        <p:spPr>
          <a:xfrm>
            <a:off x="3508375" y="3892550"/>
            <a:ext cx="5326062" cy="369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1800"/>
              <a:buFont typeface="Arial"/>
              <a:buNone/>
            </a:pPr>
            <a:r>
              <a:rPr lang="en-US" sz="1800" b="1" i="0" u="none" strike="noStrike" cap="none">
                <a:solidFill>
                  <a:srgbClr val="F2F2F2"/>
                </a:solidFill>
                <a:latin typeface="Arial"/>
                <a:ea typeface="Arial"/>
                <a:cs typeface="Arial"/>
                <a:sym typeface="Arial"/>
              </a:rPr>
              <a:t>PMBA, UMA FORÇA A SERVIÇO DO CIDADÃO!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14" name="Google Shape;314;p2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00675" y="2322512"/>
            <a:ext cx="1541462" cy="1447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1_Tema do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4_Tema do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59</TotalTime>
  <Words>2957</Words>
  <Application>Microsoft Office PowerPoint</Application>
  <PresentationFormat>Widescreen</PresentationFormat>
  <Paragraphs>416</Paragraphs>
  <Slides>34</Slides>
  <Notes>34</Notes>
  <HiddenSlides>1</HiddenSlides>
  <MMClips>0</MMClips>
  <ScaleCrop>false</ScaleCrop>
  <HeadingPairs>
    <vt:vector size="8" baseType="variant">
      <vt:variant>
        <vt:lpstr>Fontes usadas</vt:lpstr>
      </vt:variant>
      <vt:variant>
        <vt:i4>6</vt:i4>
      </vt:variant>
      <vt:variant>
        <vt:lpstr>Tema</vt:lpstr>
      </vt:variant>
      <vt:variant>
        <vt:i4>2</vt:i4>
      </vt:variant>
      <vt:variant>
        <vt:lpstr>Servidores OLE inseridos</vt:lpstr>
      </vt:variant>
      <vt:variant>
        <vt:i4>1</vt:i4>
      </vt:variant>
      <vt:variant>
        <vt:lpstr>Títulos de slides</vt:lpstr>
      </vt:variant>
      <vt:variant>
        <vt:i4>34</vt:i4>
      </vt:variant>
    </vt:vector>
  </HeadingPairs>
  <TitlesOfParts>
    <vt:vector size="43" baseType="lpstr">
      <vt:lpstr>Arial</vt:lpstr>
      <vt:lpstr>Times New Roman</vt:lpstr>
      <vt:lpstr>Arial Black</vt:lpstr>
      <vt:lpstr>Noto Sans Symbols</vt:lpstr>
      <vt:lpstr>Calibri</vt:lpstr>
      <vt:lpstr>Open Sans Light</vt:lpstr>
      <vt:lpstr>1_Tema do Office</vt:lpstr>
      <vt:lpstr>4_Tema do Office</vt:lpstr>
      <vt:lpstr>Gráfico do Microsoft Excel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User</dc:creator>
  <cp:lastModifiedBy>User</cp:lastModifiedBy>
  <cp:revision>4</cp:revision>
  <dcterms:created xsi:type="dcterms:W3CDTF">2023-07-10T20:56:32Z</dcterms:created>
  <dcterms:modified xsi:type="dcterms:W3CDTF">2024-11-06T12:12:51Z</dcterms:modified>
</cp:coreProperties>
</file>