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drawings/vmlDrawing1.vml" ContentType="application/vnd.openxmlformats-officedocument.vmlDrawing"/>
  <Override PartName="/ppt/embeddings/oleObject1.bin" ContentType="application/vnd.openxmlformats-officedocument.oleObject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0" r:id="rId2"/>
  </p:sldMasterIdLst>
  <p:notesMasterIdLst>
    <p:notesMasterId r:id="rId37"/>
  </p:notesMasterIdLst>
  <p:sldIdLst>
    <p:sldId id="256" r:id="rId3"/>
    <p:sldId id="259" r:id="rId4"/>
    <p:sldId id="305" r:id="rId47"/>
    <p:sldId id="261" r:id="rId5"/>
    <p:sldId id="262" r:id="rId6"/>
    <p:sldId id="263" r:id="rId7"/>
    <p:sldId id="267" r:id="rId8"/>
    <p:sldId id="268" r:id="rId9"/>
    <p:sldId id="266" r:id="rId10"/>
    <p:sldId id="265" r:id="rId11"/>
    <p:sldId id="270" r:id="rId12"/>
    <p:sldId id="272" r:id="rId13"/>
    <p:sldId id="274" r:id="rId14"/>
    <p:sldId id="275" r:id="rId15"/>
    <p:sldId id="276" r:id="rId16"/>
    <p:sldId id="277" r:id="rId17"/>
    <p:sldId id="278" r:id="rId18"/>
    <p:sldId id="279" r:id="rId19"/>
    <p:sldId id="280" r:id="rId20"/>
    <p:sldId id="281" r:id="rId21"/>
    <p:sldId id="302" r:id="rId53"/>
    <p:sldId id="283" r:id="rId22"/>
    <p:sldId id="306" r:id="rId46"/>
    <p:sldId id="307" r:id="rId56"/>
    <p:sldId id="308" r:id="rId57"/>
    <p:sldId id="285" r:id="rId23"/>
    <p:sldId id="291" r:id="rId24"/>
    <p:sldId id="289" r:id="rId25"/>
    <p:sldId id="292" r:id="rId26"/>
    <p:sldId id="293" r:id="rId27"/>
    <p:sldId id="294" r:id="rId28"/>
    <p:sldId id="295" r:id="rId29"/>
    <p:sldId id="300" r:id="rId30"/>
    <p:sldId id="287" r:id="rId31"/>
    <p:sldId id="296" r:id="rId32"/>
    <p:sldId id="301" r:id="rId33"/>
    <p:sldId id="298" r:id="rId34"/>
    <p:sldId id="299" r:id="rId35"/>
    <p:sldId id="309" r:id="rId58"/>
    <p:sldId id="310" r:id="rId59"/>
    <p:sldId id="311" r:id="rId60"/>
    <p:sldId id="312" r:id="rId61"/>
    <p:sldId id="313" r:id="rId62"/>
    <p:sldId id="304" r:id="rId55"/>
    <p:sldId id="303" r:id="rId54"/>
    <p:sldId id="288" r:id="rId36"/>
  </p:sldIdLst>
  <p:sldSz cx="12192000" cy="6858000"/>
  <p:notesSz cx="6858000" cy="9144000"/>
  <p:embeddedFontLst>
    <p:embeddedFont>
      <p:font typeface="Arial Black" panose="020B0A04020102020204" pitchFamily="34" charset="0"/>
      <p:regular r:id="rId38"/>
      <p:bold r:id="rId39"/>
    </p:embeddedFont>
    <p:embeddedFont>
      <p:font typeface="Noto Sans Symbols" panose="020B0604020202020204" charset="0"/>
      <p:regular r:id="rId40"/>
      <p:bold r:id="rId41"/>
    </p:embeddedFont>
    <p:embeddedFont>
      <p:font typeface="Calibri" panose="020F0502020204030204" pitchFamily="34" charset="0"/>
      <p:regular r:id="rId42"/>
      <p:bold r:id="rId43"/>
      <p:italic r:id="rId44"/>
      <p:boldItalic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8" roundtripDataSignature="AMtx7mjaVc6GtNneqVRT0ozU0M4PYHXsX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4FE9848-5764-4357-93EA-F29908C79110}">
  <a:tblStyle styleId="{64FE9848-5764-4357-93EA-F29908C7911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708FC971-03AA-4B06-821C-AEFA27575B0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756" y="6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7.xml"/><Relationship Id="rId37" Type="http://schemas.openxmlformats.org/officeDocument/2006/relationships/notesMaster" Target="notesMasters/notesMaster1.xml"/><Relationship Id="rId38" Type="http://schemas.openxmlformats.org/officeDocument/2006/relationships/font" Target="fonts/font1.fntdata"/><Relationship Id="rId39" Type="http://schemas.openxmlformats.org/officeDocument/2006/relationships/font" Target="fonts/font2.fntdata"/><Relationship Id="rId40" Type="http://schemas.openxmlformats.org/officeDocument/2006/relationships/font" Target="fonts/font3.fntdata"/><Relationship Id="rId41" Type="http://schemas.openxmlformats.org/officeDocument/2006/relationships/font" Target="fonts/font4.fntdata"/><Relationship Id="rId42" Type="http://schemas.openxmlformats.org/officeDocument/2006/relationships/font" Target="fonts/font5.fntdata"/><Relationship Id="rId43" Type="http://schemas.openxmlformats.org/officeDocument/2006/relationships/font" Target="fonts/font6.fntdata"/><Relationship Id="rId44" Type="http://schemas.openxmlformats.org/officeDocument/2006/relationships/font" Target="fonts/font7.fntdata"/><Relationship Id="rId45" Type="http://schemas.openxmlformats.org/officeDocument/2006/relationships/font" Target="fonts/font8.fntdata"/><Relationship Id="rId46" Type="http://schemas.openxmlformats.org/officeDocument/2006/relationships/slide" Target="slides/slide39.xml"/><Relationship Id="rId47" Type="http://schemas.openxmlformats.org/officeDocument/2006/relationships/slide" Target="slides/slide38.xml"/><Relationship Id="rId48" Type="http://customschemas.google.com/relationships/presentationmetadata" Target="metadata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Relationship Id="rId53" Type="http://schemas.openxmlformats.org/officeDocument/2006/relationships/slide" Target="slides/slide20.xml"/><Relationship Id="rId54" Type="http://schemas.openxmlformats.org/officeDocument/2006/relationships/slide" Target="slides/slide36.xml"/><Relationship Id="rId55" Type="http://schemas.openxmlformats.org/officeDocument/2006/relationships/slide" Target="slides/slide35.xml"/><Relationship Id="rId56" Type="http://schemas.openxmlformats.org/officeDocument/2006/relationships/slide" Target="slides/slide40.xml"/><Relationship Id="rId57" Type="http://schemas.openxmlformats.org/officeDocument/2006/relationships/slide" Target="slides/slide41.xml"/><Relationship Id="rId58" Type="http://schemas.openxmlformats.org/officeDocument/2006/relationships/slide" Target="slides/slide42.xml"/><Relationship Id="rId59" Type="http://schemas.openxmlformats.org/officeDocument/2006/relationships/slide" Target="slides/slide43.xml"/><Relationship Id="rId60" Type="http://schemas.openxmlformats.org/officeDocument/2006/relationships/slide" Target="slides/slide44.xml"/><Relationship Id="rId61" Type="http://schemas.openxmlformats.org/officeDocument/2006/relationships/slide" Target="slides/slide45.xml"/><Relationship Id="rId62" Type="http://schemas.openxmlformats.org/officeDocument/2006/relationships/slide" Target="slides/slide4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1F3864"/>
            </a:solidFill>
          </c:spPr>
          <c:dPt>
            <c:idx val="2"/>
            <c:spPr>
              <a:solidFill>
                <a:srgbClr val="F2B705"/>
              </a:solidFill>
            </c:spPr>
          </c:dPt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91</c:v>
                </c:pt>
                <c:pt idx="1">
                  <c:v>99</c:v>
                </c:pt>
                <c:pt idx="2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kWh/PM</c:v>
                </c:pt>
              </c:strCache>
            </c:strRef>
          </c:tx>
          <c:spPr>
            <a:solidFill>
              <a:srgbClr val="1F3864"/>
            </a:solidFill>
          </c:spPr>
          <c:dPt>
            <c:idx val="2"/>
            <c:spPr>
              <a:solidFill>
                <a:srgbClr val="F2B705"/>
              </a:solidFill>
            </c:spPr>
          </c:dPt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605.43</c:v>
                </c:pt>
                <c:pt idx="1">
                  <c:v>541.28</c:v>
                </c:pt>
                <c:pt idx="2">
                  <c:v>396.54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1F3864"/>
            </a:solidFill>
          </c:spPr>
          <c:dPt>
            <c:idx val="2"/>
            <c:spPr>
              <a:solidFill>
                <a:srgbClr val="F2B705"/>
              </a:solidFill>
            </c:spPr>
          </c:dPt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1F3864"/>
            </a:solidFill>
          </c:spPr>
          <c:dPt>
            <c:idx val="2"/>
            <c:spPr>
              <a:solidFill>
                <a:srgbClr val="F2B705"/>
              </a:solidFill>
            </c:spPr>
          </c:dPt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1F3864"/>
            </a:solidFill>
          </c:spPr>
          <c:dPt>
            <c:idx val="2"/>
            <c:spPr>
              <a:solidFill>
                <a:srgbClr val="F2B705"/>
              </a:solidFill>
            </c:spPr>
          </c:dPt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80</c:v>
                </c:pt>
                <c:pt idx="2">
                  <c:v>90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1F3864"/>
            </a:solidFill>
          </c:spPr>
          <c:dPt>
            <c:idx val="2"/>
            <c:spPr>
              <a:solidFill>
                <a:srgbClr val="F2B705"/>
              </a:solidFill>
            </c:spPr>
          </c:dPt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1F3864"/>
            </a:solidFill>
          </c:spPr>
          <c:dPt>
            <c:idx val="2"/>
            <c:spPr>
              <a:solidFill>
                <a:srgbClr val="F2B705"/>
              </a:solidFill>
            </c:spPr>
          </c:dPt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50</c:v>
                </c:pt>
                <c:pt idx="2">
                  <c:v>60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1F3864"/>
            </a:solidFill>
          </c:spPr>
          <c:dPt>
            <c:idx val="2"/>
            <c:spPr>
              <a:solidFill>
                <a:srgbClr val="F2B705"/>
              </a:solidFill>
            </c:spPr>
          </c:dPt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60</c:v>
                </c:pt>
                <c:pt idx="2">
                  <c:v>80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1F3864"/>
            </a:solidFill>
          </c:spPr>
          <c:dPt>
            <c:idx val="2"/>
            <c:spPr>
              <a:solidFill>
                <a:srgbClr val="F2B705"/>
              </a:solidFill>
            </c:spPr>
          </c:dPt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80</c:v>
                </c:pt>
                <c:pt idx="2">
                  <c:v>90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2" y="0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2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2" y="8685212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" name="Google Shape;5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0" name="Google Shape;7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8" name="Google Shape;7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5" name="Google Shape;12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120ebcea37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7" name="Google Shape;137;g3120ebcea37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3" name="Google Shape;11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3" name="Google Shape;10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8" name="Google Shape;15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5" name="Google Shape;175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2" name="Google Shape;19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120ebcea37_2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0" name="Google Shape;200;g3120ebcea37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120ebcea37_2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8" name="Google Shape;208;g3120ebcea3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6" name="Google Shape;21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120ebcea37_2_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4" name="Google Shape;224;g3120ebcea37_2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32" name="Google Shape;232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120ebcea37_2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40" name="Google Shape;240;g3120ebcea37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48" name="Google Shape;248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5" name="Google Shape;265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2" name="Google Shape;282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2" name="Google Shape;282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424514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2" name="Google Shape;282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2983315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2" name="Google Shape;282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252803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2" name="Google Shape;282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090277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2" name="Google Shape;282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9709556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2" name="Google Shape;282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5028981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2" name="Google Shape;282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1363958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01" name="Google Shape;301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01" name="Google Shape;301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4612940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01" name="Google Shape;301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826848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01" name="Google Shape;301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747993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01" name="Google Shape;301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2039719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11" name="Google Shape;311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">
  <p:cSld name="Slide de Título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>
  <p:cSld name="Título e Conteúdo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jp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Relationship Id="rId3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7" name="Google Shape;17;p3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.v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Relationship Id="rId4" Type="http://schemas.openxmlformats.org/officeDocument/2006/relationships/oleObject" Target="../embeddings/oleObject1.bin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jpg"/><Relationship Id="rId4" Type="http://schemas.openxmlformats.org/officeDocument/2006/relationships/image" Target="../media/image1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5.jpe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6.jpe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7.jpe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8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18.jpe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18.jpe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"/>
          <p:cNvSpPr txBox="1"/>
          <p:nvPr/>
        </p:nvSpPr>
        <p:spPr>
          <a:xfrm>
            <a:off x="3011487" y="3490912"/>
            <a:ext cx="6319837" cy="64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2CC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FF2CC"/>
                </a:solidFill>
                <a:latin typeface="Arial"/>
                <a:ea typeface="Arial"/>
                <a:cs typeface="Arial"/>
                <a:sym typeface="Arial"/>
              </a:rPr>
              <a:t>PRÊMIO POLÍCIA MILITAR DE GESTÃO DA QUALIDADE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2CC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FF2CC"/>
                </a:solidFill>
                <a:latin typeface="Arial"/>
                <a:ea typeface="Arial"/>
                <a:cs typeface="Arial"/>
                <a:sym typeface="Arial"/>
              </a:rPr>
              <a:t>[__]ª Edição – Ano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2CC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FF2CC"/>
                </a:solidFill>
                <a:latin typeface="Arial"/>
                <a:ea typeface="Arial"/>
                <a:cs typeface="Arial"/>
                <a:sym typeface="Arial"/>
              </a:rPr>
              <a:t>27º BATALHÃO DE POLÍCIA MILITAR – LUÍS EDUARDO MAGALHÃES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 txBox="1"/>
          <p:nvPr/>
        </p:nvSpPr>
        <p:spPr>
          <a:xfrm>
            <a:off x="2566194" y="2140336"/>
            <a:ext cx="7059612" cy="708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lang="en-US" sz="4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POLÍCIA MILITAR DA BAHIA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" name="Google Shape;25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00674" y="549274"/>
            <a:ext cx="1541462" cy="1446212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1"/>
          <p:cNvSpPr txBox="1"/>
          <p:nvPr/>
        </p:nvSpPr>
        <p:spPr>
          <a:xfrm>
            <a:off x="4437062" y="5632450"/>
            <a:ext cx="3640137" cy="277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[NOME] – COMANDANTE-GERAL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Missão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5" name="Google Shape;55;p4"/>
          <p:cNvGraphicFramePr/>
          <p:nvPr/>
        </p:nvGraphicFramePr>
        <p:xfrm>
          <a:off x="1981200" y="1498600"/>
          <a:ext cx="8229600" cy="426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r:id="rId4" imgW="8229600" imgH="4267200" progId="Excel.Chart.8">
                  <p:embed/>
                </p:oleObj>
              </mc:Choice>
              <mc:Fallback>
                <p:oleObj r:id="rId4" imgW="8229600" imgH="4267200" progId="Excel.Chart.8">
                  <p:embed/>
                  <p:pic>
                    <p:nvPicPr>
                      <p:cNvPr id="55" name="Google Shape;55;p4"/>
                      <p:cNvPicPr preferRelativeResize="0"/>
                      <p:nvPr/>
                    </p:nvPicPr>
                    <p:blipFill rotWithShape="1">
                      <a:blip r:embed="rId5">
                        <a:alphaModFix/>
                      </a:blip>
                      <a:srcRect/>
                      <a:stretch/>
                    </p:blipFill>
                    <p:spPr>
                      <a:xfrm>
                        <a:off x="1981200" y="1498600"/>
                        <a:ext cx="8229600" cy="426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56" name="Google Shape;56;p4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MISSÃO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3341948" y="1002505"/>
            <a:ext cx="8311800" cy="21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/>
              <a:buNone/>
            </a:pPr>
            <a:r>
              <a:rPr lang="en-US" sz="2200" b="1" i="0" u="none" strike="noStrike" cap="none" dirty="0" err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Preservar a vida, a ordem pública e a cidadania.</a:t>
            </a:r>
            <a:endParaRPr sz="2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/>
              <a:buNone/>
            </a:pPr>
            <a:r>
              <a:rPr lang="en-US" sz="2200" b="0" i="0" u="none" strike="noStrike" cap="none" dirty="0" err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Missão institucional da PMBA (Lei nº 13.201/2014), executada pelo 27º BPM por meio de ações de polícia ostensiva nos municípios de Luís Eduardo Magalhães e São Desidério (distritos de Roda Velha e Sítio Grande).</a:t>
            </a:r>
            <a:endParaRPr sz="2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/>
              <a:buNone/>
            </a:pPr>
            <a:r>
              <a:rPr lang="en-US" sz="2200" b="0" i="0" u="none" strike="noStrike" cap="none" dirty="0" err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Visão: ser referência nacional até 2030, pela excelência na prestação dos serviços da polícia ostensiva e cidadã.</a:t>
            </a:r>
            <a:endParaRPr sz="2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" name="Google Shape;59;p4" descr="85 CIPM_brasão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77775" y="2579687"/>
            <a:ext cx="1760537" cy="2105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2" descr="FIGURA-1-Localizacao-da-Area-de-Estudo-em-Luis-Eduardo-Magalhaes-BA-Fonte-elaborado">
            <a:extLst>
              <a:ext uri="{FF2B5EF4-FFF2-40B4-BE49-F238E27FC236}">
                <a16:creationId xmlns:a16="http://schemas.microsoft.com/office/drawing/2014/main" id="{FB43B3AE-6FB0-B4DD-99DE-B2B72E4EB5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8800" y="3632200"/>
            <a:ext cx="2681214" cy="3036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3" descr="São Desidério_page-0001">
            <a:extLst>
              <a:ext uri="{FF2B5EF4-FFF2-40B4-BE49-F238E27FC236}">
                <a16:creationId xmlns:a16="http://schemas.microsoft.com/office/drawing/2014/main" id="{521E74F3-BF15-3305-0B2C-AF782FE328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3794" y="3712051"/>
            <a:ext cx="3887334" cy="2749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6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6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 dirty="0" err="1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Estrutura</a:t>
            </a:r>
            <a:r>
              <a:rPr lang="en-US" sz="2800" b="0" i="0" u="none" strike="noStrike" cap="none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 e </a:t>
            </a:r>
            <a:r>
              <a:rPr lang="en-US" sz="2800" b="0" i="0" u="none" strike="noStrike" cap="none" dirty="0" err="1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Efetivo</a:t>
            </a:r>
            <a:r>
              <a:rPr lang="en-US" sz="2800" b="0" i="0" u="none" strike="noStrike" cap="none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6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ESTRUTURA DE FUNCIONAMENTO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4709160" y="1371600"/>
            <a:ext cx="3017520" cy="54864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COMANDO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"/>
              </a:rPr>
              <a:t>Ten Cel PM Diz Pazos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709160" y="2148840"/>
            <a:ext cx="3017520" cy="45720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SUBCOMANDO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217920" y="1920240"/>
            <a:ext cx="0" cy="22860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6217920" y="2606040"/>
            <a:ext cx="0" cy="22860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737360" y="2834640"/>
            <a:ext cx="896112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737360" y="2834640"/>
            <a:ext cx="0" cy="18288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ounded Rectangle 80"/>
          <p:cNvSpPr/>
          <p:nvPr/>
        </p:nvSpPr>
        <p:spPr>
          <a:xfrm>
            <a:off x="868680" y="3017520"/>
            <a:ext cx="1737360" cy="86868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CPOI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"/>
              </a:rPr>
              <a:t>Cap PM Franciel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"/>
              </a:rPr>
              <a:t>SPOI: 1º Ten PM Nilton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931920" y="2834640"/>
            <a:ext cx="0" cy="18288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3063239" y="3017520"/>
            <a:ext cx="1737360" cy="86868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CAA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"/>
              </a:rPr>
              <a:t>Cap PM Leonardo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"/>
              </a:rPr>
              <a:t>SAA: Cap PM Silva Souza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6126480" y="2834640"/>
            <a:ext cx="0" cy="18288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/>
          <p:cNvSpPr/>
          <p:nvPr/>
        </p:nvSpPr>
        <p:spPr>
          <a:xfrm>
            <a:off x="5257800" y="3017520"/>
            <a:ext cx="1737360" cy="86868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PCSM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"/>
              </a:rPr>
              <a:t>Aprov. / Transp. / Almox.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8321039" y="2834640"/>
            <a:ext cx="0" cy="18288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7452359" y="3017520"/>
            <a:ext cx="1737360" cy="86868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SOINT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"/>
              </a:rPr>
              <a:t>Inteligência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10515599" y="2834640"/>
            <a:ext cx="0" cy="18288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9646919" y="3017520"/>
            <a:ext cx="1737360" cy="86868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CORREG. SETORIAL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"/>
              </a:rPr>
              <a:t>Feitos investigatórios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217920" y="3886200"/>
            <a:ext cx="0" cy="64008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737360" y="4526280"/>
            <a:ext cx="896112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737360" y="4526280"/>
            <a:ext cx="0" cy="18288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868680" y="4709160"/>
            <a:ext cx="1737360" cy="105156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1ª CIA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LEM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3931920" y="4526280"/>
            <a:ext cx="0" cy="18288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063239" y="4709160"/>
            <a:ext cx="1737360" cy="105156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2ª CIA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LEM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6126480" y="4526280"/>
            <a:ext cx="0" cy="18288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ounded Rectangle 96"/>
          <p:cNvSpPr/>
          <p:nvPr/>
        </p:nvSpPr>
        <p:spPr>
          <a:xfrm>
            <a:off x="5257800" y="4709160"/>
            <a:ext cx="1737360" cy="105156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3ª CIA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LEM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8321039" y="4526280"/>
            <a:ext cx="0" cy="18288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ounded Rectangle 98"/>
          <p:cNvSpPr/>
          <p:nvPr/>
        </p:nvSpPr>
        <p:spPr>
          <a:xfrm>
            <a:off x="7452359" y="4709160"/>
            <a:ext cx="1737360" cy="105156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CETO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Emprego tático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10515599" y="4526280"/>
            <a:ext cx="0" cy="18288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/>
          <p:cNvSpPr/>
          <p:nvPr/>
        </p:nvSpPr>
        <p:spPr>
          <a:xfrm>
            <a:off x="9646919" y="4709160"/>
            <a:ext cx="1737360" cy="105156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4ª CIA DESTACADA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São Desidério · Roda Velha · Sítio Grande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Cap PM Glauber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68680" y="5989320"/>
            <a:ext cx="10515600" cy="41148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Rondas especializadas: Ronda Escolar · Ronda Maria da Penha  |  Estrutura: Lei nº 14.962/2025 e Portaria nº 026-CG/2026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7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7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Estrutura e Efetivo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7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ESTRUTURA DE FUNCIONAMENTO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83" name="Table 82"/>
          <p:cNvGraphicFramePr>
            <a:graphicFrameLocks noGrp="1"/>
          </p:cNvGraphicFramePr>
          <p:nvPr/>
        </p:nvGraphicFramePr>
        <p:xfrm>
          <a:off x="1097280" y="1508760"/>
          <a:ext cx="65836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Posto/Graduação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Existente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Previsto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Claro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Ten Cel PM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Major PM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Cap PM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1º Ten PM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Sub Ten PM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1º Sgt PM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Cb PM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Sd 1ª Cl PM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T="27432" marB="27432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T="27432" marB="27432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T="27432" marB="27432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T="27432" marB="27432"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sp>
        <p:nvSpPr>
          <p:cNvPr id="84" name="Rounded Rectangle 83"/>
          <p:cNvSpPr/>
          <p:nvPr/>
        </p:nvSpPr>
        <p:spPr>
          <a:xfrm>
            <a:off x="8138160" y="1508760"/>
            <a:ext cx="3291840" cy="146304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49,7%</a:t>
            </a:r>
          </a:p>
          <a:p>
            <a:pPr algn="ctr"/>
            <a:r>
              <a:rPr sz="2100" b="0">
                <a:solidFill>
                  <a:srgbClr val="FFFFFF"/>
                </a:solidFill>
                <a:latin typeface="Arial"/>
              </a:rPr>
              <a:t>do efetivo previsto preenchido (149 de 300)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138160" y="3200400"/>
            <a:ext cx="3291840" cy="210312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Efetivo agregado (controle)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Al Of PM Albuquerque – APM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Sd PM Duarte – BPChq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Sd PM Pacheco – apresentado ao CPR-O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8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8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Estrutura e Meios Materiais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8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ESTRUTURA DE FUNCIONAMENTO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91" name="Table 90"/>
          <p:cNvGraphicFramePr>
            <a:graphicFrameLocks noGrp="1"/>
          </p:cNvGraphicFramePr>
          <p:nvPr/>
        </p:nvGraphicFramePr>
        <p:xfrm>
          <a:off x="1097280" y="1600200"/>
          <a:ext cx="10332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463040"/>
                <a:gridCol w="621792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Recurso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Quantidade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Observação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Viaturas 4 rodas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PMBA 7 · CSBR 6 · PMSD 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Viaturas 2 rodas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Sede 5 · São Desidério 3 · Roda Velha 2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Armamento portátil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Fuzis ARAD 7, ARAD 5, IA2, SMT, espingarda, carabinas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Armamento de porte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PT 100, Glock G22/G23, revólveres .38, 3 TASER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Coletes balísticos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136 em carga pessoal · 16 em uso · 4 inservíveis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" name="Rounded Rectangle 91"/>
          <p:cNvSpPr/>
          <p:nvPr/>
        </p:nvSpPr>
        <p:spPr>
          <a:xfrm>
            <a:off x="1097280" y="4937760"/>
            <a:ext cx="10332720" cy="82296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Arial"/>
              </a:rPr>
              <a:t>Sede: Rua Xique-xique, nº 530, Loteamento Santa Cruz fase 1 – Luís Eduardo Magalhães/BA · (77) 9 9866-1567 · bpm27.cmd@pm.ba.gov.br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46150" y="4051300"/>
            <a:ext cx="2825750" cy="280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2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2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Portfólio de Serviços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2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PORTFÓLIO DE SERVIÇOS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2"/>
          <p:cNvSpPr txBox="1"/>
          <p:nvPr/>
        </p:nvSpPr>
        <p:spPr>
          <a:xfrm>
            <a:off x="946150" y="5691187"/>
            <a:ext cx="2825750" cy="1177925"/>
          </a:xfrm>
          <a:prstGeom prst="rect">
            <a:avLst/>
          </a:prstGeom>
          <a:gradFill>
            <a:gsLst>
              <a:gs pos="0">
                <a:srgbClr val="F6F8FC"/>
              </a:gs>
              <a:gs pos="74000">
                <a:srgbClr val="D9D9D9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2" name="Google Shape;132;p1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6150" y="1412875"/>
            <a:ext cx="2841625" cy="280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2"/>
          <p:cNvSpPr txBox="1"/>
          <p:nvPr/>
        </p:nvSpPr>
        <p:spPr>
          <a:xfrm>
            <a:off x="962025" y="3070225"/>
            <a:ext cx="2825750" cy="1179512"/>
          </a:xfrm>
          <a:prstGeom prst="rect">
            <a:avLst/>
          </a:prstGeom>
          <a:gradFill>
            <a:gsLst>
              <a:gs pos="0">
                <a:srgbClr val="F6F8FC"/>
              </a:gs>
              <a:gs pos="74000">
                <a:srgbClr val="D9D9D9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2"/>
          <p:cNvSpPr txBox="1"/>
          <p:nvPr/>
        </p:nvSpPr>
        <p:spPr>
          <a:xfrm>
            <a:off x="4232575" y="2136125"/>
            <a:ext cx="7070700" cy="2677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lang="en-US" sz="2400" b="1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Policiamento</a:t>
            </a:r>
            <a:r>
              <a:rPr lang="en-US" sz="2400" b="1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1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Ostensivo</a:t>
            </a:r>
            <a:r>
              <a:rPr lang="en-US" sz="2400" b="1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1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Geral</a:t>
            </a:r>
            <a:r>
              <a:rPr lang="en-US" sz="2400" b="1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–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desenvolvido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exclusivamente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pela PMBA,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objetiva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satisfazer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as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necessidades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básicas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comunidade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através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do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emprego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do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homem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ou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fração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tropa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engajados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visualmente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identificáveis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quer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pela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farda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quer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pelo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equipamento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ou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viatura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objetivando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a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manutenção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ordem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pública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. </a:t>
            </a:r>
            <a:endParaRPr sz="2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Google Shape;139;g3120ebcea37_0_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46150" y="4051300"/>
            <a:ext cx="2825751" cy="280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g3120ebcea37_0_1"/>
          <p:cNvSpPr/>
          <p:nvPr/>
        </p:nvSpPr>
        <p:spPr>
          <a:xfrm>
            <a:off x="0" y="0"/>
            <a:ext cx="501300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g3120ebcea37_0_1"/>
          <p:cNvSpPr txBox="1"/>
          <p:nvPr/>
        </p:nvSpPr>
        <p:spPr>
          <a:xfrm>
            <a:off x="900112" y="741362"/>
            <a:ext cx="86931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Portfólio de Serviços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g3120ebcea37_0_1"/>
          <p:cNvSpPr txBox="1"/>
          <p:nvPr/>
        </p:nvSpPr>
        <p:spPr>
          <a:xfrm rot="-5400000">
            <a:off x="-2435925" y="3305825"/>
            <a:ext cx="53658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PORTFÓLIO DE SERVIÇOS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g3120ebcea37_0_1"/>
          <p:cNvSpPr txBox="1"/>
          <p:nvPr/>
        </p:nvSpPr>
        <p:spPr>
          <a:xfrm>
            <a:off x="946150" y="5691187"/>
            <a:ext cx="2825700" cy="1177800"/>
          </a:xfrm>
          <a:prstGeom prst="rect">
            <a:avLst/>
          </a:prstGeom>
          <a:gradFill>
            <a:gsLst>
              <a:gs pos="0">
                <a:srgbClr val="F6F8FC"/>
              </a:gs>
              <a:gs pos="74000">
                <a:srgbClr val="D9D9D9"/>
              </a:gs>
              <a:gs pos="100000">
                <a:srgbClr val="BFBFBF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4" name="Google Shape;144;g3120ebcea37_0_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6150" y="1412875"/>
            <a:ext cx="2841626" cy="2806699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g3120ebcea37_0_1"/>
          <p:cNvSpPr txBox="1"/>
          <p:nvPr/>
        </p:nvSpPr>
        <p:spPr>
          <a:xfrm>
            <a:off x="962025" y="3070225"/>
            <a:ext cx="2825700" cy="1179600"/>
          </a:xfrm>
          <a:prstGeom prst="rect">
            <a:avLst/>
          </a:prstGeom>
          <a:gradFill>
            <a:gsLst>
              <a:gs pos="0">
                <a:srgbClr val="F6F8FC"/>
              </a:gs>
              <a:gs pos="74000">
                <a:srgbClr val="D9D9D9"/>
              </a:gs>
              <a:gs pos="100000">
                <a:srgbClr val="BFBFBF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g3120ebcea37_0_1"/>
          <p:cNvSpPr txBox="1"/>
          <p:nvPr/>
        </p:nvSpPr>
        <p:spPr>
          <a:xfrm>
            <a:off x="4487125" y="1412875"/>
            <a:ext cx="7070700" cy="52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lang="en-US" sz="2400" b="1" i="0" u="none" strike="noStrike" cap="none" dirty="0" err="1">
                <a:solidFill>
                  <a:srgbClr val="000000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Policiamento</a:t>
            </a:r>
            <a:r>
              <a:rPr lang="en-US" sz="2400" b="1" i="0" u="none" strike="noStrike" cap="none" dirty="0">
                <a:solidFill>
                  <a:srgbClr val="000000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1" i="0" u="none" strike="noStrike" cap="none" dirty="0" err="1">
                <a:solidFill>
                  <a:srgbClr val="000000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Ostensivo</a:t>
            </a:r>
            <a:r>
              <a:rPr lang="en-US" sz="2400" b="1" i="0" u="none" strike="noStrike" cap="none" dirty="0">
                <a:solidFill>
                  <a:srgbClr val="000000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1" i="0" u="none" strike="noStrike" cap="none" dirty="0" err="1">
                <a:solidFill>
                  <a:srgbClr val="000000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Geral</a:t>
            </a:r>
            <a:r>
              <a:rPr lang="en-US" sz="2400" b="1" i="0" u="none" strike="noStrike" cap="none" dirty="0">
                <a:solidFill>
                  <a:srgbClr val="000000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– 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Unidade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emprega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diuturnamente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veículos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quatro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(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carro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) 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duas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rodas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(moto) para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atendimentos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às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demandas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ocorrências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policiais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oriundas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da central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operações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ou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para 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realização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ações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policiamento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ostensivo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preventivo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mediante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Ordem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Policiamento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Ostensiva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previamente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emitida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.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Pode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ainda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atender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à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solicitação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direta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da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população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neste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caso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deve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ser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informada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à central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operações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. 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mesma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descrição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aplica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-se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ao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Policiamento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Ostensivo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à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Pé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apenas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não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utilização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veículo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.</a:t>
            </a:r>
            <a:endParaRPr sz="24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905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</a:pPr>
            <a:endParaRPr sz="2400" b="0" i="0" u="none" strike="noStrike" cap="none" dirty="0">
              <a:solidFill>
                <a:srgbClr val="00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1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1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Portfólio de Serviços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11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PORTFÓLIO DE SERVIÇOS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11"/>
          <p:cNvSpPr txBox="1"/>
          <p:nvPr/>
        </p:nvSpPr>
        <p:spPr>
          <a:xfrm>
            <a:off x="660499" y="1858950"/>
            <a:ext cx="6162600" cy="4093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lang="en-US" sz="2000" b="1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 </a:t>
            </a:r>
            <a:r>
              <a:rPr lang="en-US" sz="2000" b="1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Policiamento</a:t>
            </a:r>
            <a:r>
              <a:rPr lang="en-US" sz="2000" b="1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1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Comunitário</a:t>
            </a:r>
            <a:r>
              <a:rPr lang="en-US" sz="2000" b="1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ocorre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através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visitas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diárias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estabelecimentos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comerciais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escolas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onde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é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feita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a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aproximação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PM com a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comunidade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assim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como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é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feita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a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inclusão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destes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no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processo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resolução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dos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problemas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violência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segurança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.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Também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realizado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através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visitas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realizadas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na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zona rural,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nos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finais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semana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onde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propriedades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rurais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residências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são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percorridas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fazendo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também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um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trabalho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aproximação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principalmente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pelo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fato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a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polícia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não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estar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presente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todos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dias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nas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referidas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localidades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virtude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falta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efetivo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suficiente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.</a:t>
            </a:r>
            <a:endParaRPr sz="20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11"/>
          <p:cNvPicPr preferRelativeResize="0"/>
          <p:nvPr/>
        </p:nvPicPr>
        <p:blipFill rotWithShape="1">
          <a:blip r:embed="rId3">
            <a:alphaModFix/>
          </a:blip>
          <a:srcRect t="1912" b="19567"/>
          <a:stretch/>
        </p:blipFill>
        <p:spPr>
          <a:xfrm>
            <a:off x="7743825" y="0"/>
            <a:ext cx="3903662" cy="370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1"/>
          <p:cNvPicPr preferRelativeResize="0"/>
          <p:nvPr/>
        </p:nvPicPr>
        <p:blipFill rotWithShape="1">
          <a:blip r:embed="rId4">
            <a:alphaModFix/>
          </a:blip>
          <a:srcRect t="14216" b="15057"/>
          <a:stretch/>
        </p:blipFill>
        <p:spPr>
          <a:xfrm>
            <a:off x="7743825" y="3708400"/>
            <a:ext cx="3903662" cy="314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1"/>
          <p:cNvSpPr txBox="1"/>
          <p:nvPr/>
        </p:nvSpPr>
        <p:spPr>
          <a:xfrm>
            <a:off x="7743825" y="2528887"/>
            <a:ext cx="3903662" cy="1179512"/>
          </a:xfrm>
          <a:prstGeom prst="rect">
            <a:avLst/>
          </a:prstGeom>
          <a:gradFill>
            <a:gsLst>
              <a:gs pos="0">
                <a:srgbClr val="F6F8FC"/>
              </a:gs>
              <a:gs pos="74000">
                <a:srgbClr val="D9D9D9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1"/>
          <p:cNvSpPr txBox="1"/>
          <p:nvPr/>
        </p:nvSpPr>
        <p:spPr>
          <a:xfrm>
            <a:off x="7743825" y="5699125"/>
            <a:ext cx="3903662" cy="1179512"/>
          </a:xfrm>
          <a:prstGeom prst="rect">
            <a:avLst/>
          </a:prstGeom>
          <a:gradFill>
            <a:gsLst>
              <a:gs pos="0">
                <a:srgbClr val="F6F8FC"/>
              </a:gs>
              <a:gs pos="74000">
                <a:srgbClr val="D9D9D9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0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0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Portfólio de Serviços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0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PORTFÓLIO DE SERVIÇOS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8" name="Google Shape;108;p10"/>
          <p:cNvPicPr preferRelativeResize="0"/>
          <p:nvPr/>
        </p:nvPicPr>
        <p:blipFill rotWithShape="1">
          <a:blip r:embed="rId3">
            <a:alphaModFix/>
          </a:blip>
          <a:srcRect l="55217" t="22735" b="13265"/>
          <a:stretch/>
        </p:blipFill>
        <p:spPr>
          <a:xfrm>
            <a:off x="1016000" y="1506537"/>
            <a:ext cx="3794125" cy="535146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0"/>
          <p:cNvSpPr txBox="1"/>
          <p:nvPr/>
        </p:nvSpPr>
        <p:spPr>
          <a:xfrm>
            <a:off x="5324775" y="1506525"/>
            <a:ext cx="5832300" cy="2569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Char char="●"/>
            </a:pPr>
            <a:r>
              <a:rPr lang="en-US" sz="2300" b="1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Policiamento</a:t>
            </a:r>
            <a:r>
              <a:rPr lang="en-US" sz="2300" b="1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300" b="1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trânsito</a:t>
            </a:r>
            <a:r>
              <a:rPr lang="en-US" sz="2300" b="1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realizado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conjunto com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prepostos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do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Departamento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Estadual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Trânsito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- DETRAN (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Estadual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) e da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Superintendência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Trânsito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Municipal - SUTRANS (Municipal) e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ainda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3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blitz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preventivas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realizadas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ao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longo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do </a:t>
            </a:r>
            <a:r>
              <a:rPr lang="en-US" sz="23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ano</a:t>
            </a:r>
            <a:r>
              <a:rPr lang="en-US" sz="2300" b="0" i="0" u="none" strike="noStrike" cap="none" dirty="0">
                <a:solidFill>
                  <a:srgbClr val="000000"/>
                </a:solidFill>
                <a:latin typeface="+mj-lt"/>
                <a:ea typeface="Open Sans Light"/>
                <a:cs typeface="Open Sans Light"/>
                <a:sym typeface="Open Sans Light"/>
              </a:rPr>
              <a:t>.</a:t>
            </a:r>
            <a:endParaRPr sz="19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0"/>
          <p:cNvSpPr txBox="1"/>
          <p:nvPr/>
        </p:nvSpPr>
        <p:spPr>
          <a:xfrm>
            <a:off x="946150" y="5691187"/>
            <a:ext cx="3903662" cy="1177925"/>
          </a:xfrm>
          <a:prstGeom prst="rect">
            <a:avLst/>
          </a:prstGeom>
          <a:gradFill>
            <a:gsLst>
              <a:gs pos="0">
                <a:srgbClr val="F6F8FC"/>
              </a:gs>
              <a:gs pos="74000">
                <a:srgbClr val="D9D9D9"/>
              </a:gs>
              <a:gs pos="100000">
                <a:srgbClr val="BFBFBF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4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4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Partes Interessadas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4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PARTES INTERESSADAS E REDES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63" name="Google Shape;163;p14"/>
          <p:cNvGraphicFramePr/>
          <p:nvPr>
            <p:extLst>
              <p:ext uri="{D42A27DB-BD31-4B8C-83A1-F6EECF244321}">
                <p14:modId xmlns:p14="http://schemas.microsoft.com/office/powerpoint/2010/main" val="1796719830"/>
              </p:ext>
            </p:extLst>
          </p:nvPr>
        </p:nvGraphicFramePr>
        <p:xfrm>
          <a:off x="985837" y="1449387"/>
          <a:ext cx="11082338" cy="4922355"/>
        </p:xfrm>
        <a:graphic>
          <a:graphicData uri="http://schemas.openxmlformats.org/drawingml/2006/table">
            <a:tbl>
              <a:tblPr>
                <a:noFill/>
                <a:tableStyleId>{64FE9848-5764-4357-93EA-F29908C79110}</a:tableStyleId>
              </a:tblPr>
              <a:tblGrid>
                <a:gridCol w="30822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94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806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371">
                <a:tc>
                  <a:txBody>
                    <a:bodyPr/>
                    <a:lstStyle/>
                    <a:p>
                      <a:pPr marL="71437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800" b="1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Denominação</a:t>
                      </a: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da </a:t>
                      </a:r>
                      <a:r>
                        <a:rPr lang="en-US" sz="1800" b="1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parte</a:t>
                      </a:r>
                      <a:endParaRPr sz="1800" b="1" i="0" u="none" strike="noStrike" cap="none" dirty="0">
                        <a:solidFill>
                          <a:srgbClr val="000000"/>
                        </a:solidFill>
                        <a:latin typeface="+mj-lt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71437" marR="0" lvl="0" indent="0" algn="just" rtl="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800" b="1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interessada</a:t>
                      </a:r>
                      <a:endParaRPr sz="1800" b="1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10795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Principais interlocutores ou</a:t>
                      </a:r>
                      <a:endParaRPr sz="1800" b="1" i="0" u="none" strike="noStrike" cap="none">
                        <a:solidFill>
                          <a:srgbClr val="000000"/>
                        </a:solidFill>
                        <a:latin typeface="+mj-lt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107950" marR="0" lvl="0" indent="0" algn="just" rtl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representantes</a:t>
                      </a:r>
                      <a:endParaRPr sz="1800" b="1" u="none" strike="noStrike" cap="none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77787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800" b="1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Principais</a:t>
                      </a: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1800" b="1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necessidades</a:t>
                      </a: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e</a:t>
                      </a:r>
                      <a:endParaRPr sz="1800" b="1" i="0" u="none" strike="noStrike" cap="none" dirty="0">
                        <a:solidFill>
                          <a:srgbClr val="000000"/>
                        </a:solidFill>
                        <a:latin typeface="+mj-lt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77787" marR="0" lvl="0" indent="0" algn="just" rtl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800" b="1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expectativas</a:t>
                      </a:r>
                      <a:endParaRPr sz="1800" b="1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0931"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+mj-lt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CPR-O</a:t>
                      </a:r>
                      <a:endParaRPr sz="1600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53975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Cel PM José Carlos Soares Mariano  </a:t>
                      </a: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(Comandante)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+mj-lt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53975" marR="0" lvl="0" indent="0" algn="just" rtl="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Tel.: (77) 3612-7390</a:t>
                      </a:r>
                      <a:endParaRPr sz="1600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Implantação das Diretrizes Operacionais, cumprimento dos Planos Operacionais e Projetos</a:t>
                      </a:r>
                      <a:endParaRPr sz="1600" u="none" strike="noStrike" cap="none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1171"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+mj-lt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CONSEG/LEM</a:t>
                      </a:r>
                      <a:endParaRPr sz="1600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Sr. </a:t>
                      </a: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Heliton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Bettes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- </a:t>
                      </a:r>
                      <a:r>
                        <a:rPr lang="en-US" sz="1600" b="1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Presidente</a:t>
                      </a: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do CONSEG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+mj-lt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Tel.: (77) 99922-8555</a:t>
                      </a:r>
                      <a:endParaRPr sz="1600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Ligação entre a comunidade e a Polícia Militar em Luís Eduardo Magalhães.</a:t>
                      </a:r>
                      <a:endParaRPr sz="1600" u="none" strike="noStrike" cap="none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1171"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PREFEITURA MUNICIPAL DE LUÍS EDUARDO MAGALHÃES</a:t>
                      </a:r>
                      <a:endParaRPr sz="1600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Sr. </a:t>
                      </a: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Ondumar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Ferreira Borges Junior - </a:t>
                      </a:r>
                      <a:r>
                        <a:rPr lang="en-US" sz="1600" b="1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Prefeito</a:t>
                      </a:r>
                      <a:endParaRPr sz="1600" b="1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Fortalecimento da segurança e da ordem pública no município, visando a redução dos índices de violência</a:t>
                      </a:r>
                      <a:endParaRPr sz="1600" u="none" strike="noStrike" cap="none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51171"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PREFEITURA DE SÃO DESIDÉRIO</a:t>
                      </a:r>
                      <a:endParaRPr sz="1600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Sr. José Carlos de Carvalho - </a:t>
                      </a:r>
                      <a:r>
                        <a:rPr lang="en-US" sz="1600" b="1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Prefeito</a:t>
                      </a:r>
                      <a:endParaRPr sz="1600" b="1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Fortalecimento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da </a:t>
                      </a: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segurança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e da </a:t>
                      </a: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ordem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pública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no </a:t>
                      </a: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município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visando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a </a:t>
                      </a: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redução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dos </a:t>
                      </a: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índices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 de </a:t>
                      </a: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latin typeface="+mj-lt"/>
                          <a:ea typeface="Calibri"/>
                          <a:cs typeface="Calibri"/>
                          <a:sym typeface="Calibri"/>
                        </a:rPr>
                        <a:t>violência</a:t>
                      </a:r>
                      <a:endParaRPr sz="1600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51171"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endParaRPr lang="pt-BR" sz="1600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endParaRPr sz="1600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endParaRPr sz="1600" u="none" strike="noStrike" cap="none" dirty="0">
                        <a:latin typeface="+mj-lt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3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33"/>
          <p:cNvSpPr txBox="1"/>
          <p:nvPr/>
        </p:nvSpPr>
        <p:spPr>
          <a:xfrm>
            <a:off x="900112" y="140408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Redes de </a:t>
            </a:r>
            <a:r>
              <a:rPr lang="en-US" sz="2800" b="0" i="0" u="none" strike="noStrike" cap="none" dirty="0" err="1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Atuação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33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PARTES INTERESSADAS E REDES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560E96B9-60DF-643B-87EF-7CE0A3BB10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7331863"/>
              </p:ext>
            </p:extLst>
          </p:nvPr>
        </p:nvGraphicFramePr>
        <p:xfrm>
          <a:off x="749004" y="662695"/>
          <a:ext cx="11319171" cy="5656068"/>
        </p:xfrm>
        <a:graphic>
          <a:graphicData uri="http://schemas.openxmlformats.org/drawingml/2006/table">
            <a:tbl>
              <a:tblPr/>
              <a:tblGrid>
                <a:gridCol w="1777049">
                  <a:extLst>
                    <a:ext uri="{9D8B030D-6E8A-4147-A177-3AD203B41FA5}">
                      <a16:colId xmlns:a16="http://schemas.microsoft.com/office/drawing/2014/main" val="3459999161"/>
                    </a:ext>
                  </a:extLst>
                </a:gridCol>
                <a:gridCol w="3631880">
                  <a:extLst>
                    <a:ext uri="{9D8B030D-6E8A-4147-A177-3AD203B41FA5}">
                      <a16:colId xmlns:a16="http://schemas.microsoft.com/office/drawing/2014/main" val="1968331026"/>
                    </a:ext>
                  </a:extLst>
                </a:gridCol>
                <a:gridCol w="2870778">
                  <a:extLst>
                    <a:ext uri="{9D8B030D-6E8A-4147-A177-3AD203B41FA5}">
                      <a16:colId xmlns:a16="http://schemas.microsoft.com/office/drawing/2014/main" val="2762897640"/>
                    </a:ext>
                  </a:extLst>
                </a:gridCol>
                <a:gridCol w="3039464">
                  <a:extLst>
                    <a:ext uri="{9D8B030D-6E8A-4147-A177-3AD203B41FA5}">
                      <a16:colId xmlns:a16="http://schemas.microsoft.com/office/drawing/2014/main" val="2873102360"/>
                    </a:ext>
                  </a:extLst>
                </a:gridCol>
              </a:tblGrid>
              <a:tr h="506021">
                <a:tc>
                  <a:txBody>
                    <a:bodyPr/>
                    <a:lstStyle/>
                    <a:p>
                      <a:pPr marR="215265" algn="just">
                        <a:spcBef>
                          <a:spcPts val="835"/>
                        </a:spcBef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Noto Sans Symbols" panose="020B0604020202020204" charset="0"/>
                        </a:rPr>
                        <a:t>Denominação da rede</a:t>
                      </a:r>
                      <a:endParaRPr lang="pt-BR" sz="1600" b="1" dirty="0">
                        <a:effectLst/>
                        <a:latin typeface="+mj-lt"/>
                        <a:ea typeface="Noto Sans Symbols" panose="020B0604020202020204" charset="0"/>
                      </a:endParaRP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69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115"/>
                        </a:spcBef>
                      </a:pPr>
                      <a:r>
                        <a:rPr lang="pt-BR" sz="1600" b="1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Noto Sans Symbols" panose="020B0604020202020204" charset="0"/>
                        </a:rPr>
                        <a:t>Principais interlocutores ou representantes</a:t>
                      </a:r>
                      <a:endParaRPr lang="pt-BR" sz="1600" b="1" dirty="0">
                        <a:effectLst/>
                        <a:latin typeface="+mj-lt"/>
                        <a:ea typeface="Noto Sans Symbols" panose="020B0604020202020204" charset="0"/>
                      </a:endParaRP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69F"/>
                    </a:solidFill>
                  </a:tcPr>
                </a:tc>
                <a:tc>
                  <a:txBody>
                    <a:bodyPr/>
                    <a:lstStyle/>
                    <a:p>
                      <a:pPr marR="146050" algn="just">
                        <a:spcBef>
                          <a:spcPts val="835"/>
                        </a:spcBef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Noto Sans Symbols" panose="020B0604020202020204" charset="0"/>
                        </a:rPr>
                        <a:t>Principais propósitos da rede</a:t>
                      </a:r>
                      <a:endParaRPr lang="pt-BR" sz="1600" b="1" dirty="0">
                        <a:effectLst/>
                        <a:latin typeface="+mj-lt"/>
                        <a:ea typeface="Noto Sans Symbols" panose="020B0604020202020204" charset="0"/>
                      </a:endParaRP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69F"/>
                    </a:solidFill>
                  </a:tcPr>
                </a:tc>
                <a:tc>
                  <a:txBody>
                    <a:bodyPr/>
                    <a:lstStyle/>
                    <a:p>
                      <a:pPr marR="66675" algn="just">
                        <a:spcBef>
                          <a:spcPts val="835"/>
                        </a:spcBef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Noto Sans Symbols" panose="020B0604020202020204" charset="0"/>
                        </a:rPr>
                        <a:t>Forma de atuação da organização na rede</a:t>
                      </a:r>
                      <a:endParaRPr lang="pt-BR" sz="1600" b="1" dirty="0">
                        <a:effectLst/>
                        <a:latin typeface="+mj-lt"/>
                        <a:ea typeface="Noto Sans Symbols" panose="020B0604020202020204" charset="0"/>
                      </a:endParaRP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6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2089714"/>
                  </a:ext>
                </a:extLst>
              </a:tr>
              <a:tr h="1464715">
                <a:tc>
                  <a:txBody>
                    <a:bodyPr/>
                    <a:lstStyle/>
                    <a:p>
                      <a:pPr algn="just">
                        <a:spcBef>
                          <a:spcPts val="20"/>
                        </a:spcBef>
                      </a:pPr>
                      <a:r>
                        <a:rPr lang="pt-BR" sz="1600" b="1" dirty="0">
                          <a:effectLst/>
                          <a:latin typeface="+mj-lt"/>
                          <a:ea typeface="Noto Sans Symbols" panose="020B0604020202020204" charset="0"/>
                        </a:rPr>
                        <a:t> </a:t>
                      </a:r>
                    </a:p>
                    <a:p>
                      <a:pPr marR="59055" algn="just"/>
                      <a:r>
                        <a:rPr lang="pt-BR" sz="1600" b="1" dirty="0">
                          <a:effectLst/>
                          <a:latin typeface="+mj-lt"/>
                          <a:ea typeface="Noto Sans Symbols" panose="020B0604020202020204" charset="0"/>
                        </a:rPr>
                        <a:t>Orgânico do CPR-O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700"/>
                        </a:spcBef>
                      </a:pPr>
                      <a:r>
                        <a:rPr lang="pt-BR" sz="1300" dirty="0">
                          <a:effectLst/>
                          <a:latin typeface="+mj-lt"/>
                          <a:ea typeface="Noto Sans Symbols" panose="020B0604020202020204" charset="0"/>
                        </a:rPr>
                        <a:t>Cel PM José Carlos Soares Mariano - Comandante do CPR-O.  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700"/>
                        </a:spcBef>
                      </a:pPr>
                      <a:r>
                        <a:rPr lang="pt-BR" sz="1300">
                          <a:effectLst/>
                          <a:latin typeface="+mj-lt"/>
                          <a:ea typeface="Noto Sans Symbols" panose="020B0604020202020204" charset="0"/>
                        </a:rPr>
                        <a:t>Implementação dos serviços de Polícia Militar na região Oeste, através das Unidades do orgânico.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84455" algn="just"/>
                      <a:r>
                        <a:rPr lang="pt-BR" sz="1300">
                          <a:effectLst/>
                          <a:latin typeface="+mj-lt"/>
                          <a:ea typeface="Noto Sans Symbols" panose="020B0604020202020204" charset="0"/>
                        </a:rPr>
                        <a:t>Cumprimento de metas operacionais; estabelecimento de  Planos de Serviço; identificação de locais críticos e remanejamento de policiamento; emprego de PMs em apoio ou reforço; operações extraordinárias.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6433405"/>
                  </a:ext>
                </a:extLst>
              </a:tr>
              <a:tr h="932092">
                <a:tc>
                  <a:txBody>
                    <a:bodyPr/>
                    <a:lstStyle/>
                    <a:p>
                      <a:pPr marR="59055" algn="just">
                        <a:spcBef>
                          <a:spcPts val="725"/>
                        </a:spcBef>
                        <a:spcAft>
                          <a:spcPts val="0"/>
                        </a:spcAft>
                      </a:pPr>
                      <a:r>
                        <a:rPr lang="pt-BR" sz="1600" b="1">
                          <a:effectLst/>
                          <a:latin typeface="+mj-lt"/>
                          <a:ea typeface="Noto Sans Symbols" panose="020B0604020202020204" charset="0"/>
                        </a:rPr>
                        <a:t>AISP 30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102870" algn="just">
                        <a:spcBef>
                          <a:spcPts val="725"/>
                        </a:spcBef>
                        <a:spcAft>
                          <a:spcPts val="0"/>
                        </a:spcAft>
                      </a:pPr>
                      <a:r>
                        <a:rPr lang="pt-BR" sz="1300" dirty="0">
                          <a:effectLst/>
                          <a:latin typeface="+mj-lt"/>
                          <a:ea typeface="Noto Sans Symbols" panose="020B0604020202020204" charset="0"/>
                        </a:rPr>
                        <a:t>Ten Cel PM Ricardo Prudêncio Guedes Diz Pazos - Comandante do 27º BPM; DPC  Joaquim Rodrigues - Delegado Titular da 11º COORPIN.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725"/>
                        </a:spcBef>
                      </a:pPr>
                      <a:r>
                        <a:rPr lang="pt-BR" sz="1300" dirty="0">
                          <a:effectLst/>
                          <a:latin typeface="+mj-lt"/>
                          <a:ea typeface="Noto Sans Symbols" panose="020B0604020202020204" charset="0"/>
                        </a:rPr>
                        <a:t>Alinhamento entre os serviços de polícia ostensiva e polícia judiciária dentro da atuação da AISP.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5"/>
                        </a:spcBef>
                      </a:pPr>
                      <a:r>
                        <a:rPr lang="pt-BR" sz="1300">
                          <a:effectLst/>
                          <a:latin typeface="+mj-lt"/>
                          <a:ea typeface="Noto Sans Symbols" panose="020B0604020202020204" charset="0"/>
                        </a:rPr>
                        <a:t>Compartilhamento de informações de interesse das instituições envolvidas; policiamento orientado para o problema; realização de operações integradas. 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4552789"/>
                  </a:ext>
                </a:extLst>
              </a:tr>
              <a:tr h="932092">
                <a:tc>
                  <a:txBody>
                    <a:bodyPr/>
                    <a:lstStyle/>
                    <a:p>
                      <a:pPr marR="73025" algn="just"/>
                      <a:r>
                        <a:rPr lang="pt-BR" sz="1600" b="1">
                          <a:effectLst/>
                          <a:latin typeface="+mj-lt"/>
                          <a:ea typeface="Noto Sans Symbols" panose="020B0604020202020204" charset="0"/>
                        </a:rPr>
                        <a:t>Rede de proteção a violência contra mulher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102870" algn="just">
                        <a:spcBef>
                          <a:spcPts val="700"/>
                        </a:spcBef>
                        <a:spcAft>
                          <a:spcPts val="0"/>
                        </a:spcAft>
                      </a:pPr>
                      <a:r>
                        <a:rPr lang="pt-BR" sz="1300">
                          <a:effectLst/>
                          <a:latin typeface="+mj-lt"/>
                          <a:ea typeface="Noto Sans Symbols" panose="020B0604020202020204" charset="0"/>
                        </a:rPr>
                        <a:t>Sraª Nara Cristina Apolinário, Coordenadora do Centro de Apoio à Mulher - CAM, da Pref. Municipal de Luís Eduardo Magalhães.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73025" algn="just"/>
                      <a:r>
                        <a:rPr lang="pt-BR" sz="1300">
                          <a:effectLst/>
                          <a:latin typeface="+mj-lt"/>
                          <a:ea typeface="Noto Sans Symbols" panose="020B0604020202020204" charset="0"/>
                        </a:rPr>
                        <a:t>Acolhimento de mulheres do município de Luís Eduardo Magalhães em situação de vulnerabilidade. 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pt-BR" sz="1300">
                          <a:effectLst/>
                          <a:latin typeface="+mj-lt"/>
                          <a:ea typeface="Noto Sans Symbols" panose="020B0604020202020204" charset="0"/>
                        </a:rPr>
                        <a:t>Encaminhamento de mulheres ao CAM, flagradas em situação de violência doméstica, para que seja prestado apoio jurídico e</a:t>
                      </a:r>
                      <a:r>
                        <a:rPr lang="pt-BR" sz="1300">
                          <a:solidFill>
                            <a:srgbClr val="65676B"/>
                          </a:solidFill>
                          <a:effectLst/>
                          <a:highlight>
                            <a:srgbClr val="FFFFFF"/>
                          </a:highlight>
                          <a:latin typeface="+mj-lt"/>
                          <a:ea typeface="Noto Sans Symbols" panose="020B0604020202020204" charset="0"/>
                        </a:rPr>
                        <a:t> psicológico.</a:t>
                      </a:r>
                      <a:endParaRPr lang="pt-BR" sz="1300">
                        <a:effectLst/>
                        <a:latin typeface="+mj-lt"/>
                        <a:ea typeface="Noto Sans Symbols" panose="020B0604020202020204" charset="0"/>
                      </a:endParaRP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1762891"/>
                  </a:ext>
                </a:extLst>
              </a:tr>
              <a:tr h="1231692">
                <a:tc>
                  <a:txBody>
                    <a:bodyPr/>
                    <a:lstStyle/>
                    <a:p>
                      <a:pPr marR="202565" algn="just"/>
                      <a:r>
                        <a:rPr lang="pt-BR" sz="1600" b="1" dirty="0">
                          <a:effectLst/>
                          <a:latin typeface="+mj-lt"/>
                          <a:ea typeface="Noto Sans Symbols" panose="020B0604020202020204" charset="0"/>
                        </a:rPr>
                        <a:t>Operações de Divisa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102870" algn="just"/>
                      <a:r>
                        <a:rPr lang="pt-BR" sz="1300" dirty="0">
                          <a:effectLst/>
                          <a:latin typeface="+mj-lt"/>
                          <a:ea typeface="Noto Sans Symbols" panose="020B0604020202020204" charset="0"/>
                        </a:rPr>
                        <a:t>Ten Cel PM Ricardo Prudêncio Guedes Diz Pazos - Comandante do 27º BPM e Maj PM Daniel Bezerra Corrêa</a:t>
                      </a:r>
                      <a:r>
                        <a:rPr lang="pt-BR" sz="1300" b="1" dirty="0">
                          <a:effectLst/>
                          <a:latin typeface="+mj-lt"/>
                          <a:ea typeface="Noto Sans Symbols" panose="020B0604020202020204" charset="0"/>
                        </a:rPr>
                        <a:t> </a:t>
                      </a:r>
                      <a:r>
                        <a:rPr lang="pt-BR" sz="1300" dirty="0">
                          <a:effectLst/>
                          <a:latin typeface="+mj-lt"/>
                          <a:ea typeface="Noto Sans Symbols" panose="020B0604020202020204" charset="0"/>
                        </a:rPr>
                        <a:t>comandante da </a:t>
                      </a:r>
                      <a:r>
                        <a:rPr lang="pt-BR" sz="1300" dirty="0" err="1">
                          <a:effectLst/>
                          <a:latin typeface="+mj-lt"/>
                          <a:ea typeface="Noto Sans Symbols" panose="020B0604020202020204" charset="0"/>
                        </a:rPr>
                        <a:t>CIPFaz</a:t>
                      </a:r>
                      <a:r>
                        <a:rPr lang="pt-BR" sz="1300" dirty="0">
                          <a:effectLst/>
                          <a:latin typeface="+mj-lt"/>
                          <a:ea typeface="Noto Sans Symbols" panose="020B0604020202020204" charset="0"/>
                        </a:rPr>
                        <a:t> – Companhia Independente de Polícia Fazendária .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67310" algn="just">
                        <a:spcBef>
                          <a:spcPts val="5"/>
                        </a:spcBef>
                        <a:spcAft>
                          <a:spcPts val="0"/>
                        </a:spcAft>
                      </a:pPr>
                      <a:r>
                        <a:rPr lang="pt-BR" sz="1300">
                          <a:effectLst/>
                          <a:latin typeface="+mj-lt"/>
                          <a:ea typeface="Noto Sans Symbols" panose="020B0604020202020204" charset="0"/>
                        </a:rPr>
                        <a:t>Reforço de policiamento nas divisas dos Estados que margeiam o oeste baiano.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142875" algn="just">
                        <a:spcBef>
                          <a:spcPts val="725"/>
                        </a:spcBef>
                        <a:spcAft>
                          <a:spcPts val="0"/>
                        </a:spcAft>
                      </a:pPr>
                      <a:r>
                        <a:rPr lang="pt-BR" sz="1300">
                          <a:effectLst/>
                          <a:latin typeface="+mj-lt"/>
                          <a:ea typeface="Noto Sans Symbols" panose="020B0604020202020204" charset="0"/>
                        </a:rPr>
                        <a:t>Emprego de Policiamento Ostensivo Motorizado, mediante Plano de Operações da OPM, em consonância com alinhamento prévio realizado entre as partes envolvidas.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4113302"/>
                  </a:ext>
                </a:extLst>
              </a:tr>
              <a:tr h="183158">
                <a:tc>
                  <a:txBody>
                    <a:bodyPr/>
                    <a:lstStyle/>
                    <a:p>
                      <a:pPr marR="59055" algn="just"/>
                      <a:r>
                        <a:rPr lang="pt-BR" sz="1600" b="1" dirty="0">
                          <a:effectLst/>
                          <a:latin typeface="+mj-lt"/>
                          <a:ea typeface="Noto Sans Symbols" panose="020B0604020202020204" charset="0"/>
                        </a:rPr>
                        <a:t>Operação SAFRA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102870" algn="just"/>
                      <a:r>
                        <a:rPr lang="pt-BR" sz="1300" dirty="0" err="1">
                          <a:effectLst/>
                          <a:latin typeface="+mj-lt"/>
                          <a:ea typeface="Noto Sans Symbols" panose="020B0604020202020204" charset="0"/>
                        </a:rPr>
                        <a:t>Srª</a:t>
                      </a:r>
                      <a:r>
                        <a:rPr lang="pt-BR" sz="1300" dirty="0">
                          <a:effectLst/>
                          <a:latin typeface="+mj-lt"/>
                          <a:ea typeface="Noto Sans Symbols" panose="020B0604020202020204" charset="0"/>
                        </a:rPr>
                        <a:t> </a:t>
                      </a:r>
                      <a:r>
                        <a:rPr lang="pt-BR" sz="1200" dirty="0" err="1">
                          <a:latin typeface="+mj-lt"/>
                          <a:ea typeface="Noto Sans Symbols" panose="020B0604020202020204" charset="0"/>
                        </a:rPr>
                        <a:t>Jenni</a:t>
                      </a:r>
                      <a:r>
                        <a:rPr lang="pt-BR" sz="1200" dirty="0">
                          <a:latin typeface="+mj-lt"/>
                          <a:ea typeface="Noto Sans Symbols" panose="020B0604020202020204" charset="0"/>
                        </a:rPr>
                        <a:t> Dias de Castro </a:t>
                      </a:r>
                      <a:r>
                        <a:rPr lang="pt-BR" sz="1200" dirty="0" err="1">
                          <a:latin typeface="+mj-lt"/>
                          <a:ea typeface="Noto Sans Symbols" panose="020B0604020202020204" charset="0"/>
                        </a:rPr>
                        <a:t>Tel</a:t>
                      </a:r>
                      <a:r>
                        <a:rPr lang="pt-BR" sz="1200" dirty="0">
                          <a:latin typeface="+mj-lt"/>
                          <a:ea typeface="Noto Sans Symbols" panose="020B0604020202020204" charset="0"/>
                        </a:rPr>
                        <a:t>: </a:t>
                      </a:r>
                      <a:r>
                        <a:rPr lang="pt-BR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Noto Sans Symbols" panose="020B0604020202020204" charset="0"/>
                          <a:cs typeface="+mn-cs"/>
                          <a:sym typeface="Arial"/>
                        </a:rPr>
                        <a:t>(77) 9.8101-6821, Coordenadora</a:t>
                      </a:r>
                      <a:endParaRPr lang="pt-BR" sz="1300" dirty="0">
                        <a:effectLst/>
                        <a:latin typeface="+mj-lt"/>
                        <a:ea typeface="Noto Sans Symbols" panose="020B0604020202020204" charset="0"/>
                      </a:endParaRP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pt-BR" sz="1300">
                          <a:effectLst/>
                          <a:latin typeface="+mj-lt"/>
                          <a:ea typeface="Noto Sans Symbols" panose="020B0604020202020204" charset="0"/>
                        </a:rPr>
                        <a:t>Policiamento Ostensivo na zona Rural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142875" algn="just">
                        <a:spcBef>
                          <a:spcPts val="5"/>
                        </a:spcBef>
                        <a:spcAft>
                          <a:spcPts val="0"/>
                        </a:spcAft>
                      </a:pPr>
                      <a:r>
                        <a:rPr lang="pt-BR" sz="1300" dirty="0">
                          <a:effectLst/>
                          <a:latin typeface="+mj-lt"/>
                          <a:ea typeface="Noto Sans Symbols" panose="020B0604020202020204" charset="0"/>
                        </a:rPr>
                        <a:t>Mediante Plano de Operações e integração com produtores rurais</a:t>
                      </a:r>
                    </a:p>
                  </a:txBody>
                  <a:tcPr marL="58320" marR="5832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6308246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8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8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Busca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8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HISTÓRICO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8"/>
          <p:cNvSpPr txBox="1"/>
          <p:nvPr/>
        </p:nvSpPr>
        <p:spPr>
          <a:xfrm>
            <a:off x="900100" y="1542625"/>
            <a:ext cx="10695000" cy="5078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2020</a:t>
            </a:r>
            <a:endParaRPr sz="2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 </a:t>
            </a:r>
            <a:endParaRPr sz="22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-1397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●"/>
            </a:pP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Instrução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tiro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policial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abordagem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com o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efetivo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</a:t>
            </a:r>
            <a:r>
              <a:rPr lang="en-US" sz="2200" b="0" i="0" u="none" strike="noStrike" cap="none" dirty="0">
                <a:solidFill>
                  <a:srgbClr val="00B05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ROCAM( </a:t>
            </a:r>
            <a:r>
              <a:rPr lang="en-US" sz="22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Rondas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com </a:t>
            </a:r>
            <a:r>
              <a:rPr lang="en-US" sz="22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Apoio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2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Motocicletas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),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no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sentido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desenvolver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aprimorar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habilidades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técnicas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proporcionando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segurança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confiança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uniformidade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nas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ações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policiais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;</a:t>
            </a:r>
          </a:p>
          <a:p>
            <a:pPr marR="0" lvl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</a:pPr>
            <a:endParaRPr sz="2200" b="0" i="0" u="none" strike="noStrike" cap="none" dirty="0">
              <a:solidFill>
                <a:schemeClr val="dk1"/>
              </a:solidFill>
              <a:latin typeface="+mj-lt"/>
              <a:ea typeface="Noto Sans Symbols"/>
              <a:cs typeface="Noto Sans Symbols"/>
              <a:sym typeface="Noto Sans Symbols"/>
            </a:endParaRPr>
          </a:p>
          <a:p>
            <a:pPr marL="0" marR="0" lvl="0" indent="-1397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●"/>
            </a:pP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Adoção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medidas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combate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a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disseminação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COVID-19, a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partir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do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mês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março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daquele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ano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consonância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com a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legislação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estadual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federal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pertinentes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bem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como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as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diretrizes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do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escalão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superior da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corporação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como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a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mudança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dos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grupos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serviço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horários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diferenciados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para as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guarnições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utilização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agentes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saneantes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realização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exames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sorológicos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junto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Departamento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Saúde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PMBA;</a:t>
            </a:r>
          </a:p>
          <a:p>
            <a:pPr marR="0" lvl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</a:pPr>
            <a:endParaRPr sz="2200" b="0" i="0" u="none" strike="noStrike" cap="none" dirty="0">
              <a:solidFill>
                <a:schemeClr val="dk1"/>
              </a:solidFill>
              <a:latin typeface="+mj-lt"/>
              <a:ea typeface="Noto Sans Symbols"/>
              <a:cs typeface="Noto Sans Symbols"/>
              <a:sym typeface="Noto Sans Symbols"/>
            </a:endParaRPr>
          </a:p>
          <a:p>
            <a:pPr marL="0" marR="0" lvl="0" indent="-1397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●"/>
            </a:pP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Realização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vacinação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tropa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para combater a </a:t>
            </a:r>
            <a:r>
              <a:rPr lang="en-US" sz="22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disseminação</a:t>
            </a:r>
            <a:r>
              <a:rPr lang="en-US" sz="22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  COVID-19;</a:t>
            </a:r>
            <a:endParaRPr sz="2200" b="0" i="0" u="none" strike="noStrike" cap="none" dirty="0">
              <a:solidFill>
                <a:schemeClr val="dk1"/>
              </a:solidFill>
              <a:latin typeface="+mj-lt"/>
              <a:ea typeface="Noto Sans Symbols"/>
              <a:cs typeface="Noto Sans Symbols"/>
              <a:sym typeface="Noto Sans Symbols"/>
            </a:endParaRPr>
          </a:p>
          <a:p>
            <a:pPr marL="4572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120ebcea37_2_7"/>
          <p:cNvSpPr/>
          <p:nvPr/>
        </p:nvSpPr>
        <p:spPr>
          <a:xfrm>
            <a:off x="0" y="0"/>
            <a:ext cx="501300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g3120ebcea37_2_7"/>
          <p:cNvSpPr txBox="1"/>
          <p:nvPr/>
        </p:nvSpPr>
        <p:spPr>
          <a:xfrm>
            <a:off x="900112" y="741362"/>
            <a:ext cx="86931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Busca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g3120ebcea37_2_7"/>
          <p:cNvSpPr txBox="1"/>
          <p:nvPr/>
        </p:nvSpPr>
        <p:spPr>
          <a:xfrm rot="-5400000">
            <a:off x="-2435925" y="3305825"/>
            <a:ext cx="53658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HISTÓRICO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g3120ebcea37_2_7"/>
          <p:cNvSpPr txBox="1"/>
          <p:nvPr/>
        </p:nvSpPr>
        <p:spPr>
          <a:xfrm>
            <a:off x="900100" y="1482725"/>
            <a:ext cx="10695000" cy="47720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2020</a:t>
            </a:r>
            <a:endParaRPr lang="en-US" sz="2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chemeClr val="dk1"/>
              </a:solidFill>
              <a:latin typeface="+mj-lt"/>
              <a:ea typeface="Noto Sans Symbols"/>
              <a:cs typeface="Noto Sans Symbols"/>
              <a:sym typeface="Noto Sans Symbols"/>
            </a:endParaRPr>
          </a:p>
          <a:p>
            <a:pPr marL="0" marR="0" lvl="0" indent="-1524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Instrução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Nivelamento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Conhecimentos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(INC/I) com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efetivo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Unidade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realizada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pel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CIPT-Oeste 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no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intuito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disseminar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o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emprego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das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técnicas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táticas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utilizadas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atividade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dirty="0">
                <a:latin typeface="+mj-lt"/>
                <a:ea typeface="Noto Sans Symbols"/>
                <a:cs typeface="Noto Sans Symbols"/>
                <a:sym typeface="Noto Sans Symbols"/>
              </a:rPr>
              <a:t>motopatrulhamento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tático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empregadas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no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segundo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esforço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policiamento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; </a:t>
            </a:r>
            <a:endParaRPr sz="2400" b="0" i="0" u="none" strike="noStrike" cap="none" dirty="0">
              <a:solidFill>
                <a:srgbClr val="000000"/>
              </a:solidFill>
              <a:latin typeface="+mj-lt"/>
              <a:ea typeface="Noto Sans Symbols"/>
              <a:cs typeface="Noto Sans Symbols"/>
              <a:sym typeface="Noto Sans Symbols"/>
            </a:endParaRPr>
          </a:p>
          <a:p>
            <a:pPr marL="4572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latin typeface="+mj-lt"/>
              <a:ea typeface="Noto Sans Symbols"/>
              <a:cs typeface="Noto Sans Symbols"/>
              <a:sym typeface="Noto Sans Symbols"/>
            </a:endParaRPr>
          </a:p>
          <a:p>
            <a:pPr marL="0" marR="0" lvl="0" indent="-1524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Palestra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sobre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combate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a crimes contra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instituições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bancárias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para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Oficiais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Aspirantes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-a-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Oficial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Subtenentes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Sargentos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efetivo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do PETO da 85ª CIPM/LEM, para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nivelar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conhecimentos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padronizar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o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emprego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das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técnicas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táticas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policiais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militares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serem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aplicadas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pela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tropa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qualquer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intervenção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1º e 2º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nível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esforço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atividade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fim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Corporação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;</a:t>
            </a:r>
            <a:endParaRPr sz="2400" dirty="0">
              <a:solidFill>
                <a:schemeClr val="dk1"/>
              </a:solidFill>
              <a:latin typeface="+mj-lt"/>
            </a:endParaRPr>
          </a:p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120ebcea37_2_0"/>
          <p:cNvSpPr/>
          <p:nvPr/>
        </p:nvSpPr>
        <p:spPr>
          <a:xfrm>
            <a:off x="0" y="0"/>
            <a:ext cx="501300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g3120ebcea37_2_0"/>
          <p:cNvSpPr txBox="1"/>
          <p:nvPr/>
        </p:nvSpPr>
        <p:spPr>
          <a:xfrm>
            <a:off x="900112" y="741362"/>
            <a:ext cx="86931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Busca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g3120ebcea37_2_0"/>
          <p:cNvSpPr txBox="1"/>
          <p:nvPr/>
        </p:nvSpPr>
        <p:spPr>
          <a:xfrm rot="-5400000">
            <a:off x="-2435925" y="3305825"/>
            <a:ext cx="53658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HISTÓRICO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g3120ebcea37_2_0"/>
          <p:cNvSpPr txBox="1"/>
          <p:nvPr/>
        </p:nvSpPr>
        <p:spPr>
          <a:xfrm>
            <a:off x="900100" y="1482725"/>
            <a:ext cx="10695000" cy="4587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76200" algn="just">
              <a:lnSpc>
                <a:spcPct val="115000"/>
              </a:lnSpc>
              <a:buClr>
                <a:schemeClr val="dk1"/>
              </a:buClr>
              <a:buSzPts val="2400"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2020</a:t>
            </a:r>
            <a:endParaRPr lang="en-US" sz="2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457200" lvl="0" indent="-3810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endParaRPr lang="en-US" sz="2400" dirty="0">
              <a:solidFill>
                <a:schemeClr val="dk1"/>
              </a:solidFill>
              <a:latin typeface="+mj-lt"/>
              <a:ea typeface="Noto Sans Symbols"/>
              <a:cs typeface="Noto Sans Symbols"/>
              <a:sym typeface="Noto Sans Symbols"/>
            </a:endParaRPr>
          </a:p>
          <a:p>
            <a:pPr marL="457200" lvl="0" indent="-3810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Instrução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sobre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Sobrevivência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Policial para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policiais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militares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85ª CIPM/LEM,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através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palestra com o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efetivo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com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enfoque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situações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risco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fora de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serviço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;</a:t>
            </a:r>
          </a:p>
          <a:p>
            <a:pPr marL="457200" lvl="0" indent="-3810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endParaRPr sz="2400" dirty="0">
              <a:solidFill>
                <a:schemeClr val="dk1"/>
              </a:solidFill>
              <a:latin typeface="+mj-lt"/>
            </a:endParaRPr>
          </a:p>
          <a:p>
            <a:pPr marL="457200" lvl="0" indent="-3810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Instrução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Policiamento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Rural para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policiais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militares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85ª CIPM/LEM que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participaram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Operação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SAFRA 2021. 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instrução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objetivou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nivelar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conhecimentos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no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intuito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padronizar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o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emprego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das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técnicas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táticas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policiais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militares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situações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patrulhamento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rural;</a:t>
            </a:r>
            <a:endParaRPr sz="2400" dirty="0">
              <a:solidFill>
                <a:schemeClr val="dk1"/>
              </a:solidFill>
              <a:latin typeface="+mj-lt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9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9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Busca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19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HISTÓRICO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9"/>
          <p:cNvSpPr txBox="1"/>
          <p:nvPr/>
        </p:nvSpPr>
        <p:spPr>
          <a:xfrm>
            <a:off x="900112" y="1620837"/>
            <a:ext cx="10609200" cy="4734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3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2021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endParaRPr sz="2400" b="0" i="0" u="none" strike="noStrike" cap="none" dirty="0">
              <a:solidFill>
                <a:schemeClr val="dk1"/>
              </a:solidFill>
              <a:latin typeface="+mj-lt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endParaRPr sz="2400" dirty="0">
              <a:solidFill>
                <a:schemeClr val="dk1"/>
              </a:solidFill>
              <a:latin typeface="+mj-lt"/>
              <a:ea typeface="Times New Roman"/>
              <a:cs typeface="Times New Roman"/>
              <a:sym typeface="Times New Roman"/>
            </a:endParaRPr>
          </a:p>
          <a:p>
            <a:pPr marL="0" marR="0" lvl="0" indent="-381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Criação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Comitê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Qualidade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OPM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através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nota de BIO do Comandante com o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fito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buscar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dar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primeiros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passos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Gestão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excelência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; </a:t>
            </a:r>
            <a:endParaRPr sz="2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-38100" algn="just" rtl="0">
              <a:lnSpc>
                <a:spcPct val="115000"/>
              </a:lnSpc>
              <a:spcBef>
                <a:spcPts val="2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Instrução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Tiro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Policial 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Abordagem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para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Oficiais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Aspirantes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Subtenentes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Graduados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efetivo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Administrativo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UOPM; </a:t>
            </a:r>
            <a:endParaRPr sz="2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Reforma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das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instalações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Unidade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concluindo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com 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entrega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do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auditório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alojamentos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;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120ebcea37_2_14"/>
          <p:cNvSpPr/>
          <p:nvPr/>
        </p:nvSpPr>
        <p:spPr>
          <a:xfrm>
            <a:off x="0" y="0"/>
            <a:ext cx="501300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g3120ebcea37_2_14"/>
          <p:cNvSpPr txBox="1"/>
          <p:nvPr/>
        </p:nvSpPr>
        <p:spPr>
          <a:xfrm>
            <a:off x="900112" y="741362"/>
            <a:ext cx="86931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Busca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g3120ebcea37_2_14"/>
          <p:cNvSpPr txBox="1"/>
          <p:nvPr/>
        </p:nvSpPr>
        <p:spPr>
          <a:xfrm rot="-5400000">
            <a:off x="-2435925" y="3305825"/>
            <a:ext cx="53658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HISTÓRICO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g3120ebcea37_2_14"/>
          <p:cNvSpPr txBox="1"/>
          <p:nvPr/>
        </p:nvSpPr>
        <p:spPr>
          <a:xfrm>
            <a:off x="900112" y="1620837"/>
            <a:ext cx="10609200" cy="4993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3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2021 </a:t>
            </a:r>
            <a:endParaRPr sz="3000" b="0" i="0" u="none" strike="noStrike" cap="none" dirty="0">
              <a:solidFill>
                <a:schemeClr val="dk1"/>
              </a:solidFill>
              <a:latin typeface="+mj-lt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endParaRPr sz="2400" dirty="0">
              <a:solidFill>
                <a:schemeClr val="dk1"/>
              </a:solidFill>
              <a:latin typeface="+mj-lt"/>
              <a:ea typeface="Times New Roman"/>
              <a:cs typeface="Times New Roman"/>
              <a:sym typeface="Times New Roman"/>
            </a:endParaRPr>
          </a:p>
          <a:p>
            <a:pPr marL="457200" lvl="0" indent="-3810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Reforma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sede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do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pelotão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São Desidério, com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suas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instalações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implantadas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em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conjunto com 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Delegacia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Polícia Civil de São Desidério; </a:t>
            </a:r>
            <a:endParaRPr sz="2400" dirty="0">
              <a:solidFill>
                <a:schemeClr val="dk1"/>
              </a:solidFill>
              <a:latin typeface="+mj-lt"/>
            </a:endParaRPr>
          </a:p>
          <a:p>
            <a:pPr marL="457200" lvl="0" indent="-3810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Introdução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dos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formulários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online de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solicitações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(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dispensas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permutas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diversos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), do RCAT (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Registro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Atestados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Médicos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), e do RDOP (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Registro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Ocorrência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Policiais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). O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formulário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online de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solicitações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permitiu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tropa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pleitear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junto 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administração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UOp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questões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diversas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sem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ter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a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necessidade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de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deslocamento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para o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Quartel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,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reduzindo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ainda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os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custos de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impressão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 com </a:t>
            </a:r>
            <a:r>
              <a:rPr lang="en-US" sz="2400" dirty="0" err="1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formulários</a:t>
            </a:r>
            <a:r>
              <a:rPr lang="en-US" sz="2400" dirty="0">
                <a:solidFill>
                  <a:schemeClr val="dk1"/>
                </a:solidFill>
                <a:latin typeface="+mj-lt"/>
                <a:ea typeface="Noto Sans Symbols"/>
                <a:cs typeface="Noto Sans Symbols"/>
                <a:sym typeface="Noto Sans Symbols"/>
              </a:rPr>
              <a:t>. </a:t>
            </a:r>
            <a:endParaRPr sz="2400" dirty="0">
              <a:solidFill>
                <a:schemeClr val="dk1"/>
              </a:solidFill>
              <a:latin typeface="+mj-lt"/>
              <a:ea typeface="Noto Sans Symbols"/>
              <a:cs typeface="Noto Sans Symbols"/>
              <a:sym typeface="Noto Sans Symbols"/>
            </a:endParaRPr>
          </a:p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0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0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Busca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20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HISTÓRICO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20"/>
          <p:cNvSpPr txBox="1"/>
          <p:nvPr/>
        </p:nvSpPr>
        <p:spPr>
          <a:xfrm>
            <a:off x="900112" y="1374860"/>
            <a:ext cx="10609200" cy="5878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</a:pPr>
            <a:r>
              <a:rPr lang="en-US" sz="300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2022</a:t>
            </a: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</a:pPr>
            <a:endParaRPr sz="2400" dirty="0">
              <a:solidFill>
                <a:schemeClr val="dk1"/>
              </a:solidFill>
              <a:latin typeface="+mj-lt"/>
              <a:ea typeface="Times New Roman"/>
              <a:cs typeface="Times New Roman"/>
              <a:sym typeface="Times New Roman"/>
            </a:endParaRPr>
          </a:p>
          <a:p>
            <a:pPr marL="0" marR="0" lvl="0" indent="-381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●"/>
            </a:pP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Curso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Pilotagem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veicular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o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efetivo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da 85ª CIPM/LEM para 42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policiais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militares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;</a:t>
            </a:r>
          </a:p>
          <a:p>
            <a:pPr marL="0" marR="0" lvl="0" indent="-381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●"/>
            </a:pPr>
            <a:endParaRPr lang="en-US" sz="2000" dirty="0">
              <a:latin typeface="+mj-lt"/>
              <a:ea typeface="Times New Roman"/>
            </a:endParaRPr>
          </a:p>
          <a:p>
            <a:pPr marL="0" marR="0" lvl="0" indent="-381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●"/>
            </a:pP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Projeto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SVP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Mais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Perto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Você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envolvendo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efetivo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da 85ª CIPM/LEM. O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projeto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pautou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-se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na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realização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atividades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voltadas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à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saúde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mental 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bem-estar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biopsicossocial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espiritual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dos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policiais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militares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em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prol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da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construção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uma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cultura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da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Saúde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Mental; </a:t>
            </a: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</a:pPr>
            <a:endParaRPr sz="20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-381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●"/>
            </a:pP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Instrução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Retenção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Contrarretenção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com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efetivo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da 85ª CIPM/LEM 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efetivo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outras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Unidades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. Uma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instrução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a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fim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nivelar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conhecimentos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desenvolvimento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atividades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voltadas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para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defesa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pessoal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dos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policiais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militares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;</a:t>
            </a:r>
          </a:p>
          <a:p>
            <a:pPr marL="0" marR="0" lvl="0" indent="-381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●"/>
            </a:pPr>
            <a:endParaRPr lang="en-US" sz="2000" b="0" i="0" u="none" strike="noStrike" cap="none" dirty="0">
              <a:solidFill>
                <a:schemeClr val="dk1"/>
              </a:solidFill>
              <a:latin typeface="+mj-lt"/>
              <a:ea typeface="Times New Roman"/>
              <a:cs typeface="Times New Roman"/>
              <a:sym typeface="Times New Roman"/>
            </a:endParaRPr>
          </a:p>
          <a:p>
            <a:pPr indent="-38100" algn="just">
              <a:buClr>
                <a:schemeClr val="dk1"/>
              </a:buClr>
              <a:buSzPts val="2200"/>
              <a:buFont typeface="Arial"/>
              <a:buChar char="●"/>
            </a:pPr>
            <a:r>
              <a:rPr lang="pt-BR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Acréscimo no valor destinado a Operação </a:t>
            </a:r>
            <a:r>
              <a:rPr lang="pt-BR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Enischysi</a:t>
            </a:r>
            <a:r>
              <a:rPr lang="pt-BR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(“Aprimoramento”), voltada a intensificação de policiamento para diminuir os índices de CVLI e CVP na cidade de Luís Eduardo Magalhães e São Desidério,</a:t>
            </a:r>
            <a:r>
              <a:rPr lang="pt-BR" sz="2000" b="0" i="0" u="none" strike="noStrike" cap="none" dirty="0">
                <a:solidFill>
                  <a:srgbClr val="FF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pt-BR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permitindo um maior emprego de policiamento, anteriormente reservado somente aos finais de semana, e que passou a abranger um maior quantitativo de policiais militares da </a:t>
            </a:r>
            <a:r>
              <a:rPr lang="pt-BR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UOp</a:t>
            </a:r>
            <a:r>
              <a:rPr lang="pt-BR" sz="2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; </a:t>
            </a:r>
            <a:endParaRPr lang="pt-BR" sz="20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-381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●"/>
            </a:pPr>
            <a:endParaRPr sz="22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120ebcea37_2_21"/>
          <p:cNvSpPr/>
          <p:nvPr/>
        </p:nvSpPr>
        <p:spPr>
          <a:xfrm>
            <a:off x="0" y="0"/>
            <a:ext cx="501300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g3120ebcea37_2_21"/>
          <p:cNvSpPr txBox="1"/>
          <p:nvPr/>
        </p:nvSpPr>
        <p:spPr>
          <a:xfrm>
            <a:off x="900112" y="741362"/>
            <a:ext cx="86931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Busca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g3120ebcea37_2_21"/>
          <p:cNvSpPr txBox="1"/>
          <p:nvPr/>
        </p:nvSpPr>
        <p:spPr>
          <a:xfrm rot="-5400000">
            <a:off x="-2435925" y="3305825"/>
            <a:ext cx="53658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HISTÓRICO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g3120ebcea37_2_21"/>
          <p:cNvSpPr txBox="1"/>
          <p:nvPr/>
        </p:nvSpPr>
        <p:spPr>
          <a:xfrm>
            <a:off x="900112" y="1644650"/>
            <a:ext cx="10609200" cy="5047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</a:pPr>
            <a:r>
              <a:rPr lang="en-US" sz="3000" b="1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2022</a:t>
            </a:r>
            <a:endParaRPr sz="3000" b="1" i="0" u="none" strike="noStrike" cap="none" dirty="0">
              <a:solidFill>
                <a:schemeClr val="dk1"/>
              </a:solidFill>
              <a:latin typeface="+mj-lt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</a:pPr>
            <a:endParaRPr sz="1600" dirty="0">
              <a:solidFill>
                <a:schemeClr val="dk1"/>
              </a:solidFill>
              <a:latin typeface="+mj-lt"/>
              <a:ea typeface="Times New Roman"/>
              <a:cs typeface="Times New Roman"/>
              <a:sym typeface="Times New Roman"/>
            </a:endParaRPr>
          </a:p>
          <a:p>
            <a:pPr marL="457200" lvl="0" indent="-3746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endParaRPr lang="en-US" sz="2300" dirty="0">
              <a:solidFill>
                <a:schemeClr val="dk1"/>
              </a:solidFill>
              <a:latin typeface="+mj-lt"/>
              <a:ea typeface="Times New Roman"/>
              <a:cs typeface="Times New Roman"/>
              <a:sym typeface="Times New Roman"/>
            </a:endParaRPr>
          </a:p>
          <a:p>
            <a:pPr marL="457200" lvl="0" indent="-3746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lang="pt-BR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Renovação da frota de veículos da Unidade; </a:t>
            </a:r>
            <a:endParaRPr lang="pt-BR" sz="2300" dirty="0">
              <a:solidFill>
                <a:schemeClr val="dk1"/>
              </a:solidFill>
              <a:latin typeface="+mj-lt"/>
            </a:endParaRPr>
          </a:p>
          <a:p>
            <a:pPr marL="457200" lvl="0" indent="-3746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Aquisição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cadeiras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para o Rancho,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através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compra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realizada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pela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Unidade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Gestora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possibilitando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a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substituição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parte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do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mobiliário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, que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já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se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encontrava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altamente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depreciado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; </a:t>
            </a:r>
            <a:endParaRPr sz="2300" dirty="0">
              <a:solidFill>
                <a:schemeClr val="dk1"/>
              </a:solidFill>
              <a:latin typeface="+mj-lt"/>
            </a:endParaRPr>
          </a:p>
          <a:p>
            <a:pPr marL="457200" lvl="0" indent="-3746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Aquisição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cafeteira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industrial para o rancho,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através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compra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realizada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pela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Unidade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Gestora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possibilitando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a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substituição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parte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do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mobiliário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, que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já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se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encontrava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altamente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depreciado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.</a:t>
            </a:r>
            <a:endParaRPr sz="2300" dirty="0">
              <a:solidFill>
                <a:schemeClr val="dk1"/>
              </a:solidFill>
              <a:latin typeface="+mj-lt"/>
            </a:endParaRPr>
          </a:p>
          <a:p>
            <a:pPr marL="457200" lvl="0" indent="-3746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Aquisição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25 HTs para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atividade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operacional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através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compra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realizada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pela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Unidade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Gestora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possibilitando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o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aprimoramento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da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comunicação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nos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serviços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300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diários</a:t>
            </a:r>
            <a:r>
              <a:rPr lang="en-US" sz="2300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. </a:t>
            </a:r>
            <a:endParaRPr sz="2300" dirty="0">
              <a:solidFill>
                <a:schemeClr val="dk1"/>
              </a:solidFill>
              <a:latin typeface="+mj-lt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300" dirty="0">
              <a:solidFill>
                <a:schemeClr val="dk1"/>
              </a:solidFill>
              <a:latin typeface="+mj-lt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1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1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Busca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21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HISTÓRICO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21"/>
          <p:cNvSpPr txBox="1"/>
          <p:nvPr/>
        </p:nvSpPr>
        <p:spPr>
          <a:xfrm>
            <a:off x="900112" y="1366837"/>
            <a:ext cx="10767900" cy="4862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3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2023</a:t>
            </a:r>
            <a:endParaRPr sz="30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-38100" algn="just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Início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das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tratativas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para 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implantação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escola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gestão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compartilhada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na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Escola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Onero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Costa da Rosa. Escola que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está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situada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num bairro popular de LEM,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tal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iniciativa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busca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estreitar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o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relacionamento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com 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comunidade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solidificar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imagem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corporação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como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uma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instituição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que prima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por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valores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tais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como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disciplina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civismo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. </a:t>
            </a:r>
            <a:endParaRPr sz="2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-381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Reforma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no PPM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Roda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Velha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com 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construção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uma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local </a:t>
            </a:r>
            <a:endParaRPr sz="2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 </a:t>
            </a:r>
            <a:endParaRPr sz="2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30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2024</a:t>
            </a:r>
            <a:endParaRPr sz="30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 </a:t>
            </a:r>
            <a:endParaRPr sz="2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Em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fevereiro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iniciaram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-se as aulas da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primeira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Escola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Modelo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CPM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em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 Luís Eduardo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Magalhães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. </a:t>
            </a:r>
            <a:endParaRPr sz="24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1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1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Busca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21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HISTÓRICO DA EXCELÊNCIA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21"/>
          <p:cNvSpPr txBox="1"/>
          <p:nvPr/>
        </p:nvSpPr>
        <p:spPr>
          <a:xfrm>
            <a:off x="900112" y="1366837"/>
            <a:ext cx="10767900" cy="4862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2025</a:t>
            </a:r>
            <a:endParaRPr sz="30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Criação do 27º Batalhão de Polícia Militar pela Lei Estadual nº 14.962, de 05/09/2025, e implantação em Luís Eduardo Magalhães em 08/09/2025 (Decreto nº 23.976), elevando a antiga 85ª CIPM a Batalhão;</a:t>
            </a:r>
            <a:endParaRPr sz="30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Reestruturação das companhias: 1ª, 2ª e 3ª CIAs em LEM e 4ª CIA Destacada em São Desidério (Roda Velha e Sítio Grande);</a:t>
            </a:r>
            <a:endParaRPr sz="30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2026</a:t>
            </a:r>
            <a:endParaRPr sz="30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Portaria nº 026-CG/2026: criação da Coordenação de Planejamento Operacional e Instrução (CPOI) e da Coordenação de Apoio Administrativo (CAA);</a:t>
            </a:r>
            <a:endParaRPr sz="30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Capacitação: instrução com Fuzil ARAD 7, Curso Básico de Motociclista Policial e Curso Básico de Emprego Tático Operacional;</a:t>
            </a:r>
            <a:endParaRPr sz="30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Lançamento do Projeto Saúde no Quartel (biênio 2026/2027) e consolidação da CETO, Ronda Escolar e Ronda Maria da Penha (Sala Lilás).</a:t>
            </a:r>
            <a:endParaRPr sz="3000"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3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3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Desafios Estratégicos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3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DESAFIOS ESTRATÉGICOS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23"/>
          <p:cNvSpPr txBox="1"/>
          <p:nvPr/>
        </p:nvSpPr>
        <p:spPr>
          <a:xfrm>
            <a:off x="1146175" y="2136775"/>
            <a:ext cx="10175700" cy="36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3937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imes New Roman"/>
              <a:buAutoNum type="arabicPeriod"/>
            </a:pP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Recompletar o efetivo fixado pela Portaria nº 026-CG/2026: hoje são 149 dos 300 policiais previstos (49,7%);</a:t>
            </a:r>
            <a:endParaRPr sz="2600" dirty="0">
              <a:latin typeface="+mj-lt"/>
            </a:endParaRPr>
          </a:p>
          <a:p>
            <a:pPr marL="457200" marR="0" lvl="0" indent="-3937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imes New Roman"/>
              <a:buAutoNum type="arabicPeriod"/>
            </a:pP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Ampliar a frota de viaturas e captar recursos para a reforma da sede (convênios ou emendas parlamentares);</a:t>
            </a:r>
            <a:endParaRPr sz="2600" dirty="0">
              <a:latin typeface="+mj-lt"/>
            </a:endParaRPr>
          </a:p>
          <a:p>
            <a:pPr marL="457200" marR="0" lvl="0" indent="-3937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imes New Roman"/>
              <a:buAutoNum type="arabicPeriod"/>
            </a:pP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Adquirir equipamentos para atuação preventiva e de inteligência (câmera de alta definição, edição, drone) e um servidor de arquivos;</a:t>
            </a:r>
            <a:endParaRPr sz="2600" dirty="0">
              <a:latin typeface="+mj-lt"/>
            </a:endParaRPr>
          </a:p>
          <a:p>
            <a:pPr marL="457200" marR="0" lvl="0" indent="-3937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imes New Roman"/>
              <a:buAutoNum type="arabicPeriod"/>
            </a:pP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Reativar o CONSEG de São Desidério (≈160 povoados) e estimular conselhos de bairro em LEM;</a:t>
            </a:r>
            <a:endParaRPr sz="2600" dirty="0">
              <a:latin typeface="+mj-lt"/>
            </a:endParaRPr>
          </a:p>
          <a:p>
            <a:pPr marL="457200" marR="0" lvl="0" indent="-3937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imes New Roman"/>
              <a:buAutoNum type="arabicPeriod"/>
            </a:pP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Cumprir integralmente as Portarias CG nº 067/2011 (jornada), 046/2014 e 052/2011 diante do reduzido número de oficiais;</a:t>
            </a:r>
            <a:endParaRPr sz="2600" dirty="0">
              <a:latin typeface="+mj-lt"/>
            </a:endParaRPr>
          </a:p>
          <a:p>
            <a:pPr marL="457200" marR="0" lvl="0" indent="-3937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imes New Roman"/>
              <a:buAutoNum type="arabicPeriod"/>
            </a:pPr>
            <a:r>
              <a:rPr lang="en-US" sz="2000" b="0" i="0" u="none" strike="noStrike" cap="none" dirty="0" err="1">
                <a:solidFill>
                  <a:schemeClr val="dk1"/>
                </a:solidFill>
                <a:latin typeface="+mj-lt"/>
                <a:ea typeface="Times New Roman"/>
                <a:cs typeface="Times New Roman"/>
                <a:sym typeface="Times New Roman"/>
              </a:rPr>
              <a:t>Manter a tendência de redução de CVLI (−20% de jan a ago/2026).</a:t>
            </a:r>
            <a:endParaRPr sz="2600" dirty="0">
              <a:latin typeface="+mj-lt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5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5"/>
          <p:cNvSpPr txBox="1"/>
          <p:nvPr/>
        </p:nvSpPr>
        <p:spPr>
          <a:xfrm>
            <a:off x="900111" y="741362"/>
            <a:ext cx="11168063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b="0" i="0" u="none" strike="noStrike" cap="none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Parada Matinal com efetivo de Serviço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5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PROCESSOS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5"/>
          <p:cNvSpPr txBox="1"/>
          <p:nvPr/>
        </p:nvSpPr>
        <p:spPr>
          <a:xfrm>
            <a:off x="801257" y="1947113"/>
            <a:ext cx="11025823" cy="4401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pt-BR" sz="2800" dirty="0">
                <a:latin typeface="+mj-lt"/>
              </a:rPr>
              <a:t>Em todas as assunções de serviço </a:t>
            </a:r>
            <a:r>
              <a:rPr lang="pt-BR" sz="2800" b="1" dirty="0">
                <a:latin typeface="+mj-lt"/>
              </a:rPr>
              <a:t>o efetivo do pelotão </a:t>
            </a:r>
            <a:r>
              <a:rPr lang="pt-BR" sz="2800" dirty="0">
                <a:latin typeface="+mj-lt"/>
              </a:rPr>
              <a:t>que entra de serviço é colocado em forma para a preleção, </a:t>
            </a:r>
            <a:r>
              <a:rPr lang="pt-BR" sz="2800" b="1" dirty="0">
                <a:latin typeface="+mj-lt"/>
              </a:rPr>
              <a:t>no pátio da sede </a:t>
            </a:r>
            <a:r>
              <a:rPr lang="pt-BR" sz="2800" dirty="0">
                <a:latin typeface="+mj-lt"/>
              </a:rPr>
              <a:t>da Unidade para o efetivo que assume na sede, e no pátio dos Destacamentos Policiais Militares (DPM) para os policiais que assumem o serviço nesses locais. Nesse momento, são </a:t>
            </a:r>
            <a:r>
              <a:rPr lang="pt-BR" sz="2800" b="1" dirty="0">
                <a:latin typeface="+mj-lt"/>
              </a:rPr>
              <a:t>transmitidas as recomendações do Comando e do escalão superior para o serviço, divulgadas informações importantes, reiterados os Procedimentos Operacionais Padrão, </a:t>
            </a:r>
            <a:r>
              <a:rPr lang="pt-BR" sz="2800" dirty="0">
                <a:latin typeface="+mj-lt"/>
              </a:rPr>
              <a:t>bem como são reforçados os valores institucionais, como por exemplo a </a:t>
            </a:r>
            <a:r>
              <a:rPr lang="pt-BR" sz="2800" b="1" dirty="0">
                <a:latin typeface="+mj-lt"/>
              </a:rPr>
              <a:t>cerimônia de hasteamento do pavilhão nacional</a:t>
            </a:r>
            <a:r>
              <a:rPr lang="pt-BR" sz="2800" dirty="0">
                <a:latin typeface="+mj-lt"/>
              </a:rPr>
              <a:t>, na sede. 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5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5"/>
          <p:cNvSpPr txBox="1"/>
          <p:nvPr/>
        </p:nvSpPr>
        <p:spPr>
          <a:xfrm>
            <a:off x="900111" y="741362"/>
            <a:ext cx="11168063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b="0" i="0" u="none" strike="noStrike" cap="none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Parada Matinal com efetivo de Serviço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5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PROCESSOS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5"/>
          <p:cNvSpPr txBox="1"/>
          <p:nvPr/>
        </p:nvSpPr>
        <p:spPr>
          <a:xfrm>
            <a:off x="801257" y="1947113"/>
            <a:ext cx="11025823" cy="3970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pt-BR" sz="2800" dirty="0"/>
              <a:t>Além disso, são transmitidas orientações sobre a conduta durante o serviço. </a:t>
            </a:r>
            <a:r>
              <a:rPr lang="pt-BR" sz="2800" b="1" dirty="0"/>
              <a:t>São registradas imagens da preleção com a tropa, bem como, das assunções de serviço nos </a:t>
            </a:r>
            <a:r>
              <a:rPr lang="pt-BR" sz="2800" b="1" dirty="0" err="1"/>
              <a:t>DPMs</a:t>
            </a:r>
            <a:r>
              <a:rPr lang="pt-BR" sz="2800" b="1" dirty="0"/>
              <a:t>, as quais são divulgadas no grupo de mensagens do BPM “Minuto-a-Minuto</a:t>
            </a:r>
            <a:r>
              <a:rPr lang="pt-BR" sz="2800" dirty="0"/>
              <a:t>”. A comunicação social divulga, após seleção, parte dessas imagens nas redes sociais da UOE, com o objetivo fortalecer a imagem institucional frente ao público externo, que consegue visualizar uma parcela da rotina da UOE quando se prepara para iniciar a jornada de serviço</a:t>
            </a:r>
          </a:p>
        </p:txBody>
      </p:sp>
    </p:spTree>
    <p:extLst>
      <p:ext uri="{BB962C8B-B14F-4D97-AF65-F5344CB8AC3E}">
        <p14:creationId xmlns:p14="http://schemas.microsoft.com/office/powerpoint/2010/main" val="22167833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5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5"/>
          <p:cNvSpPr txBox="1"/>
          <p:nvPr/>
        </p:nvSpPr>
        <p:spPr>
          <a:xfrm>
            <a:off x="900112" y="741362"/>
            <a:ext cx="11025822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b="0" i="0" u="none" strike="noStrike" cap="none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Visita às instalações da unidade e acompanhamento operacional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5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PROCESSOS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5"/>
          <p:cNvSpPr txBox="1"/>
          <p:nvPr/>
        </p:nvSpPr>
        <p:spPr>
          <a:xfrm>
            <a:off x="1050324" y="2182525"/>
            <a:ext cx="10280822" cy="249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>
              <a:buClr>
                <a:srgbClr val="000000"/>
              </a:buClr>
              <a:tabLst>
                <a:tab pos="125730" algn="l"/>
              </a:tabLst>
            </a:pPr>
            <a:r>
              <a:rPr lang="pt-BR" sz="2600" dirty="0">
                <a:effectLst/>
                <a:latin typeface="Noto Sans Symbols" panose="020B0604020202020204" charset="0"/>
                <a:ea typeface="Noto Sans Symbols" panose="020B0604020202020204" charset="0"/>
                <a:cs typeface="Noto Sans Symbols" panose="020B0604020202020204" charset="0"/>
              </a:rPr>
              <a:t>O Subcomandante da Unidade, no início do expediente, visita as instalações da sede da Unidade, cumprimentando os policiais e verificando com o Oficial Coordenador de área se todos os policias estão aptos para o serviço, se todas as viaturas estão em pleno funcionamento ou se existe algum tipo de intercorrência que seja relevante ao serviço operacional. </a:t>
            </a:r>
            <a:endParaRPr lang="pt-BR" sz="2600" b="1" dirty="0">
              <a:effectLst/>
              <a:latin typeface="Noto Sans Symbols" panose="020B0604020202020204" charset="0"/>
              <a:ea typeface="Noto Sans Symbols" panose="020B0604020202020204" charset="0"/>
              <a:cs typeface="Noto Sans Symbols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17766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5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5"/>
          <p:cNvSpPr txBox="1"/>
          <p:nvPr/>
        </p:nvSpPr>
        <p:spPr>
          <a:xfrm>
            <a:off x="900112" y="741362"/>
            <a:ext cx="11025822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b="0" i="0" u="none" strike="noStrike" cap="none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Visita às instalações da unidade e acompanhamento operacional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5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PROCESSOS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5"/>
          <p:cNvSpPr txBox="1"/>
          <p:nvPr/>
        </p:nvSpPr>
        <p:spPr>
          <a:xfrm>
            <a:off x="1050324" y="2182525"/>
            <a:ext cx="10280822" cy="289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>
              <a:buClr>
                <a:srgbClr val="000000"/>
              </a:buClr>
              <a:tabLst>
                <a:tab pos="125730" algn="l"/>
              </a:tabLst>
            </a:pPr>
            <a:r>
              <a:rPr lang="pt-BR" sz="2600" dirty="0">
                <a:effectLst/>
                <a:latin typeface="Noto Sans Symbols" panose="020B0604020202020204" charset="0"/>
                <a:ea typeface="Noto Sans Symbols" panose="020B0604020202020204" charset="0"/>
                <a:cs typeface="Noto Sans Symbols" panose="020B0604020202020204" charset="0"/>
              </a:rPr>
              <a:t>Em seguida, dirige-se as seções a fim de passar orientações e diligenciar com cada chefe de seção as principais demandas administrativas do dia. Ressalta-se que as bases destacadas, são visitadas bimestralmente, em virtude da grande distância da sede da Unidade, e os PMs ali lotados tem o dever de fotografar a assunção de serviço, diariamente, bem como, informar, via celular, qualquer incongruência, atrelado à fotos.</a:t>
            </a:r>
            <a:endParaRPr lang="pt-BR" sz="2600" b="1" dirty="0">
              <a:effectLst/>
              <a:latin typeface="Noto Sans Symbols" panose="020B0604020202020204" charset="0"/>
              <a:ea typeface="Noto Sans Symbols" panose="020B0604020202020204" charset="0"/>
              <a:cs typeface="Noto Sans Symbols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23189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5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5"/>
          <p:cNvSpPr txBox="1"/>
          <p:nvPr/>
        </p:nvSpPr>
        <p:spPr>
          <a:xfrm>
            <a:off x="900112" y="741362"/>
            <a:ext cx="1102582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 dirty="0" err="1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Reunião</a:t>
            </a:r>
            <a:r>
              <a:rPr lang="en-US" sz="2800" b="0" i="0" u="none" strike="noStrike" cap="none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 de </a:t>
            </a:r>
            <a:r>
              <a:rPr lang="en-US" sz="2800" b="0" i="0" u="none" strike="noStrike" cap="none" dirty="0" err="1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avaliação</a:t>
            </a:r>
            <a:r>
              <a:rPr lang="en-US" sz="2800" b="0" i="0" u="none" strike="noStrike" cap="none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 </a:t>
            </a:r>
            <a:r>
              <a:rPr lang="en-US" sz="2800" b="0" i="0" u="none" strike="noStrike" cap="none" dirty="0" err="1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anual</a:t>
            </a: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5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PROCESSOS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5"/>
          <p:cNvSpPr txBox="1"/>
          <p:nvPr/>
        </p:nvSpPr>
        <p:spPr>
          <a:xfrm>
            <a:off x="900112" y="1970659"/>
            <a:ext cx="9992497" cy="2477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pt-BR" sz="2600" dirty="0"/>
              <a:t>Na primeira quinzena do ano é realizada a Reunião de Avaliação Anual, com vistas a analisar os pontos positivos e oportunidades de melhoria referentes às ações do ano anterior.</a:t>
            </a:r>
            <a:br>
              <a:rPr lang="pt-BR" sz="2600" dirty="0"/>
            </a:br>
            <a:r>
              <a:rPr lang="pt-BR" sz="2600" dirty="0"/>
              <a:t>Dessa reunião resulta o relatório anual de produtividade e gestão da unidade, o qual irá subsidiar a produção do Plano de Gestão do ano seguinte.</a:t>
            </a:r>
          </a:p>
        </p:txBody>
      </p:sp>
    </p:spTree>
    <p:extLst>
      <p:ext uri="{BB962C8B-B14F-4D97-AF65-F5344CB8AC3E}">
        <p14:creationId xmlns:p14="http://schemas.microsoft.com/office/powerpoint/2010/main" val="17836912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5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5"/>
          <p:cNvSpPr txBox="1"/>
          <p:nvPr/>
        </p:nvSpPr>
        <p:spPr>
          <a:xfrm>
            <a:off x="900112" y="746125"/>
            <a:ext cx="1102582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E</a:t>
            </a:r>
            <a:r>
              <a:rPr lang="pt-BR" sz="2800" b="0" i="0" u="none" strike="noStrike" cap="none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laboração do plano de gestão anual</a:t>
            </a: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5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PROCESSOS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5"/>
          <p:cNvSpPr txBox="1"/>
          <p:nvPr/>
        </p:nvSpPr>
        <p:spPr>
          <a:xfrm>
            <a:off x="900112" y="1970659"/>
            <a:ext cx="9992497" cy="2092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pt-BR" sz="2600" dirty="0"/>
              <a:t>No mês de dezembro as reuniões semanais têm atenção especial para a elaboração do Plano de Comando do ano seguinte. São estabelecidas ações e metas a serem executados e alcançados pela gestão no respectivo ano, em alinhamento com o Plano de Comando da Unidade.</a:t>
            </a:r>
          </a:p>
        </p:txBody>
      </p:sp>
    </p:spTree>
    <p:extLst>
      <p:ext uri="{BB962C8B-B14F-4D97-AF65-F5344CB8AC3E}">
        <p14:creationId xmlns:p14="http://schemas.microsoft.com/office/powerpoint/2010/main" val="32132714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5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5"/>
          <p:cNvSpPr txBox="1"/>
          <p:nvPr/>
        </p:nvSpPr>
        <p:spPr>
          <a:xfrm>
            <a:off x="900112" y="746125"/>
            <a:ext cx="1102582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Ouvidoria setorial</a:t>
            </a: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5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PROCESSOS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5"/>
          <p:cNvSpPr txBox="1"/>
          <p:nvPr/>
        </p:nvSpPr>
        <p:spPr>
          <a:xfrm>
            <a:off x="900112" y="1674097"/>
            <a:ext cx="9992497" cy="4893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pt-BR" sz="2600" dirty="0"/>
              <a:t>Ao surgir uma demanda </a:t>
            </a:r>
            <a:r>
              <a:rPr lang="pt-BR" sz="2600" b="1" dirty="0"/>
              <a:t>(positiva ou negativa) </a:t>
            </a:r>
            <a:r>
              <a:rPr lang="pt-BR" sz="2600" dirty="0"/>
              <a:t>dos nossos clientes, via </a:t>
            </a:r>
            <a:r>
              <a:rPr lang="pt-BR" sz="2600" dirty="0" err="1"/>
              <a:t>Conseg</a:t>
            </a:r>
            <a:r>
              <a:rPr lang="pt-BR" sz="2600" dirty="0"/>
              <a:t>, contato telefônico ou via mensagem com o operador da </a:t>
            </a:r>
            <a:r>
              <a:rPr lang="pt-BR" sz="2600" dirty="0" err="1"/>
              <a:t>Cenop</a:t>
            </a:r>
            <a:r>
              <a:rPr lang="pt-BR" sz="2600" dirty="0"/>
              <a:t>, redes sociais ou pessoalmente na sede da UOPM, as informações são encaminhadas para o Subcomandante da Unidade e para a Corregedoria Setorial e Ouvidoria, onde são tratados o teor da informação, que pode desencadear instrução, apuração ou elogio. </a:t>
            </a:r>
          </a:p>
          <a:p>
            <a:pPr algn="just"/>
            <a:endParaRPr lang="pt-BR" sz="2600" dirty="0"/>
          </a:p>
          <a:p>
            <a:pPr algn="just"/>
            <a:r>
              <a:rPr lang="pt-BR" sz="2600" dirty="0"/>
              <a:t>Tais medidas são divulgadas, conforme sua natureza, sendo os </a:t>
            </a:r>
            <a:r>
              <a:rPr lang="pt-BR" sz="2600" b="1" dirty="0"/>
              <a:t>elogios e instruções publicizados </a:t>
            </a:r>
            <a:r>
              <a:rPr lang="pt-BR" sz="2600" dirty="0"/>
              <a:t>nas paradas mensais e nas redes sociais da UOPM, e as apurações são registradas em </a:t>
            </a:r>
            <a:r>
              <a:rPr lang="pt-BR" sz="2600" b="1" dirty="0"/>
              <a:t>Boletim Interno Ostensivo (BIO).</a:t>
            </a:r>
          </a:p>
        </p:txBody>
      </p:sp>
    </p:spTree>
    <p:extLst>
      <p:ext uri="{BB962C8B-B14F-4D97-AF65-F5344CB8AC3E}">
        <p14:creationId xmlns:p14="http://schemas.microsoft.com/office/powerpoint/2010/main" val="29618295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5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5"/>
          <p:cNvSpPr txBox="1"/>
          <p:nvPr/>
        </p:nvSpPr>
        <p:spPr>
          <a:xfrm>
            <a:off x="900112" y="746125"/>
            <a:ext cx="11025822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b="0" i="0" u="none" strike="noStrike" cap="none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Reunião do conselho comunitário de segurança </a:t>
            </a:r>
            <a:r>
              <a:rPr lang="pt-BR" sz="2800" b="0" i="0" u="none" strike="noStrike" cap="none" dirty="0" smtClean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(</a:t>
            </a:r>
            <a:r>
              <a:rPr lang="pt-BR" sz="2800" dirty="0" smtClean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CONSEG</a:t>
            </a:r>
            <a:r>
              <a:rPr lang="pt-BR" sz="2800" b="0" i="0" u="none" strike="noStrike" cap="none" dirty="0" smtClean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)</a:t>
            </a:r>
            <a:endParaRPr lang="pt-B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5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PROCESSOS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5"/>
          <p:cNvSpPr txBox="1"/>
          <p:nvPr/>
        </p:nvSpPr>
        <p:spPr>
          <a:xfrm>
            <a:off x="900112" y="1719865"/>
            <a:ext cx="9992497" cy="52937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pt-BR" sz="2600" dirty="0"/>
              <a:t>Realização de reunião semestral presidida pelo Comandante da UOPM, com vistas à </a:t>
            </a:r>
            <a:r>
              <a:rPr lang="pt-BR" sz="2600" b="1" dirty="0"/>
              <a:t>análise de sugestões de medidas voltadas à elaboração da Política de Segurança Pública</a:t>
            </a:r>
            <a:r>
              <a:rPr lang="pt-BR" sz="2600" dirty="0"/>
              <a:t> aplicáveis aos municípios que integram a área de responsabilidade territorial da OPM, possibilitando o conhecimento das expectativas da comunidade e a antecipação no seu atendimento, além de zelar pela efetividade das ações voltadas à prevenção da violência e combate à criminalidade. </a:t>
            </a:r>
          </a:p>
          <a:p>
            <a:pPr algn="just"/>
            <a:endParaRPr lang="pt-BR" sz="2600" dirty="0"/>
          </a:p>
          <a:p>
            <a:pPr algn="just"/>
            <a:r>
              <a:rPr lang="pt-BR" sz="2600" dirty="0"/>
              <a:t>Com as informações geradas nas reuniões o comandante </a:t>
            </a:r>
            <a:r>
              <a:rPr lang="pt-BR" sz="2600" b="1" dirty="0"/>
              <a:t>convoca o STAFF e executa o planejamento das operações ou ações com o objetivo de resolver ou minimizar os problemas.</a:t>
            </a:r>
          </a:p>
        </p:txBody>
      </p:sp>
    </p:spTree>
    <p:extLst>
      <p:ext uri="{BB962C8B-B14F-4D97-AF65-F5344CB8AC3E}">
        <p14:creationId xmlns:p14="http://schemas.microsoft.com/office/powerpoint/2010/main" val="31349156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7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7"/>
          <p:cNvSpPr txBox="1"/>
          <p:nvPr/>
        </p:nvSpPr>
        <p:spPr>
          <a:xfrm>
            <a:off x="900112" y="605438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S</a:t>
            </a:r>
            <a:r>
              <a:rPr lang="en-US" sz="2800" b="0" i="0" u="none" strike="noStrike" cap="none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ocial e </a:t>
            </a:r>
            <a:r>
              <a:rPr lang="en-US" sz="2800" b="0" i="0" u="none" strike="noStrike" cap="none" dirty="0" err="1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ambiental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27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RESULTADOS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27"/>
          <p:cNvSpPr txBox="1"/>
          <p:nvPr/>
        </p:nvSpPr>
        <p:spPr>
          <a:xfrm>
            <a:off x="625178" y="1574988"/>
            <a:ext cx="6418173" cy="5262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/>
              <a:buNone/>
            </a:pPr>
            <a:r>
              <a:rPr lang="pt-BR" sz="2400" b="1" dirty="0"/>
              <a:t>Quantidade de crianças atendidas pelo Projeto por ano</a:t>
            </a: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/>
              <a:buNone/>
            </a:pPr>
            <a:endParaRPr lang="pt-BR" sz="2400" b="1" dirty="0"/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/>
              <a:buNone/>
            </a:pPr>
            <a:r>
              <a:rPr lang="pt-BR" sz="2400" b="1" dirty="0"/>
              <a:t>O Projeto Lutando Bem,</a:t>
            </a:r>
            <a:r>
              <a:rPr lang="pt-BR" sz="2400" dirty="0"/>
              <a:t> é realizado pela 27º BPM, oferece aulas de judô para crianças com o objetivo de promover disciplina, respeito, autoconfiança e cidadania. A iniciativa busca desviar jovens de situações de vulnerabilidade, oferecendo uma atividade estruturada que contribui para o desenvolvimento físico e mental. Além disso, o projeto fortalece o vínculo entre a comunidade e a Polícia Militar, promovendo uma relação de confiança e cooperação.</a:t>
            </a:r>
            <a:endParaRPr sz="2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3B744D50-EB37-A07F-3DAA-D3843A0B9F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5209" y="1759300"/>
            <a:ext cx="4176106" cy="4154943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7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7"/>
          <p:cNvSpPr txBox="1"/>
          <p:nvPr/>
        </p:nvSpPr>
        <p:spPr>
          <a:xfrm>
            <a:off x="900112" y="605438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Resultado relativo a clientes e mercados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27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RESULTADOS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27"/>
          <p:cNvSpPr txBox="1"/>
          <p:nvPr/>
        </p:nvSpPr>
        <p:spPr>
          <a:xfrm>
            <a:off x="900112" y="1759300"/>
            <a:ext cx="6418173" cy="46473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pt-BR" sz="2400" b="1" dirty="0"/>
              <a:t>Ronda escolar - Quantidade de escolas atendidas por ano</a:t>
            </a:r>
          </a:p>
          <a:p>
            <a:endParaRPr lang="pt-BR" sz="2400" b="1" dirty="0"/>
          </a:p>
          <a:p>
            <a:pPr algn="just"/>
            <a:r>
              <a:rPr lang="pt-BR" sz="2000" dirty="0"/>
              <a:t>A Ronda Escolar da 27º BPM de Luís Eduardo Magalhães é uma iniciativa da Polícia Militar focada na segurança e na promoção de um ambiente pacífico nas escolas locais. Por meio de patrulhamentos regulares, visitas e ações educativas, a equipe atua para prevenir a violência, orientar sobre o combate ao bullying e ao uso de drogas e fortalecer o vínculo entre a polícia, estudantes, professores e familiares. </a:t>
            </a:r>
            <a:endParaRPr lang="pt-BR" sz="2400" dirty="0"/>
          </a:p>
          <a:p>
            <a:endParaRPr lang="pt-BR" sz="2400" dirty="0"/>
          </a:p>
          <a:p>
            <a:endParaRPr lang="pt-BR" sz="40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5593294B-8717-8B54-CCB8-ADE33F1578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4133" y="1112005"/>
            <a:ext cx="2978258" cy="5294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3201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7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7"/>
          <p:cNvSpPr txBox="1"/>
          <p:nvPr/>
        </p:nvSpPr>
        <p:spPr>
          <a:xfrm>
            <a:off x="900112" y="605438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Resultado relativo a clientes e mercados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27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RESULTADOS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27"/>
          <p:cNvSpPr txBox="1"/>
          <p:nvPr/>
        </p:nvSpPr>
        <p:spPr>
          <a:xfrm>
            <a:off x="900112" y="1722230"/>
            <a:ext cx="6418173" cy="46473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pt-BR" sz="2400" b="1" dirty="0"/>
              <a:t>Ronda escolar - Quantidade de escolas atendidas por ano</a:t>
            </a:r>
          </a:p>
          <a:p>
            <a:endParaRPr lang="pt-BR" sz="2400" b="1" dirty="0"/>
          </a:p>
          <a:p>
            <a:pPr algn="just"/>
            <a:r>
              <a:rPr lang="pt-BR" sz="2000" dirty="0"/>
              <a:t>A Ronda Escolar da 27º BPM de Luís Eduardo Magalhães é uma iniciativa da Polícia Militar focada na segurança e na promoção de um ambiente pacífico nas escolas locais. Por meio de patrulhamentos regulares, visitas e ações educativas, a equipe atua para prevenir a violência, orientar sobre o combate ao bullying e ao uso de drogas e fortalecer o vínculo entre a polícia, estudantes, professores e familiares. </a:t>
            </a:r>
            <a:endParaRPr lang="pt-BR" sz="2400" dirty="0"/>
          </a:p>
          <a:p>
            <a:endParaRPr lang="pt-BR" sz="2400" dirty="0"/>
          </a:p>
          <a:p>
            <a:r>
              <a:rPr b="1"/>
              <a:t> Em 2026 já são mais de 500 escolas atendidas (947 registros de visitas no formulário de controle).</a:t>
            </a:r>
            <a:endParaRPr lang="pt-BR" sz="40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F9E4A5EA-907F-FC9E-0605-46DC078FB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8815" y="1127725"/>
            <a:ext cx="2440482" cy="543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95456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7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7"/>
          <p:cNvSpPr txBox="1"/>
          <p:nvPr/>
        </p:nvSpPr>
        <p:spPr>
          <a:xfrm>
            <a:off x="900112" y="605438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Resultado relativo a clientes e mercados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27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RESULTADOS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27"/>
          <p:cNvSpPr txBox="1"/>
          <p:nvPr/>
        </p:nvSpPr>
        <p:spPr>
          <a:xfrm>
            <a:off x="900112" y="1564931"/>
            <a:ext cx="4821066" cy="3477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pt-BR" sz="2200" b="1" dirty="0"/>
              <a:t>Quantidade de Punições no BPM/efetivo total:</a:t>
            </a:r>
          </a:p>
          <a:p>
            <a:endParaRPr lang="pt-BR" sz="2200" dirty="0"/>
          </a:p>
          <a:p>
            <a:pPr algn="just"/>
            <a:r>
              <a:rPr lang="pt-BR" sz="2200" dirty="0"/>
              <a:t> A 27º Batalhão de Polícia Militar (27º BPM) destaca-se pelo compromisso com a valorização e integridade de seus policiais, registrando elogios na ficha funcional dos que se destacam e incentivando a excelência no serviço prestado. 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4659E62-C2AD-2904-F462-467C907D3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564931"/>
            <a:ext cx="6083129" cy="3987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9897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7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7"/>
          <p:cNvSpPr txBox="1"/>
          <p:nvPr/>
        </p:nvSpPr>
        <p:spPr>
          <a:xfrm>
            <a:off x="900112" y="605438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Resultado relativo a clientes e mercados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27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RESULTADOS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27"/>
          <p:cNvSpPr txBox="1"/>
          <p:nvPr/>
        </p:nvSpPr>
        <p:spPr>
          <a:xfrm>
            <a:off x="900112" y="1564931"/>
            <a:ext cx="10715239" cy="2462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pt-BR" sz="2200" b="1" dirty="0"/>
              <a:t>Quantidade de Punições no BPM/efetivo total:</a:t>
            </a:r>
          </a:p>
          <a:p>
            <a:endParaRPr lang="pt-BR" sz="2200" dirty="0"/>
          </a:p>
          <a:p>
            <a:pPr algn="just"/>
            <a:r>
              <a:rPr lang="pt-BR" sz="2200" dirty="0"/>
              <a:t> Paralelamente, a unidade adota uma postura rigorosa ao lidar com infrações, encaminhando-as à Corregedoria para assegurar a disciplina e o respeito às normas éticas e legais. Esse equilíbrio entre reconhecimento e correção reflete o compromisso da 27º BPM em manter uma corporação justa e responsável diante da comunidade.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FC01B82F-C40E-0CFF-4810-94CD76F78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475" y="4235450"/>
            <a:ext cx="9983169" cy="2017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3972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7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7"/>
          <p:cNvSpPr txBox="1"/>
          <p:nvPr/>
        </p:nvSpPr>
        <p:spPr>
          <a:xfrm>
            <a:off x="900112" y="605438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Resultado relativo à sociedade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27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RESULTADOS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27"/>
          <p:cNvSpPr txBox="1"/>
          <p:nvPr/>
        </p:nvSpPr>
        <p:spPr>
          <a:xfrm>
            <a:off x="896112" y="1554480"/>
            <a:ext cx="566928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pt-BR" sz="2200" dirty="0" b="1"/>
              <a:t>Redução de CVLI – jan a ago 2025 × 2026</a:t>
            </a:r>
          </a:p>
          <a:p>
            <a:pPr algn="just"/>
            <a:r>
              <a:rPr lang="pt-BR" sz="2200" dirty="0"/>
              <a:t>Comparando os oito primeiros meses, os CVLI caíram de 35 (2025) para 28 (2026), redução de 20%. Os homicídios estão majoritariamente ligados ao tráfico de drogas; a atuação integrada de CETO, SOINT e companhias resultou em prisões e apreensões relevantes (ex.: 9,7 kg de maconha em 25/08/2026).</a:t>
            </a:r>
          </a:p>
        </p:txBody>
      </p:sp>
      <p:graphicFrame>
        <p:nvGraphicFramePr>
          <p:cNvPr id="307" name="Table 306"/>
          <p:cNvGraphicFramePr>
            <a:graphicFrameLocks noGrp="1"/>
          </p:cNvGraphicFramePr>
          <p:nvPr/>
        </p:nvGraphicFramePr>
        <p:xfrm>
          <a:off x="6949440" y="1737360"/>
          <a:ext cx="4389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CVLI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LEM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São Desidério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Roda Velha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Sítio Grande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T="27432" marB="27432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T="27432" marB="27432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T="27432" marB="27432"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3972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7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7"/>
          <p:cNvSpPr txBox="1"/>
          <p:nvPr/>
        </p:nvSpPr>
        <p:spPr>
          <a:xfrm>
            <a:off x="900112" y="605438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pt-BR" sz="2800" dirty="0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Resultado relativo às pessoas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27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RESULTADOS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27"/>
          <p:cNvSpPr txBox="1"/>
          <p:nvPr/>
        </p:nvSpPr>
        <p:spPr>
          <a:xfrm>
            <a:off x="896112" y="1554480"/>
            <a:ext cx="566928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pt-BR" sz="2200" dirty="0" b="1"/>
              <a:t>Corregedoria Setorial – feitos e elogios</a:t>
            </a:r>
          </a:p>
          <a:p>
            <a:pPr algn="just"/>
            <a:r>
              <a:rPr lang="pt-BR" sz="2200" dirty="0"/>
              <a:t>O 27º BPM equilibra o reconhecimento — com elogios registrados na ficha funcional — e a apuração rigorosa de desvios. Em 2026 houve queda nos feitos investigatórios instaurados em relação a 2025.</a:t>
            </a:r>
          </a:p>
        </p:txBody>
      </p:sp>
      <p:graphicFrame>
        <p:nvGraphicFramePr>
          <p:cNvPr id="307" name="Table 306"/>
          <p:cNvGraphicFramePr>
            <a:graphicFrameLocks noGrp="1"/>
          </p:cNvGraphicFramePr>
          <p:nvPr/>
        </p:nvGraphicFramePr>
        <p:xfrm>
          <a:off x="6949440" y="1737360"/>
          <a:ext cx="4389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05840"/>
                <a:gridCol w="10058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Indicador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Feitos investigatórios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  Sindicâncias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  PDS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  IPM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Soluções (total)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Elogios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3972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8"/>
          <p:cNvSpPr txBox="1"/>
          <p:nvPr/>
        </p:nvSpPr>
        <p:spPr>
          <a:xfrm>
            <a:off x="3508375" y="3892550"/>
            <a:ext cx="5326062" cy="369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2F2F2"/>
                </a:solidFill>
                <a:latin typeface="Arial"/>
                <a:ea typeface="Arial"/>
                <a:cs typeface="Arial"/>
                <a:sym typeface="Arial"/>
              </a:rPr>
              <a:t>PMBA, UMA FORÇA A SERVIÇO DO CIDADÃO!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4" name="Google Shape;314;p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00675" y="2322512"/>
            <a:ext cx="1541462" cy="144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67" name="Google Shape;267;p23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3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Perfil da Organização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3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PERFIL DA ORGANIZAÇÃO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70" name="Table 269"/>
          <p:cNvGraphicFramePr>
            <a:graphicFrameLocks noGrp="1"/>
          </p:cNvGraphicFramePr>
          <p:nvPr/>
        </p:nvGraphicFramePr>
        <p:xfrm>
          <a:off x="914400" y="1463040"/>
          <a:ext cx="106070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850392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Descrição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Denominação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27º BPM / Luís Eduardo Magalhães – subordinado ao CPR-O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Lei nº 13.201/2014 (85ª CIPM, instalada em jun/2015); elevada a Batalhão pela Lei nº 14.962, de 05/09/2025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Negócio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Preservação da ordem pública e prevenção à violência e à criminalidade por meio de policiamento ostensivo diuturno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Produtos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Policiamento ostensivo (radiopatrulha e a pé), policiamento comunitário e policiamento de trânsito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Mantenedores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CPR-O; apoio das Prefeituras de LEM e São Desidério e dos CONSEG de LEM e Roda Velha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Concorrência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Não há concorrência direta (competência constitucional); atuação complementar da GCM de LEM e de segurança privada; São Desidério não possui Guarda Municipal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Requisitos legais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CF/1988; Constituição da Bahia/1989; Leis nº 13.201/2014, 14.962/2025 e 7.990/2001 (Estatuto PM)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67" name="Google Shape;267;p23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3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Práticas de Gestão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3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PRÁTICAS DE GESTÃO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70" name="Table 269"/>
          <p:cNvGraphicFramePr>
            <a:graphicFrameLocks noGrp="1"/>
          </p:cNvGraphicFramePr>
          <p:nvPr/>
        </p:nvGraphicFramePr>
        <p:xfrm>
          <a:off x="914400" y="1417320"/>
          <a:ext cx="106070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14400"/>
                <a:gridCol w="7315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Critério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Questão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Prática (código – descrição)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Liderança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1a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10715 – Parada matinal com efetivo de serviço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1b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11240 – POP: criação, aplicação, checagem e adequação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1c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10718 – Revisão dos POP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1d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10719 – Reunião semanal de oficiais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10723 – Relatório bimestral de produtividade e gestão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1f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10725 – Acompanhamento das atividades da Unidade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1g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17168 – Reunião de avaliação anual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Estratégias e Planos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2a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11282 – Análise do Plano de Gestão Anual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2b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10732 – Fale com o Comandante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2c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10735 – Elaboração do Plano de Gestão Anual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2d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10736 – Elaboração e acompanhamento do PGA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1" name="TextBox 270"/>
          <p:cNvSpPr txBox="1"/>
          <p:nvPr/>
        </p:nvSpPr>
        <p:spPr>
          <a:xfrm>
            <a:off x="6400800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>Liderança · Estratégias e Planos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67" name="Google Shape;267;p23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3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Práticas de Gestão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3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PRÁTICAS DE GESTÃO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70" name="Table 269"/>
          <p:cNvGraphicFramePr>
            <a:graphicFrameLocks noGrp="1"/>
          </p:cNvGraphicFramePr>
          <p:nvPr/>
        </p:nvGraphicFramePr>
        <p:xfrm>
          <a:off x="914400" y="1417320"/>
          <a:ext cx="10607040" cy="5120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14400"/>
                <a:gridCol w="7315200"/>
              </a:tblGrid>
              <a:tr h="36575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Critério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Questão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Prática (código – descrição)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Clientes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3a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10813 – Segmentação de clientes: zona urbana e rural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3b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10815 – Levantamento de requisitos em reuniões e visitas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3c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10816 – Divulgação nas mídias sociais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3d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6197 – Ouvidoria setorial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3e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10822 – Gestão participativa e acompanhamento das mídias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Sociedade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4a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10825 – Acompanhamento das publicações oficiais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4b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10827 – Instauração de feitos investigatórios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4c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10829 – Acompanhamento do consumo de energia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4d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6224 – Projeto Lutando Bem (judô)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Informações e Conhecimento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5a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10836 – Reunião com os setores administrativos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5b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10839 – Acesso aos sistemas governamentais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5c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10841 – Sistemas internos com senha pessoal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6575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5d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10843 – Ciclo de treinamento do efetivo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1" name="TextBox 270"/>
          <p:cNvSpPr txBox="1"/>
          <p:nvPr/>
        </p:nvSpPr>
        <p:spPr>
          <a:xfrm>
            <a:off x="6400800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>Clientes · Sociedade · Informações e Conhecimento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67" name="Google Shape;267;p23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3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Práticas de Gestão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3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PRÁTICAS DE GESTÃO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70" name="Table 269"/>
          <p:cNvGraphicFramePr>
            <a:graphicFrameLocks noGrp="1"/>
          </p:cNvGraphicFramePr>
          <p:nvPr/>
        </p:nvGraphicFramePr>
        <p:xfrm>
          <a:off x="914400" y="1417320"/>
          <a:ext cx="106070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14400"/>
                <a:gridCol w="7315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Critério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Questão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Prática (código – descrição)</a:t>
                      </a:r>
                    </a:p>
                  </a:txBody>
                  <a:tcPr marT="27432" marB="27432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Pessoas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6a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10849 – Classificação dos policiais nos locais de trabalho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6b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10850 – Seleção interna de pessoal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6c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10854 – Fichas de conceito e informações para promoção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6d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10855 – Prêmio Policial Padrão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6e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10857 – Programa de atualização técnico-profissional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6f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10858 – Gestão da segurança e saúde no trabalho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6g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10860 – Fale com o Comandante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Processos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7a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10863 – Levantamento de requisitos com partes interessadas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7b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11283 – Relatório de serviço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7c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10867 – Reunião com o staff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7d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10869 – Avaliação dos produtos adquiridos pelo CPR-O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7e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  <a:latin typeface="Arial"/>
                        </a:rPr>
                        <a:t>10873 – Execução orçamentária, patrimônio e plano de compras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71" name="TextBox 270"/>
          <p:cNvSpPr txBox="1"/>
          <p:nvPr/>
        </p:nvSpPr>
        <p:spPr>
          <a:xfrm>
            <a:off x="6400800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1">
                <a:solidFill>
                  <a:srgbClr val="262626"/>
                </a:solidFill>
                <a:latin typeface="Arial"/>
              </a:rPr>
              <a:t>Pessoas · Processos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67" name="Google Shape;267;p23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3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Resultados – Indicadores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3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RESULTADOS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TextBox 269"/>
          <p:cNvSpPr txBox="1"/>
          <p:nvPr/>
        </p:nvSpPr>
        <p:spPr>
          <a:xfrm>
            <a:off x="914400" y="137160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A – Econômico-financeiro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62626"/>
                </a:solidFill>
                <a:latin typeface="Arial"/>
              </a:rPr>
              <a:t>Controle Patrimonial (8.A10310)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% de bens permanentes controlados conforme normas do Estado  (↑ melhor)</a:t>
            </a:r>
          </a:p>
        </p:txBody>
      </p:sp>
      <p:graphicFrame>
        <p:nvGraphicFramePr>
          <p:cNvPr id="271" name="Chart 270"/>
          <p:cNvGraphicFramePr>
            <a:graphicFrameLocks noGrp="1"/>
          </p:cNvGraphicFramePr>
          <p:nvPr/>
        </p:nvGraphicFramePr>
        <p:xfrm>
          <a:off x="914400" y="2468880"/>
          <a:ext cx="512064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2" name="Rounded Rectangle 271"/>
          <p:cNvSpPr/>
          <p:nvPr/>
        </p:nvSpPr>
        <p:spPr>
          <a:xfrm>
            <a:off x="914400" y="5577840"/>
            <a:ext cx="5120640" cy="45720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Meta ≥ 93%  ·  RCP 2024: 99%  ·  RPI: 93%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6400800" y="137160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B – Social e ambiental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62626"/>
                </a:solidFill>
                <a:latin typeface="Arial"/>
              </a:rPr>
              <a:t>Consumo per capita de energia (8.B10303)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kWh consumidos pelo quartel ÷ efetivo  (↓ melhor)</a:t>
            </a:r>
          </a:p>
        </p:txBody>
      </p:sp>
      <p:graphicFrame>
        <p:nvGraphicFramePr>
          <p:cNvPr id="274" name="Chart 273"/>
          <p:cNvGraphicFramePr>
            <a:graphicFrameLocks noGrp="1"/>
          </p:cNvGraphicFramePr>
          <p:nvPr/>
        </p:nvGraphicFramePr>
        <p:xfrm>
          <a:off x="6400800" y="2468880"/>
          <a:ext cx="512064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5" name="Rounded Rectangle 274"/>
          <p:cNvSpPr/>
          <p:nvPr/>
        </p:nvSpPr>
        <p:spPr>
          <a:xfrm>
            <a:off x="6400800" y="5577840"/>
            <a:ext cx="5120640" cy="45720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Meta: redução de 10% ao ano  ·  RPI: 487,40  ·  2025: −26,7%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67" name="Google Shape;267;p23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3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Resultados – Indicadores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3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RESULTADOS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TextBox 269"/>
          <p:cNvSpPr txBox="1"/>
          <p:nvPr/>
        </p:nvSpPr>
        <p:spPr>
          <a:xfrm>
            <a:off x="914400" y="137160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C – Clientes e mercados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62626"/>
                </a:solidFill>
                <a:latin typeface="Arial"/>
              </a:rPr>
              <a:t>Satisfação dos CONSEG (8.C10304)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Respostas satisfatórias ÷ total de respostas (CONSEG LEM e Roda Velha)  (→ melhor)</a:t>
            </a:r>
          </a:p>
        </p:txBody>
      </p:sp>
      <p:graphicFrame>
        <p:nvGraphicFramePr>
          <p:cNvPr id="271" name="Chart 270"/>
          <p:cNvGraphicFramePr>
            <a:graphicFrameLocks noGrp="1"/>
          </p:cNvGraphicFramePr>
          <p:nvPr/>
        </p:nvGraphicFramePr>
        <p:xfrm>
          <a:off x="914400" y="2468880"/>
          <a:ext cx="512064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2" name="Rounded Rectangle 271"/>
          <p:cNvSpPr/>
          <p:nvPr/>
        </p:nvSpPr>
        <p:spPr>
          <a:xfrm>
            <a:off x="914400" y="5577840"/>
            <a:ext cx="5120640" cy="45720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Meta 100%  ·  RCP 2024: 100%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6400800" y="137160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C – Clientes e mercados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62626"/>
                </a:solidFill>
                <a:latin typeface="Arial"/>
              </a:rPr>
              <a:t>Feedback às denúncias – Ouvidoria (8.C12984)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Respostas ÷ denúncias recebidas  (→ melhor)</a:t>
            </a:r>
          </a:p>
        </p:txBody>
      </p:sp>
      <p:graphicFrame>
        <p:nvGraphicFramePr>
          <p:cNvPr id="274" name="Chart 273"/>
          <p:cNvGraphicFramePr>
            <a:graphicFrameLocks noGrp="1"/>
          </p:cNvGraphicFramePr>
          <p:nvPr/>
        </p:nvGraphicFramePr>
        <p:xfrm>
          <a:off x="6400800" y="2468880"/>
          <a:ext cx="512064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5" name="Rounded Rectangle 274"/>
          <p:cNvSpPr/>
          <p:nvPr/>
        </p:nvSpPr>
        <p:spPr>
          <a:xfrm>
            <a:off x="6400800" y="5577840"/>
            <a:ext cx="5120640" cy="45720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Meta 100%  ·  RCP 2024: 100%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67" name="Google Shape;267;p23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3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Resultados – Indicadores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3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RESULTADOS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TextBox 269"/>
          <p:cNvSpPr txBox="1"/>
          <p:nvPr/>
        </p:nvSpPr>
        <p:spPr>
          <a:xfrm>
            <a:off x="914400" y="137160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C – Clientes e mercados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62626"/>
                </a:solidFill>
                <a:latin typeface="Arial"/>
              </a:rPr>
              <a:t>Satisfação dos clientes na área (8.C12987)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Comentários positivos ÷ total (reuniões, Instagram, imprensa)  (↑ melhor)</a:t>
            </a:r>
          </a:p>
        </p:txBody>
      </p:sp>
      <p:graphicFrame>
        <p:nvGraphicFramePr>
          <p:cNvPr id="271" name="Chart 270"/>
          <p:cNvGraphicFramePr>
            <a:graphicFrameLocks noGrp="1"/>
          </p:cNvGraphicFramePr>
          <p:nvPr/>
        </p:nvGraphicFramePr>
        <p:xfrm>
          <a:off x="914400" y="2468880"/>
          <a:ext cx="512064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2" name="Rounded Rectangle 271"/>
          <p:cNvSpPr/>
          <p:nvPr/>
        </p:nvSpPr>
        <p:spPr>
          <a:xfrm>
            <a:off x="914400" y="5577840"/>
            <a:ext cx="5120640" cy="45720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Meta: aumento de 10%  ·  RPI: 90%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6400800" y="137160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D – Pessoas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62626"/>
                </a:solidFill>
                <a:latin typeface="Arial"/>
              </a:rPr>
              <a:t>Policiais com Conceito “E” (8.D10306)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Fichas com conceito E ÷ fichas preenchidas  (→ melhor)</a:t>
            </a:r>
          </a:p>
        </p:txBody>
      </p:sp>
      <p:graphicFrame>
        <p:nvGraphicFramePr>
          <p:cNvPr id="274" name="Chart 273"/>
          <p:cNvGraphicFramePr>
            <a:graphicFrameLocks noGrp="1"/>
          </p:cNvGraphicFramePr>
          <p:nvPr/>
        </p:nvGraphicFramePr>
        <p:xfrm>
          <a:off x="6400800" y="2468880"/>
          <a:ext cx="512064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5" name="Rounded Rectangle 274"/>
          <p:cNvSpPr/>
          <p:nvPr/>
        </p:nvSpPr>
        <p:spPr>
          <a:xfrm>
            <a:off x="6400800" y="5577840"/>
            <a:ext cx="5120640" cy="45720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Meta: manter o percentual  ·  RPI: 100%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67" name="Google Shape;267;p23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3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Resultados – Indicadores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3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RESULTADOS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TextBox 269"/>
          <p:cNvSpPr txBox="1"/>
          <p:nvPr/>
        </p:nvSpPr>
        <p:spPr>
          <a:xfrm>
            <a:off x="914400" y="137160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E – Processos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62626"/>
                </a:solidFill>
                <a:latin typeface="Arial"/>
              </a:rPr>
              <a:t>Metas do Plano de Gestão Anual (8.E10308)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Metas alcançadas ÷ metas do PGA  (↑ melhor)</a:t>
            </a:r>
          </a:p>
        </p:txBody>
      </p:sp>
      <p:graphicFrame>
        <p:nvGraphicFramePr>
          <p:cNvPr id="271" name="Chart 270"/>
          <p:cNvGraphicFramePr>
            <a:graphicFrameLocks noGrp="1"/>
          </p:cNvGraphicFramePr>
          <p:nvPr/>
        </p:nvGraphicFramePr>
        <p:xfrm>
          <a:off x="914400" y="2468880"/>
          <a:ext cx="512064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2" name="Rounded Rectangle 271"/>
          <p:cNvSpPr/>
          <p:nvPr/>
        </p:nvSpPr>
        <p:spPr>
          <a:xfrm>
            <a:off x="914400" y="5577840"/>
            <a:ext cx="5120640" cy="45720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Meta: aumento de 10%  ·  RPI: 60%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6400800" y="137160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E – Processos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62626"/>
                </a:solidFill>
                <a:latin typeface="Arial"/>
              </a:rPr>
              <a:t>Satisfação com produtos adquiridos (8.E12992)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Compras com qualidade satisfatória ÷ compras do CPR-O  (↑ melhor)</a:t>
            </a:r>
          </a:p>
        </p:txBody>
      </p:sp>
      <p:graphicFrame>
        <p:nvGraphicFramePr>
          <p:cNvPr id="274" name="Chart 273"/>
          <p:cNvGraphicFramePr>
            <a:graphicFrameLocks noGrp="1"/>
          </p:cNvGraphicFramePr>
          <p:nvPr/>
        </p:nvGraphicFramePr>
        <p:xfrm>
          <a:off x="6400800" y="2468880"/>
          <a:ext cx="512064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5" name="Rounded Rectangle 274"/>
          <p:cNvSpPr/>
          <p:nvPr/>
        </p:nvSpPr>
        <p:spPr>
          <a:xfrm>
            <a:off x="6400800" y="5577840"/>
            <a:ext cx="5120640" cy="45720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Meta: aumento de 10%  ·  RPI: 70%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67" name="Google Shape;267;p23"/>
          <p:cNvSpPr/>
          <p:nvPr/>
        </p:nvSpPr>
        <p:spPr>
          <a:xfrm>
            <a:off x="0" y="0"/>
            <a:ext cx="501353" cy="6858000"/>
          </a:xfrm>
          <a:prstGeom prst="rect">
            <a:avLst/>
          </a:prstGeom>
          <a:gradFill>
            <a:gsLst>
              <a:gs pos="0">
                <a:schemeClr val="dk1"/>
              </a:gs>
              <a:gs pos="11000">
                <a:schemeClr val="dk1"/>
              </a:gs>
              <a:gs pos="38000">
                <a:srgbClr val="A57C00"/>
              </a:gs>
              <a:gs pos="69000">
                <a:srgbClr val="BF9000"/>
              </a:gs>
              <a:gs pos="90000">
                <a:schemeClr val="accent4"/>
              </a:gs>
              <a:gs pos="100000">
                <a:schemeClr val="accent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3"/>
          <p:cNvSpPr txBox="1"/>
          <p:nvPr/>
        </p:nvSpPr>
        <p:spPr>
          <a:xfrm>
            <a:off x="900112" y="741362"/>
            <a:ext cx="8693150" cy="522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Arial Black"/>
              <a:buNone/>
            </a:pPr>
            <a:r>
              <a:rPr lang="en-US" sz="2800" b="0" i="0" u="none" strike="noStrike" cap="none">
                <a:solidFill>
                  <a:srgbClr val="595959"/>
                </a:solidFill>
                <a:latin typeface="Arial Black"/>
                <a:ea typeface="Arial Black"/>
                <a:cs typeface="Arial Black"/>
                <a:sym typeface="Arial Black"/>
              </a:rPr>
              <a:t>Resultados – Indicadores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3"/>
          <p:cNvSpPr txBox="1"/>
          <p:nvPr/>
        </p:nvSpPr>
        <p:spPr>
          <a:xfrm rot="-5400000">
            <a:off x="-2432050" y="3302000"/>
            <a:ext cx="5365750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RESULTADOS ORGANIZACIONAIS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TextBox 269"/>
          <p:cNvSpPr txBox="1"/>
          <p:nvPr/>
        </p:nvSpPr>
        <p:spPr>
          <a:xfrm>
            <a:off x="914400" y="137160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E – Processos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62626"/>
                </a:solidFill>
                <a:latin typeface="Arial"/>
              </a:rPr>
              <a:t>Correção de quesitos negativos (8.E13009)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Quesitos negativos corrigidos ÷ apontados na Reunião Anual  (↑ melhor)</a:t>
            </a:r>
          </a:p>
        </p:txBody>
      </p:sp>
      <p:graphicFrame>
        <p:nvGraphicFramePr>
          <p:cNvPr id="271" name="Chart 270"/>
          <p:cNvGraphicFramePr>
            <a:graphicFrameLocks noGrp="1"/>
          </p:cNvGraphicFramePr>
          <p:nvPr/>
        </p:nvGraphicFramePr>
        <p:xfrm>
          <a:off x="914400" y="2468880"/>
          <a:ext cx="512064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2" name="Rounded Rectangle 271"/>
          <p:cNvSpPr/>
          <p:nvPr/>
        </p:nvSpPr>
        <p:spPr>
          <a:xfrm>
            <a:off x="914400" y="5577840"/>
            <a:ext cx="5120640" cy="45720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Meta: aumento de 10%  ·  RPI: 90%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6400800" y="137160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62626"/>
                </a:solidFill>
                <a:latin typeface="Arial"/>
              </a:rPr>
              <a:t>Síntese 2025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Os 9 indicadores atingiram ou superaram a meta/RPI em 2025;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Consumo de energia per capita caiu 26,7% (meta: −10%);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62626"/>
                </a:solidFill>
                <a:latin typeface="Arial"/>
              </a:rPr>
              <a:t>Maiores oportunidades de melhoria: metas do PGA (60%) e satisfação com compras (80%).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4_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2957</Words>
  <Application>Microsoft Office PowerPoint</Application>
  <PresentationFormat>Widescreen</PresentationFormat>
  <Paragraphs>416</Paragraphs>
  <Slides>34</Slides>
  <Notes>34</Notes>
  <HiddenSlides>1</HiddenSlides>
  <MMClips>0</MMClips>
  <ScaleCrop>false</ScaleCrop>
  <HeadingPairs>
    <vt:vector size="8" baseType="variant">
      <vt:variant>
        <vt:lpstr>Fontes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Servidores OLE inseridos</vt:lpstr>
      </vt:variant>
      <vt:variant>
        <vt:i4>1</vt:i4>
      </vt:variant>
      <vt:variant>
        <vt:lpstr>Títulos de slides</vt:lpstr>
      </vt:variant>
      <vt:variant>
        <vt:i4>34</vt:i4>
      </vt:variant>
    </vt:vector>
  </HeadingPairs>
  <TitlesOfParts>
    <vt:vector size="43" baseType="lpstr">
      <vt:lpstr>Arial</vt:lpstr>
      <vt:lpstr>Times New Roman</vt:lpstr>
      <vt:lpstr>Arial Black</vt:lpstr>
      <vt:lpstr>Noto Sans Symbols</vt:lpstr>
      <vt:lpstr>Calibri</vt:lpstr>
      <vt:lpstr>Open Sans Light</vt:lpstr>
      <vt:lpstr>1_Tema do Office</vt:lpstr>
      <vt:lpstr>4_Tema do Office</vt:lpstr>
      <vt:lpstr>Gráfico do Microsoft Excel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User</dc:creator>
  <cp:lastModifiedBy>User</cp:lastModifiedBy>
  <cp:revision>4</cp:revision>
  <dcterms:created xsi:type="dcterms:W3CDTF">2023-07-10T20:56:32Z</dcterms:created>
  <dcterms:modified xsi:type="dcterms:W3CDTF">2024-11-06T12:12:51Z</dcterms:modified>
</cp:coreProperties>
</file>